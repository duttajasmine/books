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3" r:id="rId9"/>
    <p:sldId id="267" r:id="rId10"/>
    <p:sldId id="262" r:id="rId11"/>
    <p:sldId id="266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B3B62-8300-4F39-9D2A-671595EB8C7D}" v="76" dt="2026-01-13T18:03:16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75F9-A934-7FF9-16C5-128D5796F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F38DF-0F87-1C78-9FAF-EC3D396B5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55056-5F0D-0C25-4C22-1E4FA8A9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B784-1ACF-D09D-80F2-9DF867DD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4D988-27C6-718D-A276-12BF8C76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2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CED2-7AA4-B277-213F-41153875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9662-1CDA-CECA-4EEB-2CF42F4B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7668-E296-AD09-F8AE-23B56E18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397-F72F-CADD-EB59-C767394E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594E-4674-E285-5695-8BAC5DC1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E236-B12A-39CF-C848-47523B4E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18859-4538-3E83-CB45-3B31352B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CE9AC-CD5C-C2FC-56B0-F87FC381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8E3BE-0CA6-C224-10E2-313B8918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E1226-906A-6B50-0E62-2E418B28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0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67FA-1601-B091-9C39-30241E87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99FE3-EE85-8FBE-77C5-141F4398E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A71DB-DB38-1C6E-0B9D-6A73A3840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E2711-1B0F-0770-1891-4C997A81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0AA05-7F38-141B-2399-5613D0DD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EB975-E7D4-25C4-B525-CFD162B4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75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EBDE-FC62-CC9B-5E3C-57B542C6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125A1-05EB-1006-A1A7-02E5D2B77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D5C5-44C0-D8F1-DC35-258F23005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DFC75-E05D-93D0-453D-22692619B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2A4BF-73B8-2AB6-BEE3-E77BFA6AD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6AB90-094C-5827-CD0F-8E4BF1A2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7F308-A4B5-BE32-2429-E8EF38EF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BF41F-EF95-19ED-921E-66DE999C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9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A573-9DF7-B7BE-75E8-E976876E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7208F-6609-FECE-925B-C7368081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57072-3E3F-0F53-55B5-135782A9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8E31F-7CDD-0C6D-4713-D74C4C48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35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1282C-27A4-0CEF-1EB0-6BE71334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02134-B8F4-98D2-4B7B-8C0216E8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6CBE3-0340-CF56-94A0-63F4060E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07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F927-239C-997C-14CF-7D46EB6EE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71DC-A8A5-6A6F-DD9B-68CFF1908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093D1-B366-EB64-5149-DFFB3A1E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1738E-885D-0E12-7941-ED5BFD76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1FBC4-6278-8C9B-4AAA-5F03B3C5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75577-FD9B-278F-3719-5C38C95D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86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7BF1-61D3-20C4-3625-A2D35857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27DAA-D86F-D7A7-C871-2E9DD6CBF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0FA68-137E-1FE2-65E8-E208A92C1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E10FD-4DD4-23B4-FD25-71F6BB2F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BA21F-4B05-6798-6DC5-080A967D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917D3-AF22-6907-E658-B7CB179D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4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2C45-9A75-67E5-DBDE-37044CF3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A350C-FC02-8BEB-D3C2-B09D9BF7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2BF6-73F6-D489-30AA-52F846CF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CDC84-AA1F-5F2A-3259-1D0B3D0F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487C-70E3-2A9F-D261-9E9552EE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47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C8046-EC94-563D-5876-DAC3002C1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50617-CF43-06B5-E811-2163A76C4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B18E1-0EA5-F257-ECF1-8C7D6ECE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6BD68-CF87-B380-6225-9AC1F22B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73911-7762-A02E-76E1-8DBD846A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99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3BC1C-20C1-BD73-B172-B0EF2C23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06F37-B341-01E4-377D-205990FC4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92CBC-1BE1-7895-6DC7-D8FD20102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BC4DE-1146-4327-853D-C86874EFF9ED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6DAF-C6D6-47EC-CA7F-CE1B06A3D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C30E-F19D-62D7-F731-2DF246324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8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3861-0C01-8A40-1B42-702C5929A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211" y="2981985"/>
            <a:ext cx="10789578" cy="2387600"/>
          </a:xfrm>
        </p:spPr>
        <p:txBody>
          <a:bodyPr/>
          <a:lstStyle/>
          <a:p>
            <a:r>
              <a:rPr lang="en-US" dirty="0"/>
              <a:t>Search and Ranking Algos in RAG</a:t>
            </a:r>
            <a:endParaRPr lang="en-IN" dirty="0"/>
          </a:p>
        </p:txBody>
      </p:sp>
      <p:pic>
        <p:nvPicPr>
          <p:cNvPr id="1028" name="Picture 4" descr="Databricks Lakehouse Federation: Explorando Exemplos Práticos">
            <a:extLst>
              <a:ext uri="{FF2B5EF4-FFF2-40B4-BE49-F238E27FC236}">
                <a16:creationId xmlns:a16="http://schemas.microsoft.com/office/drawing/2014/main" id="{4083622D-ED7B-6735-E403-DF08137F7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003" y="514096"/>
            <a:ext cx="6101993" cy="319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3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334B-53EF-1462-359E-B9087E93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76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Why and Where does it all boil down to?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E736AB-31D1-4F2C-D89F-F7E8C2863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637" y="1207803"/>
            <a:ext cx="8742726" cy="483037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3488B7A-D8EA-DF9E-AA93-9776111F292F}"/>
              </a:ext>
            </a:extLst>
          </p:cNvPr>
          <p:cNvSpPr/>
          <p:nvPr/>
        </p:nvSpPr>
        <p:spPr>
          <a:xfrm>
            <a:off x="3277456" y="1756880"/>
            <a:ext cx="1654139" cy="264045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E0B0C-DB50-93D3-D5EA-0B0F2512E97E}"/>
              </a:ext>
            </a:extLst>
          </p:cNvPr>
          <p:cNvSpPr txBox="1"/>
          <p:nvPr/>
        </p:nvSpPr>
        <p:spPr>
          <a:xfrm>
            <a:off x="6096000" y="5050032"/>
            <a:ext cx="423637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If your search and ranking algorithms are broken, your retrieval pipeline breaks down and results in a catastrophe for your RAG application</a:t>
            </a:r>
            <a:endParaRPr lang="en-IN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23EF2-D3BA-4CAC-1AEA-BEB75B092158}"/>
              </a:ext>
            </a:extLst>
          </p:cNvPr>
          <p:cNvCxnSpPr>
            <a:stCxn id="6" idx="5"/>
            <a:endCxn id="7" idx="0"/>
          </p:cNvCxnSpPr>
          <p:nvPr/>
        </p:nvCxnSpPr>
        <p:spPr>
          <a:xfrm>
            <a:off x="4689352" y="4010653"/>
            <a:ext cx="3524836" cy="1039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7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0CA6-BAFD-0517-C4F4-907DFCEC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08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Mosaic AI Vector Search Work?</a:t>
            </a:r>
            <a:endParaRPr lang="en-IN" dirty="0"/>
          </a:p>
        </p:txBody>
      </p:sp>
      <p:pic>
        <p:nvPicPr>
          <p:cNvPr id="2050" name="Picture 2" descr="Vector Search | Databricks">
            <a:extLst>
              <a:ext uri="{FF2B5EF4-FFF2-40B4-BE49-F238E27FC236}">
                <a16:creationId xmlns:a16="http://schemas.microsoft.com/office/drawing/2014/main" id="{5C0F137C-EFD4-88F8-241D-1EE5F59A2C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38" y="1987282"/>
            <a:ext cx="6602683" cy="345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53C70E-BB36-F886-5360-F38431EC053D}"/>
              </a:ext>
            </a:extLst>
          </p:cNvPr>
          <p:cNvSpPr txBox="1"/>
          <p:nvPr/>
        </p:nvSpPr>
        <p:spPr>
          <a:xfrm>
            <a:off x="336478" y="1325563"/>
            <a:ext cx="4512925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Vector Search Basics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embeddings</a:t>
            </a:r>
            <a:r>
              <a:rPr lang="en-US" sz="1600" dirty="0"/>
              <a:t> to find similar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Powered by the </a:t>
            </a:r>
            <a:r>
              <a:rPr lang="en-US" sz="1600" b="1" dirty="0"/>
              <a:t>HNSW algorithm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Fast and scalable approximate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L2 distance</a:t>
            </a:r>
            <a:r>
              <a:rPr lang="en-US" sz="1600" dirty="0"/>
              <a:t> to measure similarity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81D5A-6807-A9F4-38F4-1D6F948E3780}"/>
              </a:ext>
            </a:extLst>
          </p:cNvPr>
          <p:cNvSpPr txBox="1"/>
          <p:nvPr/>
        </p:nvSpPr>
        <p:spPr>
          <a:xfrm>
            <a:off x="336478" y="2867041"/>
            <a:ext cx="4512925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Cosine Similarity (Important Note)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Vector Search uses </a:t>
            </a:r>
            <a:r>
              <a:rPr lang="en-IN" sz="1600" b="1" dirty="0"/>
              <a:t>L2 distance by default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If you want </a:t>
            </a:r>
            <a:r>
              <a:rPr lang="en-IN" sz="1600" b="1" dirty="0"/>
              <a:t>cosine similarity</a:t>
            </a:r>
            <a:r>
              <a:rPr lang="en-IN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Normalize embeddings before indexing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After normalization: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L2 distance ≈ cosine similarity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3A908-9D8C-E0F6-81AE-BEC9E3892288}"/>
              </a:ext>
            </a:extLst>
          </p:cNvPr>
          <p:cNvSpPr txBox="1"/>
          <p:nvPr/>
        </p:nvSpPr>
        <p:spPr>
          <a:xfrm>
            <a:off x="336479" y="4654740"/>
            <a:ext cx="4512924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Hybrid Search (Vector + Keywords)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Vector-based semantic search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Keyword-based exact matching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Matches: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Meaning of the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Exact words in the query</a:t>
            </a:r>
          </a:p>
        </p:txBody>
      </p:sp>
    </p:spTree>
    <p:extLst>
      <p:ext uri="{BB962C8B-B14F-4D97-AF65-F5344CB8AC3E}">
        <p14:creationId xmlns:p14="http://schemas.microsoft.com/office/powerpoint/2010/main" val="322043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41FA-FF5C-A770-8BE2-C0C9E226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764" y="-20024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does it mean to find similar vectors?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A33857-C30A-2184-665E-6BC05C5A4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58253" y="851542"/>
            <a:ext cx="4762907" cy="287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Vector Similarity? Understanding its Role in AI Applications. -  Qdrant">
            <a:extLst>
              <a:ext uri="{FF2B5EF4-FFF2-40B4-BE49-F238E27FC236}">
                <a16:creationId xmlns:a16="http://schemas.microsoft.com/office/drawing/2014/main" id="{EBF0E7F1-B488-0407-6847-BC9CDBD26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307" y="3982396"/>
            <a:ext cx="4876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8F5095-6D61-8DAA-FE47-65EA494B5DC0}"/>
              </a:ext>
            </a:extLst>
          </p:cNvPr>
          <p:cNvSpPr txBox="1"/>
          <p:nvPr/>
        </p:nvSpPr>
        <p:spPr>
          <a:xfrm>
            <a:off x="562510" y="1245862"/>
            <a:ext cx="60977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Does It Mean to Find Similar Vectors?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(text, images, audio) is converted into </a:t>
            </a:r>
            <a:r>
              <a:rPr lang="en-US" b="1" dirty="0"/>
              <a:t>vectors (numbers)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vector represents the </a:t>
            </a:r>
            <a:r>
              <a:rPr lang="en-US" b="1" dirty="0"/>
              <a:t>meaning</a:t>
            </a:r>
            <a:r>
              <a:rPr lang="en-US" dirty="0"/>
              <a:t> of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Finding similar vectors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Finding data with </a:t>
            </a:r>
            <a:r>
              <a:rPr lang="en-US" b="1" dirty="0"/>
              <a:t>similar meaning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Similarity Is Measured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Vectors are treated as </a:t>
            </a:r>
            <a:r>
              <a:rPr lang="en-US" b="1" dirty="0"/>
              <a:t>points in space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Distance between points = </a:t>
            </a:r>
            <a:r>
              <a:rPr lang="en-US" b="1" dirty="0"/>
              <a:t>similarity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Closer vectors → </a:t>
            </a:r>
            <a:r>
              <a:rPr lang="en-US" b="1" dirty="0"/>
              <a:t>more similar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Farther vectors → </a:t>
            </a:r>
            <a:r>
              <a:rPr lang="en-US" b="1" dirty="0"/>
              <a:t>less similar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7D7CA-56DA-F5DA-32A7-C593EFC61D66}"/>
              </a:ext>
            </a:extLst>
          </p:cNvPr>
          <p:cNvSpPr txBox="1"/>
          <p:nvPr/>
        </p:nvSpPr>
        <p:spPr>
          <a:xfrm>
            <a:off x="267128" y="5558319"/>
            <a:ext cx="6462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Now you basically need two things: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1) A high dimensional space for arranging your vectors.</a:t>
            </a:r>
          </a:p>
          <a:p>
            <a:r>
              <a:rPr lang="en-US" b="1" dirty="0">
                <a:highlight>
                  <a:srgbClr val="FFFF00"/>
                </a:highlight>
              </a:rPr>
              <a:t>2) A mathematical model to compute similarity scores between vectors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849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654D-B00A-E8D4-E465-871D95FD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216" y="-19995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a </a:t>
            </a:r>
            <a:r>
              <a:rPr lang="en-US" b="1" i="1" dirty="0"/>
              <a:t>HSNW</a:t>
            </a:r>
            <a:r>
              <a:rPr lang="en-US" b="1" dirty="0"/>
              <a:t> </a:t>
            </a:r>
            <a:r>
              <a:rPr lang="en-US" dirty="0"/>
              <a:t>Arrangement of Vectors ?</a:t>
            </a:r>
            <a:endParaRPr lang="en-IN" dirty="0"/>
          </a:p>
        </p:txBody>
      </p:sp>
      <p:pic>
        <p:nvPicPr>
          <p:cNvPr id="4098" name="Picture 2" descr="Hierarchical Navigable Small Worlds (HNSW) | Pinecone">
            <a:extLst>
              <a:ext uri="{FF2B5EF4-FFF2-40B4-BE49-F238E27FC236}">
                <a16:creationId xmlns:a16="http://schemas.microsoft.com/office/drawing/2014/main" id="{D955866B-373F-F299-D581-84B266013E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807" y="2091459"/>
            <a:ext cx="6442222" cy="362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5A9AE-9AD8-7868-2C9A-D54E08BBEDC7}"/>
              </a:ext>
            </a:extLst>
          </p:cNvPr>
          <p:cNvSpPr txBox="1"/>
          <p:nvPr/>
        </p:nvSpPr>
        <p:spPr>
          <a:xfrm>
            <a:off x="411824" y="3708218"/>
            <a:ext cx="52209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242424"/>
                </a:solidFill>
                <a:effectLst/>
              </a:rPr>
              <a:t> If we did a brute-force approach to find the 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top </a:t>
            </a:r>
            <a:r>
              <a:rPr lang="en-US" sz="1600" b="1" i="1" dirty="0">
                <a:solidFill>
                  <a:srgbClr val="242424"/>
                </a:solidFill>
                <a:effectLst/>
              </a:rPr>
              <a:t>k 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closest </a:t>
            </a:r>
            <a:r>
              <a:rPr lang="en-US" sz="1600" b="1" i="0" dirty="0" err="1">
                <a:solidFill>
                  <a:srgbClr val="242424"/>
                </a:solidFill>
                <a:effectLst/>
              </a:rPr>
              <a:t>neighbours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 for a given vector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, we would have to do this search in </a:t>
            </a:r>
            <a:r>
              <a:rPr lang="en-US" sz="1600" b="1" i="1" dirty="0">
                <a:solidFill>
                  <a:srgbClr val="242424"/>
                </a:solidFill>
                <a:effectLst/>
              </a:rPr>
              <a:t>O(N)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 time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, as we need to compute the pairwise distance between the query vector and every other vector. 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28C29-9E64-B4A3-9126-C2BEF016312A}"/>
              </a:ext>
            </a:extLst>
          </p:cNvPr>
          <p:cNvSpPr txBox="1"/>
          <p:nvPr/>
        </p:nvSpPr>
        <p:spPr>
          <a:xfrm>
            <a:off x="411824" y="5559433"/>
            <a:ext cx="52209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42424"/>
                </a:solidFill>
              </a:rPr>
              <a:t>HNSW lets us compute and find the top k closest </a:t>
            </a:r>
            <a:r>
              <a:rPr lang="en-US" sz="1600" b="1" dirty="0" err="1">
                <a:solidFill>
                  <a:srgbClr val="242424"/>
                </a:solidFill>
              </a:rPr>
              <a:t>neighbours</a:t>
            </a:r>
            <a:r>
              <a:rPr lang="en-US" sz="1600" b="1" dirty="0">
                <a:solidFill>
                  <a:srgbClr val="242424"/>
                </a:solidFill>
              </a:rPr>
              <a:t> for a given vector in O(</a:t>
            </a:r>
            <a:r>
              <a:rPr lang="en-US" sz="1600" b="1" dirty="0" err="1">
                <a:solidFill>
                  <a:srgbClr val="242424"/>
                </a:solidFill>
              </a:rPr>
              <a:t>logN</a:t>
            </a:r>
            <a:r>
              <a:rPr lang="en-US" sz="1600" b="1" dirty="0">
                <a:solidFill>
                  <a:srgbClr val="242424"/>
                </a:solidFill>
              </a:rPr>
              <a:t>) time!</a:t>
            </a:r>
            <a:endParaRPr lang="en-IN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640BF-E347-B2AA-10F9-81643B278592}"/>
              </a:ext>
            </a:extLst>
          </p:cNvPr>
          <p:cNvSpPr txBox="1"/>
          <p:nvPr/>
        </p:nvSpPr>
        <p:spPr>
          <a:xfrm>
            <a:off x="490591" y="1459172"/>
            <a:ext cx="52680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242424"/>
                </a:solidFill>
                <a:effectLst/>
              </a:rPr>
              <a:t>HNSW indexes use a hierarchical layering of data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. Imagine multiple layers of graphs stacked on top of each other. 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The top layer is the most sparse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, and each layer gets 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more dense 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with nodes until we get to the bottom layer. </a:t>
            </a:r>
            <a:r>
              <a:rPr lang="en-US" sz="1600" b="1" dirty="0"/>
              <a:t>If a node is on a given layer, the same node is also in the layer below it.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57085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5828-011B-DA85-B2BB-7AF3F52E7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746" y="-29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Vector Search/Semantic Search </a:t>
            </a:r>
            <a:endParaRPr lang="en-IN" dirty="0"/>
          </a:p>
        </p:txBody>
      </p:sp>
      <p:pic>
        <p:nvPicPr>
          <p:cNvPr id="4" name="Picture 4" descr="What is Vector Similarity? Understanding its Role in AI Applications. -  Qdrant">
            <a:extLst>
              <a:ext uri="{FF2B5EF4-FFF2-40B4-BE49-F238E27FC236}">
                <a16:creationId xmlns:a16="http://schemas.microsoft.com/office/drawing/2014/main" id="{A3965E6D-97E8-EA98-BB84-52CB26AD2C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381" y="1777429"/>
            <a:ext cx="6305384" cy="354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BED53E-3864-154B-B073-54EAC7FAC75B}"/>
              </a:ext>
            </a:extLst>
          </p:cNvPr>
          <p:cNvSpPr txBox="1"/>
          <p:nvPr/>
        </p:nvSpPr>
        <p:spPr>
          <a:xfrm>
            <a:off x="274834" y="363915"/>
            <a:ext cx="60977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Vector Search </a:t>
            </a:r>
          </a:p>
          <a:p>
            <a:pPr>
              <a:buNone/>
            </a:pPr>
            <a:r>
              <a:rPr lang="en-US" sz="1600" b="1" dirty="0"/>
              <a:t>What it means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way to search data using </a:t>
            </a:r>
            <a:r>
              <a:rPr lang="en-US" sz="1600" b="1" dirty="0"/>
              <a:t>embeddings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Finds vectors that are </a:t>
            </a:r>
            <a:r>
              <a:rPr lang="en-US" sz="1600" b="1" dirty="0"/>
              <a:t>closest</a:t>
            </a:r>
            <a:r>
              <a:rPr lang="en-US" sz="1600" dirty="0"/>
              <a:t> to a query vector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How it works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 is converted into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Query is also converted into an embedding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System retrieves the most similar vectors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Similarity inside vector search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distance metrics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(Euclidean distance)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Cosine similarity (conceptually)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Databricks detail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Databricks uses </a:t>
            </a:r>
            <a:r>
              <a:rPr lang="en-US" sz="1600" b="1" dirty="0"/>
              <a:t>L2 distance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embeddings are </a:t>
            </a:r>
            <a:r>
              <a:rPr lang="en-US" sz="1600" b="1" dirty="0"/>
              <a:t>normalized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distance behaves the same as cosine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When to use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Semantic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RAG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Recommendations</a:t>
            </a:r>
          </a:p>
          <a:p>
            <a:pPr>
              <a:buNone/>
            </a:pPr>
            <a:r>
              <a:rPr lang="en-US" sz="1600" b="1" dirty="0"/>
              <a:t>Key idea</a:t>
            </a:r>
            <a:endParaRPr lang="en-US" sz="1600" dirty="0"/>
          </a:p>
          <a:p>
            <a:pPr>
              <a:buNone/>
            </a:pPr>
            <a:r>
              <a:rPr lang="en-US" sz="1600" dirty="0"/>
              <a:t>Vector search finds content with similar meaning, not exact words.</a:t>
            </a:r>
          </a:p>
        </p:txBody>
      </p:sp>
    </p:spTree>
    <p:extLst>
      <p:ext uri="{BB962C8B-B14F-4D97-AF65-F5344CB8AC3E}">
        <p14:creationId xmlns:p14="http://schemas.microsoft.com/office/powerpoint/2010/main" val="388038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1D555-BCAC-05DF-BCDE-88D497789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202" y="1470622"/>
            <a:ext cx="10875988" cy="391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5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B756-BEF9-51F0-0BB2-32E0D414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4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Keyword Search</a:t>
            </a:r>
            <a:endParaRPr lang="en-IN" dirty="0"/>
          </a:p>
        </p:txBody>
      </p:sp>
      <p:pic>
        <p:nvPicPr>
          <p:cNvPr id="7170" name="Picture 2" descr="What is BM25?">
            <a:extLst>
              <a:ext uri="{FF2B5EF4-FFF2-40B4-BE49-F238E27FC236}">
                <a16:creationId xmlns:a16="http://schemas.microsoft.com/office/drawing/2014/main" id="{F992E50C-743B-4356-8726-D8A2B7C66E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562" y="2668780"/>
            <a:ext cx="6849438" cy="227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8D5BD5-0A7A-9FCB-B441-B4F901F6965E}"/>
              </a:ext>
            </a:extLst>
          </p:cNvPr>
          <p:cNvSpPr txBox="1"/>
          <p:nvPr/>
        </p:nvSpPr>
        <p:spPr>
          <a:xfrm>
            <a:off x="174661" y="894897"/>
            <a:ext cx="609771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What Is Keyword Search?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Searches for </a:t>
            </a:r>
            <a:r>
              <a:rPr lang="en-US" sz="1600" b="1" dirty="0"/>
              <a:t>exact words</a:t>
            </a:r>
            <a:r>
              <a:rPr lang="en-US" sz="1600" dirty="0"/>
              <a:t> in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Matches text 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Phrases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Does </a:t>
            </a:r>
            <a:r>
              <a:rPr lang="en-US" sz="1600" b="1" dirty="0"/>
              <a:t>not</a:t>
            </a:r>
            <a:r>
              <a:rPr lang="en-US" sz="1600" dirty="0"/>
              <a:t> understand meaning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How Keyword Search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Breaks text into words (tokens)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Finds documents containing the </a:t>
            </a:r>
            <a:r>
              <a:rPr lang="en-US" sz="1600" b="1" dirty="0"/>
              <a:t>same words as the query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scoring methods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Term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Exact match ranking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When to Use Keyword Search</a:t>
            </a:r>
          </a:p>
          <a:p>
            <a:r>
              <a:rPr lang="en-US" sz="1600" dirty="0"/>
              <a:t>Searching logs, tickets, catalogs</a:t>
            </a:r>
          </a:p>
          <a:p>
            <a:r>
              <a:rPr lang="en-US" sz="1600" dirty="0"/>
              <a:t>Queries with exact terms</a:t>
            </a:r>
          </a:p>
          <a:p>
            <a:r>
              <a:rPr lang="en-US" sz="1600" dirty="0"/>
              <a:t>Structured or identifier-based data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One-line takeaway :</a:t>
            </a:r>
          </a:p>
          <a:p>
            <a:r>
              <a:rPr lang="en-US" sz="1600" dirty="0"/>
              <a:t>Keyword search finds exact words, not meaning.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376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3E198-A96F-7F41-3725-D5A0DDCFB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360" y="1708079"/>
            <a:ext cx="10717280" cy="34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5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827A-10D8-DA77-9642-A86DAD72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4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Hybrid Search</a:t>
            </a:r>
            <a:endParaRPr lang="en-IN" dirty="0"/>
          </a:p>
        </p:txBody>
      </p:sp>
      <p:pic>
        <p:nvPicPr>
          <p:cNvPr id="5122" name="Picture 2" descr="Hybrid Search Explained | MongoDB">
            <a:extLst>
              <a:ext uri="{FF2B5EF4-FFF2-40B4-BE49-F238E27FC236}">
                <a16:creationId xmlns:a16="http://schemas.microsoft.com/office/drawing/2014/main" id="{BE30F788-3007-28FC-F8FA-A2AF2A0DE0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353" y="2208944"/>
            <a:ext cx="8148605" cy="265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13B948-0817-F0C5-A6BC-970507EEEC5E}"/>
              </a:ext>
            </a:extLst>
          </p:cNvPr>
          <p:cNvSpPr txBox="1"/>
          <p:nvPr/>
        </p:nvSpPr>
        <p:spPr>
          <a:xfrm>
            <a:off x="285108" y="501992"/>
            <a:ext cx="60977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What Is Hybrid Search?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Vector search</a:t>
            </a:r>
            <a:r>
              <a:rPr lang="en-US" sz="1600" dirty="0"/>
              <a:t> (semantic meaning)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Keyword search</a:t>
            </a:r>
            <a:r>
              <a:rPr lang="en-US" sz="1600" dirty="0"/>
              <a:t> (exact matches)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both signals together</a:t>
            </a: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Why Hybrid Search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terms: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SKUs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 not embed well semantically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Keyword search handles these better</a:t>
            </a: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When to Use Hybrid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RAG with structured identifiers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Enterprise data (products, tickets, logs)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When accuracy matters for both: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Exact terms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One-line takeaway:</a:t>
            </a:r>
          </a:p>
          <a:p>
            <a:pPr>
              <a:buNone/>
            </a:pPr>
            <a:r>
              <a:rPr lang="en-US" sz="1600" dirty="0"/>
              <a:t>Hybrid search gives the best of both worlds: meaning + exact match.</a:t>
            </a:r>
          </a:p>
        </p:txBody>
      </p:sp>
    </p:spTree>
    <p:extLst>
      <p:ext uri="{BB962C8B-B14F-4D97-AF65-F5344CB8AC3E}">
        <p14:creationId xmlns:p14="http://schemas.microsoft.com/office/powerpoint/2010/main" val="158368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36EE6A-8069-0D5B-8D7B-1D152491C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405" y="1828800"/>
            <a:ext cx="11301189" cy="355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31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DBC5-EB32-D062-3B75-7BE35F2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232" y="-1383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Semantic Re-Ranking in Databricks</a:t>
            </a:r>
            <a:endParaRPr lang="en-IN" dirty="0"/>
          </a:p>
        </p:txBody>
      </p:sp>
      <p:pic>
        <p:nvPicPr>
          <p:cNvPr id="8194" name="Picture 2" descr="Semantic ranking - Azure AI Search | Microsoft Learn">
            <a:extLst>
              <a:ext uri="{FF2B5EF4-FFF2-40B4-BE49-F238E27FC236}">
                <a16:creationId xmlns:a16="http://schemas.microsoft.com/office/drawing/2014/main" id="{34ECE645-BB97-8C78-AD1F-EAE5DB7410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572" y="1074240"/>
            <a:ext cx="5410669" cy="304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ranking in Semantic Search - Qdrant">
            <a:extLst>
              <a:ext uri="{FF2B5EF4-FFF2-40B4-BE49-F238E27FC236}">
                <a16:creationId xmlns:a16="http://schemas.microsoft.com/office/drawing/2014/main" id="{8EE35B29-C53F-35A4-26C3-3FEAB8F8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692" y="4286046"/>
            <a:ext cx="5544428" cy="208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FEC70B-4DDC-7BA5-4254-EF4F5935F0CE}"/>
              </a:ext>
            </a:extLst>
          </p:cNvPr>
          <p:cNvSpPr txBox="1"/>
          <p:nvPr/>
        </p:nvSpPr>
        <p:spPr>
          <a:xfrm>
            <a:off x="224320" y="941809"/>
            <a:ext cx="609771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Semantic Re-Ranking (Databricks)</a:t>
            </a:r>
          </a:p>
          <a:p>
            <a:pPr>
              <a:buNone/>
            </a:pPr>
            <a:r>
              <a:rPr lang="en-US" sz="1600" b="1" dirty="0"/>
              <a:t>What Is Semantic Re-Ranking?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second pass</a:t>
            </a:r>
            <a:r>
              <a:rPr lang="en-US" sz="1600" dirty="0"/>
              <a:t> that improves search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Re-orders retrieved documents based on </a:t>
            </a:r>
            <a:r>
              <a:rPr lang="en-US" sz="1600" b="1" dirty="0"/>
              <a:t>deep semantic relevance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Happens </a:t>
            </a:r>
            <a:r>
              <a:rPr lang="en-US" sz="1600" b="1" dirty="0"/>
              <a:t>after</a:t>
            </a:r>
            <a:r>
              <a:rPr lang="en-US" sz="1600" dirty="0"/>
              <a:t> keyword search or vector search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How It Works (Conceptually)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Initial search retrieves </a:t>
            </a:r>
            <a:r>
              <a:rPr lang="en-US" sz="1600" b="1" dirty="0"/>
              <a:t>candidate results</a:t>
            </a:r>
            <a:endParaRPr 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Keyword search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Vector (semantic) search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A stronger model (often an LLM or cross-encoder):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Re-evaluates query + document together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Results are </a:t>
            </a:r>
            <a:r>
              <a:rPr lang="en-US" sz="1600" b="1" dirty="0"/>
              <a:t>re-ranked</a:t>
            </a:r>
            <a:r>
              <a:rPr lang="en-US" sz="1600" dirty="0"/>
              <a:t> by true relevance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Why Re-Ranking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Initial search is optimized for </a:t>
            </a:r>
            <a:r>
              <a:rPr lang="en-US" sz="1600" b="1" dirty="0"/>
              <a:t>speed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Top results may still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Partially relevant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Keyword-heavy but less meaningful matches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Re-ranking improves </a:t>
            </a:r>
            <a:r>
              <a:rPr lang="en-US" sz="1600" b="1" dirty="0"/>
              <a:t>precision at the top</a:t>
            </a:r>
            <a:endParaRPr lang="en-US" sz="1600" dirty="0"/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9551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CC045-2DB6-5215-06FE-D4E435625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20" y="1488078"/>
            <a:ext cx="11798360" cy="38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4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774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Search and Ranking Algos in RAG</vt:lpstr>
      <vt:lpstr>Why and Where does it all boil down to?</vt:lpstr>
      <vt:lpstr>How does Mosaic AI Vector Search Work?</vt:lpstr>
      <vt:lpstr>What does it mean to find similar vectors?</vt:lpstr>
      <vt:lpstr>What is a HSNW Arrangement of Vectors ?</vt:lpstr>
      <vt:lpstr>Vector Search/Semantic Search </vt:lpstr>
      <vt:lpstr>PowerPoint Presentation</vt:lpstr>
      <vt:lpstr>Keyword Search</vt:lpstr>
      <vt:lpstr>PowerPoint Presentation</vt:lpstr>
      <vt:lpstr>Hybrid Search</vt:lpstr>
      <vt:lpstr>PowerPoint Presentation</vt:lpstr>
      <vt:lpstr>Semantic Re-Ranking in Databricks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Dutta, Jasmine</cp:lastModifiedBy>
  <cp:revision>2</cp:revision>
  <dcterms:created xsi:type="dcterms:W3CDTF">2026-01-13T17:10:05Z</dcterms:created>
  <dcterms:modified xsi:type="dcterms:W3CDTF">2026-03-12T13:51:05Z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52a5fe-100b-40b9-bcf9-3408ca64ca87_Enabled">
    <vt:lpwstr>true</vt:lpwstr>
  </property>
  <property fmtid="{D5CDD505-2E9C-101B-9397-08002B2CF9AE}" pid="3" name="MSIP_Label_4c52a5fe-100b-40b9-bcf9-3408ca64ca87_SetDate">
    <vt:lpwstr>2026-03-12T13:51:05Z</vt:lpwstr>
  </property>
  <property fmtid="{D5CDD505-2E9C-101B-9397-08002B2CF9AE}" pid="4" name="MSIP_Label_4c52a5fe-100b-40b9-bcf9-3408ca64ca87_Method">
    <vt:lpwstr>Privileged</vt:lpwstr>
  </property>
  <property fmtid="{D5CDD505-2E9C-101B-9397-08002B2CF9AE}" pid="5" name="MSIP_Label_4c52a5fe-100b-40b9-bcf9-3408ca64ca87_Name">
    <vt:lpwstr>Public</vt:lpwstr>
  </property>
  <property fmtid="{D5CDD505-2E9C-101B-9397-08002B2CF9AE}" pid="6" name="MSIP_Label_4c52a5fe-100b-40b9-bcf9-3408ca64ca87_SiteId">
    <vt:lpwstr>89a64c04-5070-4bae-a1ed-e9639497e1b7</vt:lpwstr>
  </property>
  <property fmtid="{D5CDD505-2E9C-101B-9397-08002B2CF9AE}" pid="7" name="MSIP_Label_4c52a5fe-100b-40b9-bcf9-3408ca64ca87_ActionId">
    <vt:lpwstr>26f0019c-5fe7-4df2-a803-ac33dbb9d543</vt:lpwstr>
  </property>
  <property fmtid="{D5CDD505-2E9C-101B-9397-08002B2CF9AE}" pid="8" name="MSIP_Label_4c52a5fe-100b-40b9-bcf9-3408ca64ca87_ContentBits">
    <vt:lpwstr>0</vt:lpwstr>
  </property>
  <property fmtid="{D5CDD505-2E9C-101B-9397-08002B2CF9AE}" pid="9" name="MSIP_Label_4c52a5fe-100b-40b9-bcf9-3408ca64ca87_Tag">
    <vt:lpwstr>10, 0, 1, 1</vt:lpwstr>
  </property>
</Properties>
</file>