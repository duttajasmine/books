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C600F-871A-4FA6-8BA8-3A8D69456315}" v="10" dt="2026-01-13T16:40:30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8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8B61-757B-6A5A-7724-C6DF6069D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54272-D506-9375-3257-35423AF54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2BDFD-DCF8-B9DA-6ED7-43F12C81C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AB08D-C7D5-C75E-DE91-620491E4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A8AD7-6349-FC56-1B07-E9E8F679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08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C770A-4829-5B25-14A4-255EFD3B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B954F-261B-B918-FC2F-88D72A929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BCA74-24D0-8CD5-F381-7E6DAEDA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7C08B-64E2-8312-0382-3BC914F7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16CC7-CDBA-3AA7-0FE4-040AC0CB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47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8451-11C2-F77D-C3A6-6BB8971CE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C5E4D-A136-888F-44C6-8B1191E23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CF3D3-1EB8-E909-E36F-3360F0B42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02DB8-CD18-79CB-D7AD-F1B8BCF8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8CB34-C4FB-0471-F81C-46A37363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966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1733-B51E-80AB-0C12-8C710465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D53A-3FAD-8D36-2520-043DCD542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2DBB6-3ADB-1ACC-81A3-F7A72485E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61482-03FB-EA28-1771-72701025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36C72-7A38-CBA2-E2DB-FC3AFAA35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2E67E-B64A-D2A0-39CD-428F81ACF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795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5DD7-FF7B-F5DA-226C-7517419F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F0CC1-B52C-8A2E-267D-5CD2EAB92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05D3B-513C-768B-0FF3-623AE509A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ED782-AEAF-F52C-A9DA-BFB3F64868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E0DD07-D986-739B-4564-F9268FABF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33531-E655-D9BE-00E9-F4CF15BE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861B6-E458-D771-DCDC-F69D5B4C5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9E3C0-A640-A2E2-5FC7-C225FB96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06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718B-E9C9-499A-9A42-AC7CE3984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153E85-9886-07CB-F3E4-54FF2F2A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A2D50-A48C-03C2-FF8C-BCD4F38E7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FB434-F57D-9FA1-73C3-CDAC771C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3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656337-7573-0B41-C316-A52F4222B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D3B00-0BDC-6567-7F64-41877977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EB504-AA28-7002-4EC8-6018CBC4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39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11A5-5C5C-1EC0-8B8F-C00761D76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1632-0679-5087-DC42-3E61E41C7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B61A0-2D27-23E4-657B-1AF5A37C4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44871-BEBA-485F-A3C9-97719B37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982AD-4551-9A8A-B221-4FCB4089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3ACDC-1F31-982B-31A3-2E3BF22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714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33DD-E8C9-FE9A-8733-4F5BCBD1C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AC3420-93FE-5CB5-CCD2-A900FC8DC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E0624-046F-B1CA-3F54-557D6258F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426DB-B80B-4669-9065-A4336CE45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A5840-C164-2203-4ABC-40BC16D5F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A9A20-A473-6E5B-7EC9-6DBBEF2D0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719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7092-4D3E-5D7C-1547-8BD6D8BF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FA3A3-DBD3-09E4-BCB7-6C5BAEDC9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33E38-39AE-7AB5-31D1-60221988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02186-7333-FBD3-3BA9-FCDF74DD7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91689-2348-D664-C8AF-3AFD2182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56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FF027D-30A0-2583-00CF-3347CE463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C293F-1847-0676-167D-AF1F36964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6304C-D131-4A42-D85A-B42152454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3349-0E3A-07C2-9228-80374901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C0A78-F849-AC51-3308-0834F813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324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494C00-E90A-8665-051A-344B54E5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579F0-966B-4B0C-C7B7-5BD08A575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036E3-56F0-14B2-B5D0-186114B2DE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22452-83D5-4998-99BE-FF4E373C479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59C87-63BA-C9D7-3D29-62F690041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6FF30-C982-6385-A897-12616A3D0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25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78CD-B64B-2585-006C-60886611F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7339"/>
            <a:ext cx="9144000" cy="2387600"/>
          </a:xfrm>
        </p:spPr>
        <p:txBody>
          <a:bodyPr/>
          <a:lstStyle/>
          <a:p>
            <a:r>
              <a:rPr lang="en-US" dirty="0"/>
              <a:t>Chunking Strategies in RAG</a:t>
            </a:r>
            <a:endParaRPr lang="en-IN" dirty="0"/>
          </a:p>
        </p:txBody>
      </p:sp>
      <p:pic>
        <p:nvPicPr>
          <p:cNvPr id="1026" name="Picture 2" descr="Databricks : What Is It and What's It Used For? - proSkale">
            <a:extLst>
              <a:ext uri="{FF2B5EF4-FFF2-40B4-BE49-F238E27FC236}">
                <a16:creationId xmlns:a16="http://schemas.microsoft.com/office/drawing/2014/main" id="{51025FD0-2223-5F6D-4278-DCE80363F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641" y="790522"/>
            <a:ext cx="6140717" cy="357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060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92FD7-88A5-4961-4B2D-699265034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968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Fixed Size Chunking with Overlap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990E41-0825-B848-899F-ADCAE5FF1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203" y="1135883"/>
            <a:ext cx="3663141" cy="549471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C039FE-BD94-52E2-7566-B96ECD59BA9A}"/>
              </a:ext>
            </a:extLst>
          </p:cNvPr>
          <p:cNvSpPr txBox="1"/>
          <p:nvPr/>
        </p:nvSpPr>
        <p:spPr>
          <a:xfrm>
            <a:off x="523656" y="1318985"/>
            <a:ext cx="651638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Fixed-Size Chunking with Overlap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 is split into </a:t>
            </a:r>
            <a:r>
              <a:rPr lang="en-US" b="1" dirty="0"/>
              <a:t>equal-sized chunks</a:t>
            </a:r>
            <a:r>
              <a:rPr lang="en-US" dirty="0"/>
              <a:t> (by tokens / characters)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chunk </a:t>
            </a:r>
            <a:r>
              <a:rPr lang="en-US" b="1" dirty="0"/>
              <a:t>overlaps with the previous one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Overlap preserves </a:t>
            </a:r>
            <a:r>
              <a:rPr lang="en-US" b="1" dirty="0"/>
              <a:t>context continuity</a:t>
            </a:r>
            <a:r>
              <a:rPr lang="en-US" dirty="0"/>
              <a:t> across chunks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Why Overlap Is Needed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loss of meaning at chunk boundaries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important sentences aren’t split across chunks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</a:t>
            </a:r>
            <a:r>
              <a:rPr lang="en-US" b="1" dirty="0"/>
              <a:t>retrieval quality</a:t>
            </a:r>
            <a:r>
              <a:rPr lang="en-US" dirty="0"/>
              <a:t> in RAG pipelines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How It Works (Conceptually)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Chunk size: fixed (e.g. 500 tokens)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Overlap: shared portion (e.g. 50–100 tokens)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chunk 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New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Some context from the previous chunk</a:t>
            </a:r>
          </a:p>
        </p:txBody>
      </p:sp>
    </p:spTree>
    <p:extLst>
      <p:ext uri="{BB962C8B-B14F-4D97-AF65-F5344CB8AC3E}">
        <p14:creationId xmlns:p14="http://schemas.microsoft.com/office/powerpoint/2010/main" val="60676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8AB9B-3B8D-6A55-5D27-590957E7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540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Semantic Chunking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01B287-AE34-66DD-F6DC-29920BD84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026" y="1130157"/>
            <a:ext cx="3693310" cy="553996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10DEEE-C977-F421-3222-4335626DFC7A}"/>
              </a:ext>
            </a:extLst>
          </p:cNvPr>
          <p:cNvSpPr txBox="1"/>
          <p:nvPr/>
        </p:nvSpPr>
        <p:spPr>
          <a:xfrm>
            <a:off x="315930" y="843006"/>
            <a:ext cx="609771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Semantic Chunking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 is split based on </a:t>
            </a:r>
            <a:r>
              <a:rPr lang="en-US" b="1" dirty="0"/>
              <a:t>meaning and logical boundaries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Chunks align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Headings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Topics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Preserves </a:t>
            </a:r>
            <a:r>
              <a:rPr lang="en-US" b="1" dirty="0"/>
              <a:t>semantic coherence</a:t>
            </a:r>
            <a:r>
              <a:rPr lang="en-US" dirty="0"/>
              <a:t> within each chunk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Detects </a:t>
            </a:r>
            <a:r>
              <a:rPr lang="en-US" b="1" dirty="0"/>
              <a:t>natural breakpoints</a:t>
            </a:r>
            <a:r>
              <a:rPr lang="en-US" dirty="0"/>
              <a:t> in the document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Groups </a:t>
            </a:r>
            <a:r>
              <a:rPr lang="en-US" b="1" dirty="0"/>
              <a:t>related sentences or paragraphs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May </a:t>
            </a:r>
            <a:r>
              <a:rPr lang="en-US" b="1" dirty="0"/>
              <a:t>merge smaller related sections</a:t>
            </a:r>
            <a:r>
              <a:rPr lang="en-US" dirty="0"/>
              <a:t> into one chunk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Chunk sizes are </a:t>
            </a:r>
            <a:r>
              <a:rPr lang="en-US" b="1" dirty="0"/>
              <a:t>variable</a:t>
            </a:r>
            <a:r>
              <a:rPr lang="en-US" dirty="0"/>
              <a:t>, not fixed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Why Semantic Chunking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Keeps complete ideas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</a:t>
            </a:r>
            <a:r>
              <a:rPr lang="en-US" b="1" dirty="0"/>
              <a:t>retrieval relevance</a:t>
            </a:r>
            <a:r>
              <a:rPr lang="en-US" dirty="0"/>
              <a:t> in RAG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context fragmentation compared to fixed-size chunking</a:t>
            </a:r>
          </a:p>
        </p:txBody>
      </p:sp>
    </p:spTree>
    <p:extLst>
      <p:ext uri="{BB962C8B-B14F-4D97-AF65-F5344CB8AC3E}">
        <p14:creationId xmlns:p14="http://schemas.microsoft.com/office/powerpoint/2010/main" val="332575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F79E-CB3D-8D6F-7E83-FDEA586AB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10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Recursive Chunking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D6690-1320-3990-285A-AFD9715F8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571" y="794962"/>
            <a:ext cx="3923095" cy="588464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E972E3-D5B5-C648-C700-738C909A067D}"/>
              </a:ext>
            </a:extLst>
          </p:cNvPr>
          <p:cNvSpPr txBox="1"/>
          <p:nvPr/>
        </p:nvSpPr>
        <p:spPr>
          <a:xfrm>
            <a:off x="449494" y="921127"/>
            <a:ext cx="60977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Recursive Chunking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 is split using </a:t>
            </a:r>
            <a:r>
              <a:rPr lang="en-US" b="1" dirty="0"/>
              <a:t>hierarchical separators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Starts with </a:t>
            </a:r>
            <a:r>
              <a:rPr lang="en-US" b="1" dirty="0"/>
              <a:t>coarse boundaries</a:t>
            </a:r>
            <a:r>
              <a:rPr lang="en-US" dirty="0"/>
              <a:t>, then refines progressively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Preserves structure while keeping chunks within size limits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Split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Sections / chapters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Paragraphs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Sentences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 chunk is still too large: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Apply the next, finer separator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Stops when chunk size constraints are met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Why Recursive Chunking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Maintains </a:t>
            </a:r>
            <a:r>
              <a:rPr lang="en-US" b="1" dirty="0"/>
              <a:t>logical structure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Avoids arbitrary text splits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Produces </a:t>
            </a:r>
            <a:r>
              <a:rPr lang="en-US" b="1" dirty="0"/>
              <a:t>balanced, meaningful chunks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002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C850-E0E0-29DA-E2AB-E7A5C3724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91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Adaptive Chunking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E37A45-4569-AFCD-2CE0-BF04F51CC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6060" y="1099919"/>
            <a:ext cx="3788673" cy="568301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C2206F-2A5D-D746-F566-9BAA1721F022}"/>
              </a:ext>
            </a:extLst>
          </p:cNvPr>
          <p:cNvSpPr txBox="1"/>
          <p:nvPr/>
        </p:nvSpPr>
        <p:spPr>
          <a:xfrm>
            <a:off x="397267" y="873619"/>
            <a:ext cx="609771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Adaptive Chunking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Chunk size </a:t>
            </a:r>
            <a:r>
              <a:rPr lang="en-IN" b="1" dirty="0"/>
              <a:t>dynamically adjusts</a:t>
            </a:r>
            <a:r>
              <a:rPr lang="en-IN" dirty="0"/>
              <a:t> based on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Simple sections → </a:t>
            </a:r>
            <a:r>
              <a:rPr lang="en-IN" b="1" dirty="0"/>
              <a:t>larger chunks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Dense or complex sections → </a:t>
            </a:r>
            <a:r>
              <a:rPr lang="en-IN" b="1" dirty="0"/>
              <a:t>smaller chunks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Optimizes both </a:t>
            </a:r>
            <a:r>
              <a:rPr lang="en-IN" b="1" dirty="0"/>
              <a:t>context quality</a:t>
            </a:r>
            <a:r>
              <a:rPr lang="en-IN" dirty="0"/>
              <a:t> and </a:t>
            </a:r>
            <a:r>
              <a:rPr lang="en-IN" b="1" dirty="0"/>
              <a:t>cost</a:t>
            </a: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Analyzes</a:t>
            </a:r>
            <a:r>
              <a:rPr lang="en-IN" dirty="0"/>
              <a:t> text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Density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Complexity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Structural signals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Determines chunk boundaries </a:t>
            </a:r>
            <a:r>
              <a:rPr lang="en-IN" b="1" dirty="0"/>
              <a:t>at runtime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Produces </a:t>
            </a:r>
            <a:r>
              <a:rPr lang="en-IN" b="1" dirty="0"/>
              <a:t>variable-sized chunks</a:t>
            </a: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Why Adaptive Chunking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Avoids over-chunking simple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Preserves detail in complex sections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Improves retrieval precision in RAG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Reduces unnecessary embeddings</a:t>
            </a:r>
          </a:p>
        </p:txBody>
      </p:sp>
    </p:spTree>
    <p:extLst>
      <p:ext uri="{BB962C8B-B14F-4D97-AF65-F5344CB8AC3E}">
        <p14:creationId xmlns:p14="http://schemas.microsoft.com/office/powerpoint/2010/main" val="279806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AF0B-3F1E-665E-3E36-6F78C6F2C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904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Context-Enriched Chunking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FC53CB-CA66-7468-6ABA-99BFFC8EA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817" y="1232899"/>
            <a:ext cx="3652214" cy="547832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28B87F-7D97-8B3A-C907-A0B8356C638C}"/>
              </a:ext>
            </a:extLst>
          </p:cNvPr>
          <p:cNvSpPr txBox="1"/>
          <p:nvPr/>
        </p:nvSpPr>
        <p:spPr>
          <a:xfrm>
            <a:off x="274834" y="671691"/>
            <a:ext cx="728694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Context-Enriched Chunking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Chunks are </a:t>
            </a:r>
            <a:r>
              <a:rPr lang="en-US" b="1" dirty="0"/>
              <a:t>augmented with additional context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Context can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Summaries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Keywords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Metadata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</a:t>
            </a:r>
            <a:r>
              <a:rPr lang="en-US" b="1" dirty="0"/>
              <a:t>retrieval accuracy</a:t>
            </a:r>
            <a:r>
              <a:rPr lang="en-US" dirty="0"/>
              <a:t> and </a:t>
            </a:r>
            <a:r>
              <a:rPr lang="en-US" b="1" dirty="0"/>
              <a:t>answer quality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First, chunk the document (fixed / semantic / recursive)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Then, for each chunk: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Generate a short </a:t>
            </a:r>
            <a:r>
              <a:rPr lang="en-US" b="1" dirty="0"/>
              <a:t>summary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Extract </a:t>
            </a:r>
            <a:r>
              <a:rPr lang="en-US" b="1" dirty="0"/>
              <a:t>key terms or tags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both </a:t>
            </a:r>
            <a:r>
              <a:rPr lang="en-US" b="1" dirty="0"/>
              <a:t>chunk text + enriched context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Why Context Enrichment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Gives the retriever </a:t>
            </a:r>
            <a:r>
              <a:rPr lang="en-US" b="1" dirty="0"/>
              <a:t>more signals</a:t>
            </a:r>
            <a:r>
              <a:rPr lang="en-US" dirty="0"/>
              <a:t> than raw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semantic matching for user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LLMs answer with </a:t>
            </a:r>
            <a:r>
              <a:rPr lang="en-US" b="1" dirty="0"/>
              <a:t>better grounding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ambiguity for short or dense chunks</a:t>
            </a:r>
          </a:p>
        </p:txBody>
      </p:sp>
    </p:spTree>
    <p:extLst>
      <p:ext uri="{BB962C8B-B14F-4D97-AF65-F5344CB8AC3E}">
        <p14:creationId xmlns:p14="http://schemas.microsoft.com/office/powerpoint/2010/main" val="451358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EBBE-7587-B3F1-8318-E110659E8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940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AI-Driven Dynamic Chunking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CAEF06-63AC-38FA-DC31-B99881FF7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924" y="961224"/>
            <a:ext cx="3863081" cy="579462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4C0168-E0D0-4663-145D-9E562C9DE99B}"/>
              </a:ext>
            </a:extLst>
          </p:cNvPr>
          <p:cNvSpPr txBox="1"/>
          <p:nvPr/>
        </p:nvSpPr>
        <p:spPr>
          <a:xfrm>
            <a:off x="256854" y="754203"/>
            <a:ext cx="609771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AI-Driven Dynamic Chunking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Chunking decisions are made </a:t>
            </a:r>
            <a:r>
              <a:rPr lang="en-US" sz="1600" b="1" dirty="0"/>
              <a:t>by an LLM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b="1" dirty="0"/>
              <a:t>semantic understanding</a:t>
            </a:r>
            <a:r>
              <a:rPr lang="en-US" sz="1600" dirty="0"/>
              <a:t> to find natural breakpoints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Chunk sizes adjust </a:t>
            </a:r>
            <a:r>
              <a:rPr lang="en-US" sz="1600" b="1" dirty="0"/>
              <a:t>dynamically at runtime</a:t>
            </a:r>
            <a:endParaRPr lang="en-US" sz="1600" dirty="0"/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b="1" dirty="0"/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LLM analyzes: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Topic shifts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Conceptual density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Context importance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Decides: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Where to split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How large each chunk should be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Produces </a:t>
            </a:r>
            <a:r>
              <a:rPr lang="en-US" sz="1600" b="1" dirty="0"/>
              <a:t>highly context-aware chunks</a:t>
            </a:r>
            <a:endParaRPr lang="en-US" sz="1600" dirty="0"/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b="1" dirty="0"/>
              <a:t>Why AI-Driven Chunking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Preserves </a:t>
            </a:r>
            <a:r>
              <a:rPr lang="en-US" sz="1600" b="1" dirty="0"/>
              <a:t>complete ideas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Avoids rigid rules and heuristics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Improves retrieval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Complex questions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Multi-topic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Best alignment with </a:t>
            </a:r>
            <a:r>
              <a:rPr lang="en-US" sz="1600" b="1" dirty="0"/>
              <a:t>LLM reasoning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5211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503</Words>
  <Application>Microsoft Office PowerPoint</Application>
  <PresentationFormat>Widescreen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Chunking Strategies in RAG</vt:lpstr>
      <vt:lpstr>Fixed Size Chunking with Overlap</vt:lpstr>
      <vt:lpstr>Semantic Chunking </vt:lpstr>
      <vt:lpstr>Recursive Chunking</vt:lpstr>
      <vt:lpstr>Adaptive Chunking</vt:lpstr>
      <vt:lpstr>Context-Enriched Chunking</vt:lpstr>
      <vt:lpstr>AI-Driven Dynamic Chunking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Dutta, Jasmine</cp:lastModifiedBy>
  <cp:revision>2</cp:revision>
  <dcterms:created xsi:type="dcterms:W3CDTF">2026-01-13T08:31:15Z</dcterms:created>
  <dcterms:modified xsi:type="dcterms:W3CDTF">2026-03-12T13:49:07Z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c52a5fe-100b-40b9-bcf9-3408ca64ca87_Enabled">
    <vt:lpwstr>true</vt:lpwstr>
  </property>
  <property fmtid="{D5CDD505-2E9C-101B-9397-08002B2CF9AE}" pid="3" name="MSIP_Label_4c52a5fe-100b-40b9-bcf9-3408ca64ca87_SetDate">
    <vt:lpwstr>2026-03-12T13:49:07Z</vt:lpwstr>
  </property>
  <property fmtid="{D5CDD505-2E9C-101B-9397-08002B2CF9AE}" pid="4" name="MSIP_Label_4c52a5fe-100b-40b9-bcf9-3408ca64ca87_Method">
    <vt:lpwstr>Privileged</vt:lpwstr>
  </property>
  <property fmtid="{D5CDD505-2E9C-101B-9397-08002B2CF9AE}" pid="5" name="MSIP_Label_4c52a5fe-100b-40b9-bcf9-3408ca64ca87_Name">
    <vt:lpwstr>Public</vt:lpwstr>
  </property>
  <property fmtid="{D5CDD505-2E9C-101B-9397-08002B2CF9AE}" pid="6" name="MSIP_Label_4c52a5fe-100b-40b9-bcf9-3408ca64ca87_SiteId">
    <vt:lpwstr>89a64c04-5070-4bae-a1ed-e9639497e1b7</vt:lpwstr>
  </property>
  <property fmtid="{D5CDD505-2E9C-101B-9397-08002B2CF9AE}" pid="7" name="MSIP_Label_4c52a5fe-100b-40b9-bcf9-3408ca64ca87_ActionId">
    <vt:lpwstr>adb51dc7-6e3f-4f86-872e-8c7eec86c06c</vt:lpwstr>
  </property>
  <property fmtid="{D5CDD505-2E9C-101B-9397-08002B2CF9AE}" pid="8" name="MSIP_Label_4c52a5fe-100b-40b9-bcf9-3408ca64ca87_ContentBits">
    <vt:lpwstr>0</vt:lpwstr>
  </property>
  <property fmtid="{D5CDD505-2E9C-101B-9397-08002B2CF9AE}" pid="9" name="MSIP_Label_4c52a5fe-100b-40b9-bcf9-3408ca64ca87_Tag">
    <vt:lpwstr>10, 0, 1, 1</vt:lpwstr>
  </property>
</Properties>
</file>