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3B279A-FE16-4208-97D3-CFFE235A38E9}" v="10" dt="2026-01-13T18:53:09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8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ED8B9-751D-ADF9-9F31-717FDC03B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78CFF-E8CE-2B1C-4108-FE7901456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C3733-6618-AA83-E127-D6B51DA9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04915-3173-F235-61FA-190217C2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0FB70-98D3-5CBA-D1B3-5B5D9EA7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6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3CFF-E6F4-8128-2871-9EFF77D68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22862-1447-3074-A986-54C1BA05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78709-13C4-8ECC-0643-35EE330A3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FEF1-A95B-0D9C-154E-1D23E6B2C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7C2AB-B437-AE19-585A-8D2723A6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20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3D4F-2205-2172-E5F2-CD3DA7569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B3DFF-EDDE-CBC5-150B-B40645965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890C-3EBE-977B-B15A-07804519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25E27-AA14-5819-F92D-3669CAA5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27F5D-B217-6F94-9E01-D77E109D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70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25EF-678C-331A-9033-F6AD5EB3F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054A1-D9FC-8ACC-E929-5AAAD8F2CC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BE717-9AB8-CFF7-F57C-62E2441DD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67CBE-D362-2B59-E362-F62DF9FD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587C7-450D-A0A0-9C35-A320D663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CA9DD-43AE-AE87-0091-86E1C5311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27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9B9E-5894-196C-F61E-6C8F0FF3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09656-8DAA-6B25-5CCA-96F243E70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029D3-BA60-61CD-222C-6184C29FF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E9A8E5-1DD8-F505-DD7A-1AA61B3D8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5EAC7-A353-EC65-C178-F5E96DF2B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5B592-2775-F8AC-81B7-D83337C0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A0283-9176-73B3-F1E6-FC1FCDE6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F041EA-F33C-3F3B-EC31-29A912E4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57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1DC6-4DBA-3B1B-E098-516202BC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362FC-7A7A-3899-822F-28532432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C2C78-4147-DDF4-94AB-E655EEEB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DF6DB-E425-15D8-AEBD-AC6CE53C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6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E130D-D956-E2E7-7DD0-E07683C0F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DCDAE-2DDB-2251-D983-727C056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4F461-7D72-A8CC-8F8F-CD242B4A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89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E550-094B-AC47-136F-9783E078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CE33-FFC3-AFF7-1D1C-25D12EEB5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07979-9AF2-BBFC-01A5-617E5BE73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20CCA-D18B-88B9-2BC4-8444E3D92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46CC4-0AFA-142B-D243-1F5D2D2C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B26D0-9AF7-0BEB-B1B4-CE51E0C7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5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BC9FD-0B14-CAB3-D522-67762F989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AB7E0-C8FA-2979-996F-D9196DDAA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CB0FD-D754-7748-5B62-E51975E3A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E33F8-9F2A-6DFB-09F7-ABDB920D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B7E34-9FA6-1875-578A-36B9BD3B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A4DD8-B28E-BE19-3739-39F33B09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097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BD9E-3635-502F-AD25-ADAD2D0E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24B20-EB27-DE4C-7D52-FC7EB76B5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64DD-688F-B52C-5BA0-B038C8B1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8085B-6DAD-012F-455F-1EFD105E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74E65-C8A0-E2DE-6713-71EEF723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41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3656AE-E95D-4C79-5942-0804D28A0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2602E-1510-6B6A-A917-23DEAEA02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1E887-5461-B337-06DA-FAAD8C20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0C5F6-A07D-EFD7-43AE-39B81F0F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FE95F-FC62-A887-DC0B-D981B1A8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48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340E8-900F-0A82-D7F1-525AA272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EA5CF-11AD-6719-F152-95DB613CB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C31E9-6E79-3E23-6046-8BE4ABB95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8D0BF1-D29F-45F7-8889-2E821BCD253E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E4948-EA1A-DD37-AD24-4FB976A9D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03999-8A92-7DCE-08F0-5BD3F8431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7E015-AB10-47A4-8C94-E0A7E6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76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C8B6-46D9-9F65-5106-01EF44FD8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1842"/>
            <a:ext cx="9144000" cy="2387600"/>
          </a:xfrm>
        </p:spPr>
        <p:txBody>
          <a:bodyPr/>
          <a:lstStyle/>
          <a:p>
            <a:r>
              <a:rPr lang="en-US" dirty="0"/>
              <a:t>Vector Indices in Databricks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992E9-61B2-C319-DD5D-93DB43096C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US" dirty="0"/>
              <a:t>(Types and Properties)</a:t>
            </a:r>
            <a:endParaRPr lang="en-IN" dirty="0"/>
          </a:p>
        </p:txBody>
      </p:sp>
      <p:pic>
        <p:nvPicPr>
          <p:cNvPr id="1026" name="Picture 2" descr="Databricks Raises $1B, Reaches $100B Valuation for AI Dat...">
            <a:extLst>
              <a:ext uri="{FF2B5EF4-FFF2-40B4-BE49-F238E27FC236}">
                <a16:creationId xmlns:a16="http://schemas.microsoft.com/office/drawing/2014/main" id="{486B2ED8-59E2-D325-B2E9-C9E4C3F4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521413"/>
            <a:ext cx="57150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14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7712-D4EF-89D0-8855-7F5665D0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3838"/>
            <a:ext cx="12353818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Delta Sync Index with Embeddings Computed by Databricks</a:t>
            </a:r>
            <a:endParaRPr lang="en-IN" sz="3600" dirty="0"/>
          </a:p>
        </p:txBody>
      </p:sp>
      <p:pic>
        <p:nvPicPr>
          <p:cNvPr id="2050" name="Picture 2" descr="vector search index, Databricks calculates embeddings">
            <a:extLst>
              <a:ext uri="{FF2B5EF4-FFF2-40B4-BE49-F238E27FC236}">
                <a16:creationId xmlns:a16="http://schemas.microsoft.com/office/drawing/2014/main" id="{16ED6487-CB4E-D21A-492D-C6D8CE0992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676" y="2090659"/>
            <a:ext cx="7212459" cy="335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F43F6F-04EE-60C4-2308-EF2B669709D6}"/>
              </a:ext>
            </a:extLst>
          </p:cNvPr>
          <p:cNvSpPr txBox="1"/>
          <p:nvPr/>
        </p:nvSpPr>
        <p:spPr>
          <a:xfrm>
            <a:off x="119865" y="1574162"/>
            <a:ext cx="4433299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1B3139"/>
                </a:solidFill>
              </a:rPr>
              <a:t>Y</a:t>
            </a:r>
            <a:r>
              <a:rPr lang="en-US" b="0" i="0" dirty="0">
                <a:solidFill>
                  <a:srgbClr val="1B3139"/>
                </a:solidFill>
                <a:effectLst/>
              </a:rPr>
              <a:t>ou provide a </a:t>
            </a:r>
            <a:r>
              <a:rPr lang="en-US" b="1" i="0" dirty="0">
                <a:solidFill>
                  <a:srgbClr val="1B3139"/>
                </a:solidFill>
                <a:effectLst/>
              </a:rPr>
              <a:t>source Delta table that contains data in text format. Databricks calculates the embeddings</a:t>
            </a:r>
            <a:r>
              <a:rPr lang="en-US" b="0" i="0" dirty="0">
                <a:solidFill>
                  <a:srgbClr val="1B3139"/>
                </a:solidFill>
                <a:effectLst/>
              </a:rPr>
              <a:t>, using a model that you specify, and optionally saves the embeddings to a table in Unity Catalog.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9E96-E22C-046B-6AF7-D8C9C48B9A7D}"/>
              </a:ext>
            </a:extLst>
          </p:cNvPr>
          <p:cNvSpPr txBox="1"/>
          <p:nvPr/>
        </p:nvSpPr>
        <p:spPr>
          <a:xfrm>
            <a:off x="119864" y="5121592"/>
            <a:ext cx="443329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B3139"/>
                </a:solidFill>
                <a:effectLst/>
              </a:rPr>
              <a:t>As the Delta table is updated, the index stays synced with the Delta table.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927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1F77-1EAB-BE76-C7FD-2BA4973B9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03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Delta Sync Index with Self-Managed Embeddings</a:t>
            </a:r>
            <a:endParaRPr lang="en-IN" sz="3600" dirty="0"/>
          </a:p>
        </p:txBody>
      </p:sp>
      <p:pic>
        <p:nvPicPr>
          <p:cNvPr id="3074" name="Picture 2" descr="vector search index, precalculated embeddings">
            <a:extLst>
              <a:ext uri="{FF2B5EF4-FFF2-40B4-BE49-F238E27FC236}">
                <a16:creationId xmlns:a16="http://schemas.microsoft.com/office/drawing/2014/main" id="{6FE594D6-2725-AAAD-0887-FB3030178E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891" y="1657312"/>
            <a:ext cx="9483048" cy="372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E9271C-1582-6D01-75BF-EF83C2649131}"/>
              </a:ext>
            </a:extLst>
          </p:cNvPr>
          <p:cNvSpPr txBox="1"/>
          <p:nvPr/>
        </p:nvSpPr>
        <p:spPr>
          <a:xfrm>
            <a:off x="3187559" y="5661733"/>
            <a:ext cx="6097712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3139"/>
                </a:solidFill>
                <a:effectLst/>
              </a:rPr>
              <a:t>With this option, </a:t>
            </a:r>
            <a:r>
              <a:rPr lang="en-US" b="1" i="0" dirty="0">
                <a:solidFill>
                  <a:srgbClr val="1B3139"/>
                </a:solidFill>
                <a:effectLst/>
              </a:rPr>
              <a:t>you provide a source Delta table that contains pre-calculated embeddings</a:t>
            </a:r>
            <a:r>
              <a:rPr lang="en-US" b="0" i="0" dirty="0">
                <a:solidFill>
                  <a:srgbClr val="1B3139"/>
                </a:solidFill>
                <a:effectLst/>
              </a:rPr>
              <a:t>. As the Delta table is updated, the </a:t>
            </a:r>
            <a:r>
              <a:rPr lang="en-US" b="1" i="0" dirty="0">
                <a:solidFill>
                  <a:srgbClr val="1B3139"/>
                </a:solidFill>
                <a:effectLst/>
              </a:rPr>
              <a:t>index stays synced with the Delta table</a:t>
            </a:r>
            <a:r>
              <a:rPr lang="en-US" b="0" i="0" dirty="0">
                <a:solidFill>
                  <a:srgbClr val="1B3139"/>
                </a:solidFill>
                <a:effectLst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173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9BE54-666E-EC56-8A72-2AFD2827D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Direct Vector Access Index</a:t>
            </a:r>
            <a:endParaRPr lang="en-IN" dirty="0"/>
          </a:p>
        </p:txBody>
      </p:sp>
      <p:pic>
        <p:nvPicPr>
          <p:cNvPr id="4098" name="Picture 2" descr="vector search index, precalculated embeddings with no automatic sync">
            <a:extLst>
              <a:ext uri="{FF2B5EF4-FFF2-40B4-BE49-F238E27FC236}">
                <a16:creationId xmlns:a16="http://schemas.microsoft.com/office/drawing/2014/main" id="{B9AF5822-D882-AE0C-AB02-969629A820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075" y="1325563"/>
            <a:ext cx="9487847" cy="444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C6C9CD-307E-E3E3-AA2B-CC84CCC006A3}"/>
              </a:ext>
            </a:extLst>
          </p:cNvPr>
          <p:cNvSpPr txBox="1"/>
          <p:nvPr/>
        </p:nvSpPr>
        <p:spPr>
          <a:xfrm>
            <a:off x="3047142" y="6000780"/>
            <a:ext cx="609771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3139"/>
                </a:solidFill>
                <a:effectLst/>
              </a:rPr>
              <a:t>With this option, you must manually update the index using the REST API when the embeddings table changes.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52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2E6B0E-5A24-CA3B-FD57-95F2FD6E2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686" y="1159022"/>
            <a:ext cx="11105172" cy="453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7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131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Vector Indices in Databricks</vt:lpstr>
      <vt:lpstr>Delta Sync Index with Embeddings Computed by Databricks</vt:lpstr>
      <vt:lpstr>Delta Sync Index with Self-Managed Embeddings</vt:lpstr>
      <vt:lpstr>Direct Vector Access Index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Dutta, Jasmine</cp:lastModifiedBy>
  <cp:revision>2</cp:revision>
  <dcterms:created xsi:type="dcterms:W3CDTF">2026-01-13T18:42:59Z</dcterms:created>
  <dcterms:modified xsi:type="dcterms:W3CDTF">2026-03-12T13:50:10Z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52a5fe-100b-40b9-bcf9-3408ca64ca87_Enabled">
    <vt:lpwstr>true</vt:lpwstr>
  </property>
  <property fmtid="{D5CDD505-2E9C-101B-9397-08002B2CF9AE}" pid="3" name="MSIP_Label_4c52a5fe-100b-40b9-bcf9-3408ca64ca87_SetDate">
    <vt:lpwstr>2026-03-12T13:50:10Z</vt:lpwstr>
  </property>
  <property fmtid="{D5CDD505-2E9C-101B-9397-08002B2CF9AE}" pid="4" name="MSIP_Label_4c52a5fe-100b-40b9-bcf9-3408ca64ca87_Method">
    <vt:lpwstr>Privileged</vt:lpwstr>
  </property>
  <property fmtid="{D5CDD505-2E9C-101B-9397-08002B2CF9AE}" pid="5" name="MSIP_Label_4c52a5fe-100b-40b9-bcf9-3408ca64ca87_Name">
    <vt:lpwstr>Public</vt:lpwstr>
  </property>
  <property fmtid="{D5CDD505-2E9C-101B-9397-08002B2CF9AE}" pid="6" name="MSIP_Label_4c52a5fe-100b-40b9-bcf9-3408ca64ca87_SiteId">
    <vt:lpwstr>89a64c04-5070-4bae-a1ed-e9639497e1b7</vt:lpwstr>
  </property>
  <property fmtid="{D5CDD505-2E9C-101B-9397-08002B2CF9AE}" pid="7" name="MSIP_Label_4c52a5fe-100b-40b9-bcf9-3408ca64ca87_ActionId">
    <vt:lpwstr>e223831b-456b-42d8-8c1d-e767d50798e2</vt:lpwstr>
  </property>
  <property fmtid="{D5CDD505-2E9C-101B-9397-08002B2CF9AE}" pid="8" name="MSIP_Label_4c52a5fe-100b-40b9-bcf9-3408ca64ca87_ContentBits">
    <vt:lpwstr>0</vt:lpwstr>
  </property>
  <property fmtid="{D5CDD505-2E9C-101B-9397-08002B2CF9AE}" pid="9" name="MSIP_Label_4c52a5fe-100b-40b9-bcf9-3408ca64ca87_Tag">
    <vt:lpwstr>10, 0, 1, 1</vt:lpwstr>
  </property>
</Properties>
</file>