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70" r:id="rId7"/>
    <p:sldId id="262" r:id="rId8"/>
    <p:sldId id="263" r:id="rId9"/>
    <p:sldId id="264" r:id="rId10"/>
    <p:sldId id="265" r:id="rId11"/>
    <p:sldId id="266" r:id="rId12"/>
    <p:sldId id="272" r:id="rId13"/>
    <p:sldId id="267" r:id="rId14"/>
    <p:sldId id="268" r:id="rId15"/>
    <p:sldId id="273" r:id="rId16"/>
    <p:sldId id="269" r:id="rId17"/>
    <p:sldId id="271" r:id="rId18"/>
    <p:sldId id="260" r:id="rId19"/>
    <p:sldId id="259"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747F6E-88AE-4F7E-A3C7-BC8DE84173A3}" v="4" dt="2024-07-16T13:15:47.7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6"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vastava, Nikunj" userId="S::nikunj.srivastav.exl@canopius.com::af2ef6ff-4c31-4cda-983e-c56cc9c3148d" providerId="AD" clId="Web-{2E0BD3CD-95AA-4EB8-8DC3-B3C2E78A42E1}"/>
    <pc:docChg chg="modSld">
      <pc:chgData name="Srivastava, Nikunj" userId="S::nikunj.srivastav.exl@canopius.com::af2ef6ff-4c31-4cda-983e-c56cc9c3148d" providerId="AD" clId="Web-{2E0BD3CD-95AA-4EB8-8DC3-B3C2E78A42E1}" dt="2024-07-03T13:07:42.334" v="13"/>
      <pc:docMkLst>
        <pc:docMk/>
      </pc:docMkLst>
      <pc:sldChg chg="modSp">
        <pc:chgData name="Srivastava, Nikunj" userId="S::nikunj.srivastav.exl@canopius.com::af2ef6ff-4c31-4cda-983e-c56cc9c3148d" providerId="AD" clId="Web-{2E0BD3CD-95AA-4EB8-8DC3-B3C2E78A42E1}" dt="2024-07-03T13:07:42.334" v="13"/>
        <pc:sldMkLst>
          <pc:docMk/>
          <pc:sldMk cId="2784766971" sldId="268"/>
        </pc:sldMkLst>
        <pc:graphicFrameChg chg="mod modGraphic">
          <ac:chgData name="Srivastava, Nikunj" userId="S::nikunj.srivastav.exl@canopius.com::af2ef6ff-4c31-4cda-983e-c56cc9c3148d" providerId="AD" clId="Web-{2E0BD3CD-95AA-4EB8-8DC3-B3C2E78A42E1}" dt="2024-07-03T13:07:42.334" v="13"/>
          <ac:graphicFrameMkLst>
            <pc:docMk/>
            <pc:sldMk cId="2784766971" sldId="268"/>
            <ac:graphicFrameMk id="4" creationId="{D5BD4C2D-B9E4-25F4-A920-72FBABD6028B}"/>
          </ac:graphicFrameMkLst>
        </pc:graphicFrameChg>
      </pc:sldChg>
    </pc:docChg>
  </pc:docChgLst>
  <pc:docChgLst>
    <pc:chgData name="Srivastava, Nikunj" userId="S::nikunj.srivastav.exl@canopius.com::af2ef6ff-4c31-4cda-983e-c56cc9c3148d" providerId="AD" clId="Web-{7CBFA287-062D-43B1-9461-DFCC916BA035}"/>
    <pc:docChg chg="mod addSld delSld modSld sldOrd">
      <pc:chgData name="Srivastava, Nikunj" userId="S::nikunj.srivastav.exl@canopius.com::af2ef6ff-4c31-4cda-983e-c56cc9c3148d" providerId="AD" clId="Web-{7CBFA287-062D-43B1-9461-DFCC916BA035}" dt="2024-07-03T10:35:08.248" v="253" actId="20577"/>
      <pc:docMkLst>
        <pc:docMk/>
      </pc:docMkLst>
      <pc:sldChg chg="addSp delSp modSp del">
        <pc:chgData name="Srivastava, Nikunj" userId="S::nikunj.srivastav.exl@canopius.com::af2ef6ff-4c31-4cda-983e-c56cc9c3148d" providerId="AD" clId="Web-{7CBFA287-062D-43B1-9461-DFCC916BA035}" dt="2024-07-03T10:22:00.716" v="8"/>
        <pc:sldMkLst>
          <pc:docMk/>
          <pc:sldMk cId="375988944" sldId="258"/>
        </pc:sldMkLst>
        <pc:spChg chg="add mod">
          <ac:chgData name="Srivastava, Nikunj" userId="S::nikunj.srivastav.exl@canopius.com::af2ef6ff-4c31-4cda-983e-c56cc9c3148d" providerId="AD" clId="Web-{7CBFA287-062D-43B1-9461-DFCC916BA035}" dt="2024-07-03T10:21:41.590" v="6" actId="20577"/>
          <ac:spMkLst>
            <pc:docMk/>
            <pc:sldMk cId="375988944" sldId="258"/>
            <ac:spMk id="2" creationId="{4647F761-E919-1B15-8D1F-77E3BB5D8BB6}"/>
          </ac:spMkLst>
        </pc:spChg>
        <pc:graphicFrameChg chg="del">
          <ac:chgData name="Srivastava, Nikunj" userId="S::nikunj.srivastav.exl@canopius.com::af2ef6ff-4c31-4cda-983e-c56cc9c3148d" providerId="AD" clId="Web-{7CBFA287-062D-43B1-9461-DFCC916BA035}" dt="2024-07-03T10:19:29.616" v="2"/>
          <ac:graphicFrameMkLst>
            <pc:docMk/>
            <pc:sldMk cId="375988944" sldId="258"/>
            <ac:graphicFrameMk id="5" creationId="{9899B7DB-3BFE-A763-2065-E7BB8A06AFD2}"/>
          </ac:graphicFrameMkLst>
        </pc:graphicFrameChg>
      </pc:sldChg>
      <pc:sldChg chg="add replId">
        <pc:chgData name="Srivastava, Nikunj" userId="S::nikunj.srivastav.exl@canopius.com::af2ef6ff-4c31-4cda-983e-c56cc9c3148d" providerId="AD" clId="Web-{7CBFA287-062D-43B1-9461-DFCC916BA035}" dt="2024-07-03T10:19:24.287" v="1"/>
        <pc:sldMkLst>
          <pc:docMk/>
          <pc:sldMk cId="2765118228" sldId="260"/>
        </pc:sldMkLst>
      </pc:sldChg>
      <pc:sldChg chg="new del">
        <pc:chgData name="Srivastava, Nikunj" userId="S::nikunj.srivastav.exl@canopius.com::af2ef6ff-4c31-4cda-983e-c56cc9c3148d" providerId="AD" clId="Web-{7CBFA287-062D-43B1-9461-DFCC916BA035}" dt="2024-07-03T10:22:12.450" v="10"/>
        <pc:sldMkLst>
          <pc:docMk/>
          <pc:sldMk cId="2428821708" sldId="261"/>
        </pc:sldMkLst>
      </pc:sldChg>
      <pc:sldChg chg="modSp new">
        <pc:chgData name="Srivastava, Nikunj" userId="S::nikunj.srivastav.exl@canopius.com::af2ef6ff-4c31-4cda-983e-c56cc9c3148d" providerId="AD" clId="Web-{7CBFA287-062D-43B1-9461-DFCC916BA035}" dt="2024-07-03T10:25:34.928" v="35" actId="20577"/>
        <pc:sldMkLst>
          <pc:docMk/>
          <pc:sldMk cId="423708456" sldId="262"/>
        </pc:sldMkLst>
        <pc:spChg chg="mod">
          <ac:chgData name="Srivastava, Nikunj" userId="S::nikunj.srivastav.exl@canopius.com::af2ef6ff-4c31-4cda-983e-c56cc9c3148d" providerId="AD" clId="Web-{7CBFA287-062D-43B1-9461-DFCC916BA035}" dt="2024-07-03T10:25:34.928" v="35" actId="20577"/>
          <ac:spMkLst>
            <pc:docMk/>
            <pc:sldMk cId="423708456" sldId="262"/>
            <ac:spMk id="2" creationId="{229A3CA8-361E-5BFA-57A9-D60CD29EBD49}"/>
          </ac:spMkLst>
        </pc:spChg>
      </pc:sldChg>
      <pc:sldChg chg="modSp add replId">
        <pc:chgData name="Srivastava, Nikunj" userId="S::nikunj.srivastav.exl@canopius.com::af2ef6ff-4c31-4cda-983e-c56cc9c3148d" providerId="AD" clId="Web-{7CBFA287-062D-43B1-9461-DFCC916BA035}" dt="2024-07-03T10:25:48.834" v="43" actId="20577"/>
        <pc:sldMkLst>
          <pc:docMk/>
          <pc:sldMk cId="2918436866" sldId="263"/>
        </pc:sldMkLst>
        <pc:spChg chg="mod">
          <ac:chgData name="Srivastava, Nikunj" userId="S::nikunj.srivastav.exl@canopius.com::af2ef6ff-4c31-4cda-983e-c56cc9c3148d" providerId="AD" clId="Web-{7CBFA287-062D-43B1-9461-DFCC916BA035}" dt="2024-07-03T10:25:48.834" v="43" actId="20577"/>
          <ac:spMkLst>
            <pc:docMk/>
            <pc:sldMk cId="2918436866" sldId="263"/>
            <ac:spMk id="2" creationId="{229A3CA8-361E-5BFA-57A9-D60CD29EBD49}"/>
          </ac:spMkLst>
        </pc:spChg>
      </pc:sldChg>
      <pc:sldChg chg="modSp add replId">
        <pc:chgData name="Srivastava, Nikunj" userId="S::nikunj.srivastav.exl@canopius.com::af2ef6ff-4c31-4cda-983e-c56cc9c3148d" providerId="AD" clId="Web-{7CBFA287-062D-43B1-9461-DFCC916BA035}" dt="2024-07-03T10:26:19.773" v="52" actId="20577"/>
        <pc:sldMkLst>
          <pc:docMk/>
          <pc:sldMk cId="1779332315" sldId="264"/>
        </pc:sldMkLst>
        <pc:spChg chg="mod">
          <ac:chgData name="Srivastava, Nikunj" userId="S::nikunj.srivastav.exl@canopius.com::af2ef6ff-4c31-4cda-983e-c56cc9c3148d" providerId="AD" clId="Web-{7CBFA287-062D-43B1-9461-DFCC916BA035}" dt="2024-07-03T10:26:19.773" v="52" actId="20577"/>
          <ac:spMkLst>
            <pc:docMk/>
            <pc:sldMk cId="1779332315" sldId="264"/>
            <ac:spMk id="2" creationId="{229A3CA8-361E-5BFA-57A9-D60CD29EBD49}"/>
          </ac:spMkLst>
        </pc:spChg>
      </pc:sldChg>
      <pc:sldChg chg="modSp add replId">
        <pc:chgData name="Srivastava, Nikunj" userId="S::nikunj.srivastav.exl@canopius.com::af2ef6ff-4c31-4cda-983e-c56cc9c3148d" providerId="AD" clId="Web-{7CBFA287-062D-43B1-9461-DFCC916BA035}" dt="2024-07-03T10:27:11.572" v="66" actId="20577"/>
        <pc:sldMkLst>
          <pc:docMk/>
          <pc:sldMk cId="3142259494" sldId="265"/>
        </pc:sldMkLst>
        <pc:spChg chg="mod">
          <ac:chgData name="Srivastava, Nikunj" userId="S::nikunj.srivastav.exl@canopius.com::af2ef6ff-4c31-4cda-983e-c56cc9c3148d" providerId="AD" clId="Web-{7CBFA287-062D-43B1-9461-DFCC916BA035}" dt="2024-07-03T10:27:11.572" v="66" actId="20577"/>
          <ac:spMkLst>
            <pc:docMk/>
            <pc:sldMk cId="3142259494" sldId="265"/>
            <ac:spMk id="2" creationId="{229A3CA8-361E-5BFA-57A9-D60CD29EBD49}"/>
          </ac:spMkLst>
        </pc:spChg>
      </pc:sldChg>
      <pc:sldChg chg="modSp add replId">
        <pc:chgData name="Srivastava, Nikunj" userId="S::nikunj.srivastav.exl@canopius.com::af2ef6ff-4c31-4cda-983e-c56cc9c3148d" providerId="AD" clId="Web-{7CBFA287-062D-43B1-9461-DFCC916BA035}" dt="2024-07-03T10:27:41.792" v="75" actId="20577"/>
        <pc:sldMkLst>
          <pc:docMk/>
          <pc:sldMk cId="1132776510" sldId="266"/>
        </pc:sldMkLst>
        <pc:spChg chg="mod">
          <ac:chgData name="Srivastava, Nikunj" userId="S::nikunj.srivastav.exl@canopius.com::af2ef6ff-4c31-4cda-983e-c56cc9c3148d" providerId="AD" clId="Web-{7CBFA287-062D-43B1-9461-DFCC916BA035}" dt="2024-07-03T10:27:41.792" v="75" actId="20577"/>
          <ac:spMkLst>
            <pc:docMk/>
            <pc:sldMk cId="1132776510" sldId="266"/>
            <ac:spMk id="2" creationId="{229A3CA8-361E-5BFA-57A9-D60CD29EBD49}"/>
          </ac:spMkLst>
        </pc:spChg>
      </pc:sldChg>
      <pc:sldChg chg="modSp add replId">
        <pc:chgData name="Srivastava, Nikunj" userId="S::nikunj.srivastav.exl@canopius.com::af2ef6ff-4c31-4cda-983e-c56cc9c3148d" providerId="AD" clId="Web-{7CBFA287-062D-43B1-9461-DFCC916BA035}" dt="2024-07-03T10:28:35.248" v="83" actId="20577"/>
        <pc:sldMkLst>
          <pc:docMk/>
          <pc:sldMk cId="161085391" sldId="267"/>
        </pc:sldMkLst>
        <pc:spChg chg="mod">
          <ac:chgData name="Srivastava, Nikunj" userId="S::nikunj.srivastav.exl@canopius.com::af2ef6ff-4c31-4cda-983e-c56cc9c3148d" providerId="AD" clId="Web-{7CBFA287-062D-43B1-9461-DFCC916BA035}" dt="2024-07-03T10:28:35.248" v="83" actId="20577"/>
          <ac:spMkLst>
            <pc:docMk/>
            <pc:sldMk cId="161085391" sldId="267"/>
            <ac:spMk id="2" creationId="{229A3CA8-361E-5BFA-57A9-D60CD29EBD49}"/>
          </ac:spMkLst>
        </pc:spChg>
      </pc:sldChg>
      <pc:sldChg chg="addSp delSp modSp add replId">
        <pc:chgData name="Srivastava, Nikunj" userId="S::nikunj.srivastav.exl@canopius.com::af2ef6ff-4c31-4cda-983e-c56cc9c3148d" providerId="AD" clId="Web-{7CBFA287-062D-43B1-9461-DFCC916BA035}" dt="2024-07-03T10:30:44.597" v="132"/>
        <pc:sldMkLst>
          <pc:docMk/>
          <pc:sldMk cId="2784766971" sldId="268"/>
        </pc:sldMkLst>
        <pc:spChg chg="mod">
          <ac:chgData name="Srivastava, Nikunj" userId="S::nikunj.srivastav.exl@canopius.com::af2ef6ff-4c31-4cda-983e-c56cc9c3148d" providerId="AD" clId="Web-{7CBFA287-062D-43B1-9461-DFCC916BA035}" dt="2024-07-03T10:29:05.655" v="93" actId="20577"/>
          <ac:spMkLst>
            <pc:docMk/>
            <pc:sldMk cId="2784766971" sldId="268"/>
            <ac:spMk id="2" creationId="{229A3CA8-361E-5BFA-57A9-D60CD29EBD49}"/>
          </ac:spMkLst>
        </pc:spChg>
        <pc:spChg chg="del">
          <ac:chgData name="Srivastava, Nikunj" userId="S::nikunj.srivastav.exl@canopius.com::af2ef6ff-4c31-4cda-983e-c56cc9c3148d" providerId="AD" clId="Web-{7CBFA287-062D-43B1-9461-DFCC916BA035}" dt="2024-07-03T10:29:15.234" v="94"/>
          <ac:spMkLst>
            <pc:docMk/>
            <pc:sldMk cId="2784766971" sldId="268"/>
            <ac:spMk id="3" creationId="{A74DBFD9-490D-6D65-21E7-62FCC90B2B9C}"/>
          </ac:spMkLst>
        </pc:spChg>
        <pc:graphicFrameChg chg="add mod ord modGraphic">
          <ac:chgData name="Srivastava, Nikunj" userId="S::nikunj.srivastav.exl@canopius.com::af2ef6ff-4c31-4cda-983e-c56cc9c3148d" providerId="AD" clId="Web-{7CBFA287-062D-43B1-9461-DFCC916BA035}" dt="2024-07-03T10:30:44.597" v="132"/>
          <ac:graphicFrameMkLst>
            <pc:docMk/>
            <pc:sldMk cId="2784766971" sldId="268"/>
            <ac:graphicFrameMk id="4" creationId="{D5BD4C2D-B9E4-25F4-A920-72FBABD6028B}"/>
          </ac:graphicFrameMkLst>
        </pc:graphicFrameChg>
      </pc:sldChg>
      <pc:sldChg chg="addSp delSp modSp add replId">
        <pc:chgData name="Srivastava, Nikunj" userId="S::nikunj.srivastav.exl@canopius.com::af2ef6ff-4c31-4cda-983e-c56cc9c3148d" providerId="AD" clId="Web-{7CBFA287-062D-43B1-9461-DFCC916BA035}" dt="2024-07-03T10:32:56.883" v="173"/>
        <pc:sldMkLst>
          <pc:docMk/>
          <pc:sldMk cId="3950700263" sldId="269"/>
        </pc:sldMkLst>
        <pc:spChg chg="mod">
          <ac:chgData name="Srivastava, Nikunj" userId="S::nikunj.srivastav.exl@canopius.com::af2ef6ff-4c31-4cda-983e-c56cc9c3148d" providerId="AD" clId="Web-{7CBFA287-062D-43B1-9461-DFCC916BA035}" dt="2024-07-03T10:31:14.098" v="149" actId="20577"/>
          <ac:spMkLst>
            <pc:docMk/>
            <pc:sldMk cId="3950700263" sldId="269"/>
            <ac:spMk id="2" creationId="{229A3CA8-361E-5BFA-57A9-D60CD29EBD49}"/>
          </ac:spMkLst>
        </pc:spChg>
        <pc:spChg chg="add del mod">
          <ac:chgData name="Srivastava, Nikunj" userId="S::nikunj.srivastav.exl@canopius.com::af2ef6ff-4c31-4cda-983e-c56cc9c3148d" providerId="AD" clId="Web-{7CBFA287-062D-43B1-9461-DFCC916BA035}" dt="2024-07-03T10:32:56.883" v="173"/>
          <ac:spMkLst>
            <pc:docMk/>
            <pc:sldMk cId="3950700263" sldId="269"/>
            <ac:spMk id="4" creationId="{82310F56-02BB-5B31-2321-D0B3B9FDB9C4}"/>
          </ac:spMkLst>
        </pc:spChg>
      </pc:sldChg>
      <pc:sldChg chg="modSp add ord replId">
        <pc:chgData name="Srivastava, Nikunj" userId="S::nikunj.srivastav.exl@canopius.com::af2ef6ff-4c31-4cda-983e-c56cc9c3148d" providerId="AD" clId="Web-{7CBFA287-062D-43B1-9461-DFCC916BA035}" dt="2024-07-03T10:32:50.430" v="169"/>
        <pc:sldMkLst>
          <pc:docMk/>
          <pc:sldMk cId="4031844245" sldId="270"/>
        </pc:sldMkLst>
        <pc:spChg chg="mod">
          <ac:chgData name="Srivastava, Nikunj" userId="S::nikunj.srivastav.exl@canopius.com::af2ef6ff-4c31-4cda-983e-c56cc9c3148d" providerId="AD" clId="Web-{7CBFA287-062D-43B1-9461-DFCC916BA035}" dt="2024-07-03T10:31:39.568" v="156" actId="20577"/>
          <ac:spMkLst>
            <pc:docMk/>
            <pc:sldMk cId="4031844245" sldId="270"/>
            <ac:spMk id="2" creationId="{229A3CA8-361E-5BFA-57A9-D60CD29EBD49}"/>
          </ac:spMkLst>
        </pc:spChg>
        <pc:spChg chg="mod">
          <ac:chgData name="Srivastava, Nikunj" userId="S::nikunj.srivastav.exl@canopius.com::af2ef6ff-4c31-4cda-983e-c56cc9c3148d" providerId="AD" clId="Web-{7CBFA287-062D-43B1-9461-DFCC916BA035}" dt="2024-07-03T10:32:32.601" v="168" actId="20577"/>
          <ac:spMkLst>
            <pc:docMk/>
            <pc:sldMk cId="4031844245" sldId="270"/>
            <ac:spMk id="3" creationId="{A74DBFD9-490D-6D65-21E7-62FCC90B2B9C}"/>
          </ac:spMkLst>
        </pc:spChg>
      </pc:sldChg>
      <pc:sldChg chg="modSp add replId">
        <pc:chgData name="Srivastava, Nikunj" userId="S::nikunj.srivastav.exl@canopius.com::af2ef6ff-4c31-4cda-983e-c56cc9c3148d" providerId="AD" clId="Web-{7CBFA287-062D-43B1-9461-DFCC916BA035}" dt="2024-07-03T10:35:08.248" v="253" actId="20577"/>
        <pc:sldMkLst>
          <pc:docMk/>
          <pc:sldMk cId="4104340230" sldId="271"/>
        </pc:sldMkLst>
        <pc:spChg chg="mod">
          <ac:chgData name="Srivastava, Nikunj" userId="S::nikunj.srivastav.exl@canopius.com::af2ef6ff-4c31-4cda-983e-c56cc9c3148d" providerId="AD" clId="Web-{7CBFA287-062D-43B1-9461-DFCC916BA035}" dt="2024-07-03T10:33:23.134" v="190" actId="20577"/>
          <ac:spMkLst>
            <pc:docMk/>
            <pc:sldMk cId="4104340230" sldId="271"/>
            <ac:spMk id="2" creationId="{229A3CA8-361E-5BFA-57A9-D60CD29EBD49}"/>
          </ac:spMkLst>
        </pc:spChg>
        <pc:spChg chg="mod">
          <ac:chgData name="Srivastava, Nikunj" userId="S::nikunj.srivastav.exl@canopius.com::af2ef6ff-4c31-4cda-983e-c56cc9c3148d" providerId="AD" clId="Web-{7CBFA287-062D-43B1-9461-DFCC916BA035}" dt="2024-07-03T10:35:08.248" v="253" actId="20577"/>
          <ac:spMkLst>
            <pc:docMk/>
            <pc:sldMk cId="4104340230" sldId="271"/>
            <ac:spMk id="3" creationId="{A74DBFD9-490D-6D65-21E7-62FCC90B2B9C}"/>
          </ac:spMkLst>
        </pc:spChg>
      </pc:sldChg>
    </pc:docChg>
  </pc:docChgLst>
  <pc:docChgLst>
    <pc:chgData name="Singh, Sourav" userId="S::sourav.singh.exl@canopius.com::456e8924-07ad-48ce-89e0-f9974d35284b" providerId="AD" clId="Web-{3E4D24EB-A617-56D2-819D-37E2B23A55B6}"/>
    <pc:docChg chg="modSld">
      <pc:chgData name="Singh, Sourav" userId="S::sourav.singh.exl@canopius.com::456e8924-07ad-48ce-89e0-f9974d35284b" providerId="AD" clId="Web-{3E4D24EB-A617-56D2-819D-37E2B23A55B6}" dt="2024-07-03T13:52:20.190" v="211" actId="20577"/>
      <pc:docMkLst>
        <pc:docMk/>
      </pc:docMkLst>
      <pc:sldChg chg="modSp">
        <pc:chgData name="Singh, Sourav" userId="S::sourav.singh.exl@canopius.com::456e8924-07ad-48ce-89e0-f9974d35284b" providerId="AD" clId="Web-{3E4D24EB-A617-56D2-819D-37E2B23A55B6}" dt="2024-07-03T13:52:20.190" v="211" actId="20577"/>
        <pc:sldMkLst>
          <pc:docMk/>
          <pc:sldMk cId="423708456" sldId="262"/>
        </pc:sldMkLst>
        <pc:spChg chg="mod">
          <ac:chgData name="Singh, Sourav" userId="S::sourav.singh.exl@canopius.com::456e8924-07ad-48ce-89e0-f9974d35284b" providerId="AD" clId="Web-{3E4D24EB-A617-56D2-819D-37E2B23A55B6}" dt="2024-07-03T13:52:20.190" v="211" actId="20577"/>
          <ac:spMkLst>
            <pc:docMk/>
            <pc:sldMk cId="423708456" sldId="262"/>
            <ac:spMk id="3" creationId="{A74DBFD9-490D-6D65-21E7-62FCC90B2B9C}"/>
          </ac:spMkLst>
        </pc:spChg>
      </pc:sldChg>
    </pc:docChg>
  </pc:docChgLst>
  <pc:docChgLst>
    <pc:chgData name="Bracchi, Chris" userId="8f8271c7-27d6-4d29-88c4-951cf5dea723" providerId="ADAL" clId="{8B747F6E-88AE-4F7E-A3C7-BC8DE84173A3}"/>
    <pc:docChg chg="undo redo custSel modSld">
      <pc:chgData name="Bracchi, Chris" userId="8f8271c7-27d6-4d29-88c4-951cf5dea723" providerId="ADAL" clId="{8B747F6E-88AE-4F7E-A3C7-BC8DE84173A3}" dt="2024-07-16T13:16:40.299" v="881" actId="20577"/>
      <pc:docMkLst>
        <pc:docMk/>
      </pc:docMkLst>
      <pc:sldChg chg="addSp delSp modSp mod">
        <pc:chgData name="Bracchi, Chris" userId="8f8271c7-27d6-4d29-88c4-951cf5dea723" providerId="ADAL" clId="{8B747F6E-88AE-4F7E-A3C7-BC8DE84173A3}" dt="2024-07-16T13:16:40.299" v="881" actId="20577"/>
        <pc:sldMkLst>
          <pc:docMk/>
          <pc:sldMk cId="3614581935" sldId="274"/>
        </pc:sldMkLst>
        <pc:spChg chg="add del">
          <ac:chgData name="Bracchi, Chris" userId="8f8271c7-27d6-4d29-88c4-951cf5dea723" providerId="ADAL" clId="{8B747F6E-88AE-4F7E-A3C7-BC8DE84173A3}" dt="2024-07-16T13:14:34.763" v="793" actId="22"/>
          <ac:spMkLst>
            <pc:docMk/>
            <pc:sldMk cId="3614581935" sldId="274"/>
            <ac:spMk id="4" creationId="{1E3D44F6-F354-35FD-CCD0-BF24B2B39B40}"/>
          </ac:spMkLst>
        </pc:spChg>
        <pc:graphicFrameChg chg="add mod modGraphic">
          <ac:chgData name="Bracchi, Chris" userId="8f8271c7-27d6-4d29-88c4-951cf5dea723" providerId="ADAL" clId="{8B747F6E-88AE-4F7E-A3C7-BC8DE84173A3}" dt="2024-07-16T13:16:40.299" v="881" actId="20577"/>
          <ac:graphicFrameMkLst>
            <pc:docMk/>
            <pc:sldMk cId="3614581935" sldId="274"/>
            <ac:graphicFrameMk id="5" creationId="{E81C17E4-63B9-12FC-F632-8F4954D28FF3}"/>
          </ac:graphicFrameMkLst>
        </pc:graphicFrameChg>
        <pc:graphicFrameChg chg="mod modGraphic">
          <ac:chgData name="Bracchi, Chris" userId="8f8271c7-27d6-4d29-88c4-951cf5dea723" providerId="ADAL" clId="{8B747F6E-88AE-4F7E-A3C7-BC8DE84173A3}" dt="2024-07-16T13:15:47.749" v="862"/>
          <ac:graphicFrameMkLst>
            <pc:docMk/>
            <pc:sldMk cId="3614581935" sldId="274"/>
            <ac:graphicFrameMk id="7" creationId="{5F5F20F4-73E7-70DE-2603-ED14404E03CA}"/>
          </ac:graphicFrameMkLst>
        </pc:graphicFrameChg>
      </pc:sldChg>
    </pc:docChg>
  </pc:docChgLst>
  <pc:docChgLst>
    <pc:chgData name="Bracchi, Chris" userId="S::chris.bracchi.exl@canopius.com::8f8271c7-27d6-4d29-88c4-951cf5dea723" providerId="AD" clId="Web-{4A7766AB-DBCB-1DBC-6AB6-F12A79710BF2}"/>
    <pc:docChg chg="addSld modSld">
      <pc:chgData name="Bracchi, Chris" userId="S::chris.bracchi.exl@canopius.com::8f8271c7-27d6-4d29-88c4-951cf5dea723" providerId="AD" clId="Web-{4A7766AB-DBCB-1DBC-6AB6-F12A79710BF2}" dt="2024-07-04T15:19:09.888" v="172"/>
      <pc:docMkLst>
        <pc:docMk/>
      </pc:docMkLst>
      <pc:sldChg chg="modSp">
        <pc:chgData name="Bracchi, Chris" userId="S::chris.bracchi.exl@canopius.com::8f8271c7-27d6-4d29-88c4-951cf5dea723" providerId="AD" clId="Web-{4A7766AB-DBCB-1DBC-6AB6-F12A79710BF2}" dt="2024-07-04T15:15:11.850" v="11"/>
        <pc:sldMkLst>
          <pc:docMk/>
          <pc:sldMk cId="2784766971" sldId="268"/>
        </pc:sldMkLst>
        <pc:graphicFrameChg chg="mod modGraphic">
          <ac:chgData name="Bracchi, Chris" userId="S::chris.bracchi.exl@canopius.com::8f8271c7-27d6-4d29-88c4-951cf5dea723" providerId="AD" clId="Web-{4A7766AB-DBCB-1DBC-6AB6-F12A79710BF2}" dt="2024-07-04T15:15:11.850" v="11"/>
          <ac:graphicFrameMkLst>
            <pc:docMk/>
            <pc:sldMk cId="2784766971" sldId="268"/>
            <ac:graphicFrameMk id="4" creationId="{D5BD4C2D-B9E4-25F4-A920-72FBABD6028B}"/>
          </ac:graphicFrameMkLst>
        </pc:graphicFrameChg>
      </pc:sldChg>
      <pc:sldChg chg="addSp delSp modSp add replId">
        <pc:chgData name="Bracchi, Chris" userId="S::chris.bracchi.exl@canopius.com::8f8271c7-27d6-4d29-88c4-951cf5dea723" providerId="AD" clId="Web-{4A7766AB-DBCB-1DBC-6AB6-F12A79710BF2}" dt="2024-07-04T15:19:09.888" v="172"/>
        <pc:sldMkLst>
          <pc:docMk/>
          <pc:sldMk cId="1584490763" sldId="273"/>
        </pc:sldMkLst>
        <pc:graphicFrameChg chg="mod modGraphic">
          <ac:chgData name="Bracchi, Chris" userId="S::chris.bracchi.exl@canopius.com::8f8271c7-27d6-4d29-88c4-951cf5dea723" providerId="AD" clId="Web-{4A7766AB-DBCB-1DBC-6AB6-F12A79710BF2}" dt="2024-07-04T15:19:09.888" v="172"/>
          <ac:graphicFrameMkLst>
            <pc:docMk/>
            <pc:sldMk cId="1584490763" sldId="273"/>
            <ac:graphicFrameMk id="4" creationId="{D5BD4C2D-B9E4-25F4-A920-72FBABD6028B}"/>
          </ac:graphicFrameMkLst>
        </pc:graphicFrameChg>
        <pc:graphicFrameChg chg="add del mod">
          <ac:chgData name="Bracchi, Chris" userId="S::chris.bracchi.exl@canopius.com::8f8271c7-27d6-4d29-88c4-951cf5dea723" providerId="AD" clId="Web-{4A7766AB-DBCB-1DBC-6AB6-F12A79710BF2}" dt="2024-07-04T15:18:56.200" v="164"/>
          <ac:graphicFrameMkLst>
            <pc:docMk/>
            <pc:sldMk cId="1584490763" sldId="273"/>
            <ac:graphicFrameMk id="5" creationId="{A72E3E5C-C80C-0B02-0E8C-B3493CBE0A1D}"/>
          </ac:graphicFrameMkLst>
        </pc:graphicFrameChg>
        <pc:graphicFrameChg chg="add del mod">
          <ac:chgData name="Bracchi, Chris" userId="S::chris.bracchi.exl@canopius.com::8f8271c7-27d6-4d29-88c4-951cf5dea723" providerId="AD" clId="Web-{4A7766AB-DBCB-1DBC-6AB6-F12A79710BF2}" dt="2024-07-04T15:19:07.575" v="166"/>
          <ac:graphicFrameMkLst>
            <pc:docMk/>
            <pc:sldMk cId="1584490763" sldId="273"/>
            <ac:graphicFrameMk id="7" creationId="{B5FC2760-54C5-A672-AFEA-D426657C110E}"/>
          </ac:graphicFrameMkLst>
        </pc:graphicFrameChg>
      </pc:sldChg>
    </pc:docChg>
  </pc:docChgLst>
  <pc:docChgLst>
    <pc:chgData name="Srivastava, Nikunj" userId="S::nikunj.srivastav.exl@canopius.com::af2ef6ff-4c31-4cda-983e-c56cc9c3148d" providerId="AD" clId="Web-{24221056-DCC9-4A7A-BF5B-D63D56B2B188}"/>
    <pc:docChg chg="modSld">
      <pc:chgData name="Srivastava, Nikunj" userId="S::nikunj.srivastav.exl@canopius.com::af2ef6ff-4c31-4cda-983e-c56cc9c3148d" providerId="AD" clId="Web-{24221056-DCC9-4A7A-BF5B-D63D56B2B188}" dt="2024-07-03T12:58:42.554" v="11"/>
      <pc:docMkLst>
        <pc:docMk/>
      </pc:docMkLst>
      <pc:sldChg chg="modSp">
        <pc:chgData name="Srivastava, Nikunj" userId="S::nikunj.srivastav.exl@canopius.com::af2ef6ff-4c31-4cda-983e-c56cc9c3148d" providerId="AD" clId="Web-{24221056-DCC9-4A7A-BF5B-D63D56B2B188}" dt="2024-07-03T12:58:42.554" v="11"/>
        <pc:sldMkLst>
          <pc:docMk/>
          <pc:sldMk cId="2784766971" sldId="268"/>
        </pc:sldMkLst>
        <pc:graphicFrameChg chg="mod modGraphic">
          <ac:chgData name="Srivastava, Nikunj" userId="S::nikunj.srivastav.exl@canopius.com::af2ef6ff-4c31-4cda-983e-c56cc9c3148d" providerId="AD" clId="Web-{24221056-DCC9-4A7A-BF5B-D63D56B2B188}" dt="2024-07-03T12:58:42.554" v="11"/>
          <ac:graphicFrameMkLst>
            <pc:docMk/>
            <pc:sldMk cId="2784766971" sldId="268"/>
            <ac:graphicFrameMk id="4" creationId="{D5BD4C2D-B9E4-25F4-A920-72FBABD6028B}"/>
          </ac:graphicFrameMkLst>
        </pc:graphicFrameChg>
      </pc:sldChg>
    </pc:docChg>
  </pc:docChgLst>
  <pc:docChgLst>
    <pc:chgData name="Srivastava, Nikunj" userId="S::nikunj.srivastav.exl@canopius.com::af2ef6ff-4c31-4cda-983e-c56cc9c3148d" providerId="AD" clId="Web-{2B20A398-F986-4C7E-B3EB-C2CB3BE0983B}"/>
    <pc:docChg chg="modSld">
      <pc:chgData name="Srivastava, Nikunj" userId="S::nikunj.srivastav.exl@canopius.com::af2ef6ff-4c31-4cda-983e-c56cc9c3148d" providerId="AD" clId="Web-{2B20A398-F986-4C7E-B3EB-C2CB3BE0983B}" dt="2024-07-03T11:49:36.129" v="52" actId="20577"/>
      <pc:docMkLst>
        <pc:docMk/>
      </pc:docMkLst>
      <pc:sldChg chg="modSp">
        <pc:chgData name="Srivastava, Nikunj" userId="S::nikunj.srivastav.exl@canopius.com::af2ef6ff-4c31-4cda-983e-c56cc9c3148d" providerId="AD" clId="Web-{2B20A398-F986-4C7E-B3EB-C2CB3BE0983B}" dt="2024-07-03T11:49:04.299" v="44" actId="20577"/>
        <pc:sldMkLst>
          <pc:docMk/>
          <pc:sldMk cId="2918436866" sldId="263"/>
        </pc:sldMkLst>
        <pc:spChg chg="mod">
          <ac:chgData name="Srivastava, Nikunj" userId="S::nikunj.srivastav.exl@canopius.com::af2ef6ff-4c31-4cda-983e-c56cc9c3148d" providerId="AD" clId="Web-{2B20A398-F986-4C7E-B3EB-C2CB3BE0983B}" dt="2024-07-03T11:49:04.299" v="44" actId="20577"/>
          <ac:spMkLst>
            <pc:docMk/>
            <pc:sldMk cId="2918436866" sldId="263"/>
            <ac:spMk id="3" creationId="{A74DBFD9-490D-6D65-21E7-62FCC90B2B9C}"/>
          </ac:spMkLst>
        </pc:spChg>
      </pc:sldChg>
      <pc:sldChg chg="modSp">
        <pc:chgData name="Srivastava, Nikunj" userId="S::nikunj.srivastav.exl@canopius.com::af2ef6ff-4c31-4cda-983e-c56cc9c3148d" providerId="AD" clId="Web-{2B20A398-F986-4C7E-B3EB-C2CB3BE0983B}" dt="2024-07-03T11:49:36.129" v="52" actId="20577"/>
        <pc:sldMkLst>
          <pc:docMk/>
          <pc:sldMk cId="1779332315" sldId="264"/>
        </pc:sldMkLst>
        <pc:spChg chg="mod">
          <ac:chgData name="Srivastava, Nikunj" userId="S::nikunj.srivastav.exl@canopius.com::af2ef6ff-4c31-4cda-983e-c56cc9c3148d" providerId="AD" clId="Web-{2B20A398-F986-4C7E-B3EB-C2CB3BE0983B}" dt="2024-07-03T11:49:36.129" v="52" actId="20577"/>
          <ac:spMkLst>
            <pc:docMk/>
            <pc:sldMk cId="1779332315" sldId="264"/>
            <ac:spMk id="3" creationId="{A74DBFD9-490D-6D65-21E7-62FCC90B2B9C}"/>
          </ac:spMkLst>
        </pc:spChg>
      </pc:sldChg>
      <pc:sldChg chg="modSp">
        <pc:chgData name="Srivastava, Nikunj" userId="S::nikunj.srivastav.exl@canopius.com::af2ef6ff-4c31-4cda-983e-c56cc9c3148d" providerId="AD" clId="Web-{2B20A398-F986-4C7E-B3EB-C2CB3BE0983B}" dt="2024-07-03T11:49:26.191" v="48" actId="20577"/>
        <pc:sldMkLst>
          <pc:docMk/>
          <pc:sldMk cId="3142259494" sldId="265"/>
        </pc:sldMkLst>
        <pc:spChg chg="mod">
          <ac:chgData name="Srivastava, Nikunj" userId="S::nikunj.srivastav.exl@canopius.com::af2ef6ff-4c31-4cda-983e-c56cc9c3148d" providerId="AD" clId="Web-{2B20A398-F986-4C7E-B3EB-C2CB3BE0983B}" dt="2024-07-03T11:49:26.191" v="48" actId="20577"/>
          <ac:spMkLst>
            <pc:docMk/>
            <pc:sldMk cId="3142259494" sldId="265"/>
            <ac:spMk id="3" creationId="{A74DBFD9-490D-6D65-21E7-62FCC90B2B9C}"/>
          </ac:spMkLst>
        </pc:spChg>
      </pc:sldChg>
    </pc:docChg>
  </pc:docChgLst>
  <pc:docChgLst>
    <pc:chgData name="Karunananthan, Kokulakanthan" userId="S::kokul.karunananthan@canopius.com::da57318b-2dd8-4ba2-b986-0ab7034c79f9" providerId="AD" clId="Web-{C45487E4-A1A1-84A3-EB96-FB7741EFFE65}"/>
    <pc:docChg chg="modSld">
      <pc:chgData name="Karunananthan, Kokulakanthan" userId="S::kokul.karunananthan@canopius.com::da57318b-2dd8-4ba2-b986-0ab7034c79f9" providerId="AD" clId="Web-{C45487E4-A1A1-84A3-EB96-FB7741EFFE65}" dt="2024-07-04T14:18:28.546" v="41" actId="20577"/>
      <pc:docMkLst>
        <pc:docMk/>
      </pc:docMkLst>
      <pc:sldChg chg="modSp">
        <pc:chgData name="Karunananthan, Kokulakanthan" userId="S::kokul.karunananthan@canopius.com::da57318b-2dd8-4ba2-b986-0ab7034c79f9" providerId="AD" clId="Web-{C45487E4-A1A1-84A3-EB96-FB7741EFFE65}" dt="2024-07-04T14:18:28.546" v="41" actId="20577"/>
        <pc:sldMkLst>
          <pc:docMk/>
          <pc:sldMk cId="1779332315" sldId="264"/>
        </pc:sldMkLst>
        <pc:spChg chg="mod">
          <ac:chgData name="Karunananthan, Kokulakanthan" userId="S::kokul.karunananthan@canopius.com::da57318b-2dd8-4ba2-b986-0ab7034c79f9" providerId="AD" clId="Web-{C45487E4-A1A1-84A3-EB96-FB7741EFFE65}" dt="2024-07-04T14:18:28.546" v="41" actId="20577"/>
          <ac:spMkLst>
            <pc:docMk/>
            <pc:sldMk cId="1779332315" sldId="264"/>
            <ac:spMk id="3" creationId="{A74DBFD9-490D-6D65-21E7-62FCC90B2B9C}"/>
          </ac:spMkLst>
        </pc:spChg>
      </pc:sldChg>
      <pc:sldChg chg="modSp">
        <pc:chgData name="Karunananthan, Kokulakanthan" userId="S::kokul.karunananthan@canopius.com::da57318b-2dd8-4ba2-b986-0ab7034c79f9" providerId="AD" clId="Web-{C45487E4-A1A1-84A3-EB96-FB7741EFFE65}" dt="2024-07-04T14:18:04.468" v="38"/>
        <pc:sldMkLst>
          <pc:docMk/>
          <pc:sldMk cId="2784766971" sldId="268"/>
        </pc:sldMkLst>
        <pc:graphicFrameChg chg="mod modGraphic">
          <ac:chgData name="Karunananthan, Kokulakanthan" userId="S::kokul.karunananthan@canopius.com::da57318b-2dd8-4ba2-b986-0ab7034c79f9" providerId="AD" clId="Web-{C45487E4-A1A1-84A3-EB96-FB7741EFFE65}" dt="2024-07-04T14:18:04.468" v="38"/>
          <ac:graphicFrameMkLst>
            <pc:docMk/>
            <pc:sldMk cId="2784766971" sldId="268"/>
            <ac:graphicFrameMk id="4" creationId="{D5BD4C2D-B9E4-25F4-A920-72FBABD6028B}"/>
          </ac:graphicFrameMkLst>
        </pc:graphicFrameChg>
      </pc:sldChg>
    </pc:docChg>
  </pc:docChgLst>
  <pc:docChgLst>
    <pc:chgData name="Srivastava, Nikunj" userId="S::nikunj.srivastav.exl@canopius.com::af2ef6ff-4c31-4cda-983e-c56cc9c3148d" providerId="AD" clId="Web-{C15384CD-38EE-42F3-9EF7-25AFD5DF8E9E}"/>
    <pc:docChg chg="addSld modSld">
      <pc:chgData name="Srivastava, Nikunj" userId="S::nikunj.srivastav.exl@canopius.com::af2ef6ff-4c31-4cda-983e-c56cc9c3148d" providerId="AD" clId="Web-{C15384CD-38EE-42F3-9EF7-25AFD5DF8E9E}" dt="2024-07-11T09:45:13.229" v="1726"/>
      <pc:docMkLst>
        <pc:docMk/>
      </pc:docMkLst>
      <pc:sldChg chg="addSp delSp modSp add replId">
        <pc:chgData name="Srivastava, Nikunj" userId="S::nikunj.srivastav.exl@canopius.com::af2ef6ff-4c31-4cda-983e-c56cc9c3148d" providerId="AD" clId="Web-{C15384CD-38EE-42F3-9EF7-25AFD5DF8E9E}" dt="2024-07-11T09:45:13.229" v="1726"/>
        <pc:sldMkLst>
          <pc:docMk/>
          <pc:sldMk cId="3614581935" sldId="274"/>
        </pc:sldMkLst>
        <pc:spChg chg="mod">
          <ac:chgData name="Srivastava, Nikunj" userId="S::nikunj.srivastav.exl@canopius.com::af2ef6ff-4c31-4cda-983e-c56cc9c3148d" providerId="AD" clId="Web-{C15384CD-38EE-42F3-9EF7-25AFD5DF8E9E}" dt="2024-07-11T09:44:49.712" v="1717" actId="1076"/>
          <ac:spMkLst>
            <pc:docMk/>
            <pc:sldMk cId="3614581935" sldId="274"/>
            <ac:spMk id="2" creationId="{229A3CA8-361E-5BFA-57A9-D60CD29EBD49}"/>
          </ac:spMkLst>
        </pc:spChg>
        <pc:spChg chg="del">
          <ac:chgData name="Srivastava, Nikunj" userId="S::nikunj.srivastav.exl@canopius.com::af2ef6ff-4c31-4cda-983e-c56cc9c3148d" providerId="AD" clId="Web-{C15384CD-38EE-42F3-9EF7-25AFD5DF8E9E}" dt="2024-07-11T09:04:12.579" v="5"/>
          <ac:spMkLst>
            <pc:docMk/>
            <pc:sldMk cId="3614581935" sldId="274"/>
            <ac:spMk id="3" creationId="{A74DBFD9-490D-6D65-21E7-62FCC90B2B9C}"/>
          </ac:spMkLst>
        </pc:spChg>
        <pc:spChg chg="add del mod">
          <ac:chgData name="Srivastava, Nikunj" userId="S::nikunj.srivastav.exl@canopius.com::af2ef6ff-4c31-4cda-983e-c56cc9c3148d" providerId="AD" clId="Web-{C15384CD-38EE-42F3-9EF7-25AFD5DF8E9E}" dt="2024-07-11T09:04:51.596" v="10"/>
          <ac:spMkLst>
            <pc:docMk/>
            <pc:sldMk cId="3614581935" sldId="274"/>
            <ac:spMk id="5" creationId="{25F9866F-7AF3-39EF-5BDB-2DF77C8F75B8}"/>
          </ac:spMkLst>
        </pc:spChg>
        <pc:graphicFrameChg chg="add mod modGraphic">
          <ac:chgData name="Srivastava, Nikunj" userId="S::nikunj.srivastav.exl@canopius.com::af2ef6ff-4c31-4cda-983e-c56cc9c3148d" providerId="AD" clId="Web-{C15384CD-38EE-42F3-9EF7-25AFD5DF8E9E}" dt="2024-07-11T09:45:13.229" v="1726"/>
          <ac:graphicFrameMkLst>
            <pc:docMk/>
            <pc:sldMk cId="3614581935" sldId="274"/>
            <ac:graphicFrameMk id="7" creationId="{5F5F20F4-73E7-70DE-2603-ED14404E03CA}"/>
          </ac:graphicFrameMkLst>
        </pc:graphicFrameChg>
      </pc:sldChg>
    </pc:docChg>
  </pc:docChgLst>
  <pc:docChgLst>
    <pc:chgData name="Karunananthan, Kokulakanthan" userId="S::kokul.karunananthan@canopius.com::da57318b-2dd8-4ba2-b986-0ab7034c79f9" providerId="AD" clId="Web-{461CEF52-6D61-544E-705C-83BE0F6A7597}"/>
    <pc:docChg chg="modSld">
      <pc:chgData name="Karunananthan, Kokulakanthan" userId="S::kokul.karunananthan@canopius.com::da57318b-2dd8-4ba2-b986-0ab7034c79f9" providerId="AD" clId="Web-{461CEF52-6D61-544E-705C-83BE0F6A7597}" dt="2024-07-03T11:13:53.039" v="271" actId="20577"/>
      <pc:docMkLst>
        <pc:docMk/>
      </pc:docMkLst>
      <pc:sldChg chg="modSp">
        <pc:chgData name="Karunananthan, Kokulakanthan" userId="S::kokul.karunananthan@canopius.com::da57318b-2dd8-4ba2-b986-0ab7034c79f9" providerId="AD" clId="Web-{461CEF52-6D61-544E-705C-83BE0F6A7597}" dt="2024-07-03T11:13:53.039" v="271" actId="20577"/>
        <pc:sldMkLst>
          <pc:docMk/>
          <pc:sldMk cId="1779332315" sldId="264"/>
        </pc:sldMkLst>
        <pc:spChg chg="mod">
          <ac:chgData name="Karunananthan, Kokulakanthan" userId="S::kokul.karunananthan@canopius.com::da57318b-2dd8-4ba2-b986-0ab7034c79f9" providerId="AD" clId="Web-{461CEF52-6D61-544E-705C-83BE0F6A7597}" dt="2024-07-03T11:13:53.039" v="271" actId="20577"/>
          <ac:spMkLst>
            <pc:docMk/>
            <pc:sldMk cId="1779332315" sldId="264"/>
            <ac:spMk id="3" creationId="{A74DBFD9-490D-6D65-21E7-62FCC90B2B9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E394C-0F96-E31B-DF46-3054AF5DE60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4AD912A-ED7D-D892-DD30-A35E7CCE71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48AE803-9B6D-5E7F-3093-264A964BB736}"/>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5" name="Footer Placeholder 4">
            <a:extLst>
              <a:ext uri="{FF2B5EF4-FFF2-40B4-BE49-F238E27FC236}">
                <a16:creationId xmlns:a16="http://schemas.microsoft.com/office/drawing/2014/main" id="{BCEC580B-121C-3615-08EF-28101D5A5D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C03740-F068-B151-3F64-34170C4DA7CE}"/>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1106162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4204B-A017-C9A8-F292-234A9703B81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20C4A60-6790-D648-8C66-226D9B81B7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D328F8A-862C-8C11-A4AC-08F5F1A71B25}"/>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5" name="Footer Placeholder 4">
            <a:extLst>
              <a:ext uri="{FF2B5EF4-FFF2-40B4-BE49-F238E27FC236}">
                <a16:creationId xmlns:a16="http://schemas.microsoft.com/office/drawing/2014/main" id="{86358866-D582-C98C-FF17-B063E93402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DCD56FC-5935-42BF-194E-898672D4ECC4}"/>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1761456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4712F-B042-8C23-2EB0-37809431B4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5B44200-74ED-CB5C-9322-E314E5F4BE2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9F4DBC-4A37-BC64-78D7-4A6173D52D93}"/>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5" name="Footer Placeholder 4">
            <a:extLst>
              <a:ext uri="{FF2B5EF4-FFF2-40B4-BE49-F238E27FC236}">
                <a16:creationId xmlns:a16="http://schemas.microsoft.com/office/drawing/2014/main" id="{CA38C98A-D229-3284-BED4-B748728977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DAF653-D13D-1626-CA77-239436C01B1D}"/>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114133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F17C9-EB4E-ACBF-8C3F-BA59F64108E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FE2B23C-CD52-C1DB-7AEC-4E8E21B2C55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E136EF3-3901-106D-84FD-CEB5127B58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A6847C2-94E7-BDEA-0B03-0A9ABB56F13E}"/>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6" name="Footer Placeholder 5">
            <a:extLst>
              <a:ext uri="{FF2B5EF4-FFF2-40B4-BE49-F238E27FC236}">
                <a16:creationId xmlns:a16="http://schemas.microsoft.com/office/drawing/2014/main" id="{BFE7F2D8-D4B7-1941-2B4D-E0AA153F175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4D8E0CF-6289-AD34-7202-D96FACC41D40}"/>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3425138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F580A-6BD4-25FE-9B47-A7642B7F95DA}"/>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D3145B6-84C1-5FFD-E836-E12B5EA8AA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5BCF9D-B260-0101-F8E4-993344EE25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DD965FE-526F-FA66-374B-D75D604A1F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75D15A-A581-AB62-90DC-C2E55C50C7D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35FD73D-38D3-2902-6D1A-951E8E82D8BD}"/>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8" name="Footer Placeholder 7">
            <a:extLst>
              <a:ext uri="{FF2B5EF4-FFF2-40B4-BE49-F238E27FC236}">
                <a16:creationId xmlns:a16="http://schemas.microsoft.com/office/drawing/2014/main" id="{CD384184-FE62-88F9-FB99-91DF464D693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2CAF4FB-BF07-F7D2-816C-C214B3F79806}"/>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26478832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D4CBF-70C6-DA4C-9B06-C3B365442B6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2E504D6-2789-C2E5-89D5-6F611EE696E1}"/>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4" name="Footer Placeholder 3">
            <a:extLst>
              <a:ext uri="{FF2B5EF4-FFF2-40B4-BE49-F238E27FC236}">
                <a16:creationId xmlns:a16="http://schemas.microsoft.com/office/drawing/2014/main" id="{0C5B9EDD-E084-E933-76DC-A1E185720CB0}"/>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E95083F-8386-430B-3708-38716F821F20}"/>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3360651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DEB756-8E20-4220-9584-B4338C9F18F9}"/>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3" name="Footer Placeholder 2">
            <a:extLst>
              <a:ext uri="{FF2B5EF4-FFF2-40B4-BE49-F238E27FC236}">
                <a16:creationId xmlns:a16="http://schemas.microsoft.com/office/drawing/2014/main" id="{E67EC48A-CF08-F4F7-991E-DB36D3EF8A5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5BC1073-10AB-C4B2-B869-C6B3794ECB80}"/>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21876642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103A9-956F-081D-EA40-35AA3C2D9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738B13D-2FE2-483B-3D7C-06BFE5E45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535AF71-07E8-1DF4-6002-8F55CB50C6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EE7330-38A0-1847-BB43-41A3DC3D7B1E}"/>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6" name="Footer Placeholder 5">
            <a:extLst>
              <a:ext uri="{FF2B5EF4-FFF2-40B4-BE49-F238E27FC236}">
                <a16:creationId xmlns:a16="http://schemas.microsoft.com/office/drawing/2014/main" id="{F2B42CE7-62DB-2494-D4B0-208CF364408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391B490-CD55-DC42-5D74-6A884A11F246}"/>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3304254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71B8-3EA3-093A-2925-411D78FA3D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2C021AF-B86F-2C31-E543-BA318B0986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78F88A3-9365-AA51-5ECD-E43A2EE0E4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F2FF67-400A-80B6-0940-EC18E59242C6}"/>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6" name="Footer Placeholder 5">
            <a:extLst>
              <a:ext uri="{FF2B5EF4-FFF2-40B4-BE49-F238E27FC236}">
                <a16:creationId xmlns:a16="http://schemas.microsoft.com/office/drawing/2014/main" id="{8C3C0164-B2D4-2CD4-3E4F-689AE3F3616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46B9B95-1FFE-3D85-05B6-C59402D1D27E}"/>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2187335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C21E0-B4B3-A852-E05A-5D0BE906EF8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57FFAE1-99F1-F14D-36DA-97CDC8FFB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8D73F0-6839-CDE0-66CA-FA1335A62061}"/>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5" name="Footer Placeholder 4">
            <a:extLst>
              <a:ext uri="{FF2B5EF4-FFF2-40B4-BE49-F238E27FC236}">
                <a16:creationId xmlns:a16="http://schemas.microsoft.com/office/drawing/2014/main" id="{F2A4A194-3AA1-2115-2671-F3AC6171E5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A8EC47-A7A9-CB57-8EFD-F891510A5622}"/>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748076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BEBC76-A362-B098-0875-395230391BA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74658A2-CD42-F16F-6F7D-D8FFA42F1D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967291-8F0C-6714-7F52-A08FD9A8AD20}"/>
              </a:ext>
            </a:extLst>
          </p:cNvPr>
          <p:cNvSpPr>
            <a:spLocks noGrp="1"/>
          </p:cNvSpPr>
          <p:nvPr>
            <p:ph type="dt" sz="half" idx="10"/>
          </p:nvPr>
        </p:nvSpPr>
        <p:spPr/>
        <p:txBody>
          <a:bodyPr/>
          <a:lstStyle/>
          <a:p>
            <a:fld id="{9D1E7749-1140-48F5-ABBB-4BAAAA52A32C}" type="datetimeFigureOut">
              <a:rPr lang="en-GB" smtClean="0"/>
              <a:t>11/07/2024</a:t>
            </a:fld>
            <a:endParaRPr lang="en-GB"/>
          </a:p>
        </p:txBody>
      </p:sp>
      <p:sp>
        <p:nvSpPr>
          <p:cNvPr id="5" name="Footer Placeholder 4">
            <a:extLst>
              <a:ext uri="{FF2B5EF4-FFF2-40B4-BE49-F238E27FC236}">
                <a16:creationId xmlns:a16="http://schemas.microsoft.com/office/drawing/2014/main" id="{4C404CF4-1CDC-964D-0D7E-7E4A04B0E75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B9EAB47-1B4D-740A-45E8-324B112CF2DE}"/>
              </a:ext>
            </a:extLst>
          </p:cNvPr>
          <p:cNvSpPr>
            <a:spLocks noGrp="1"/>
          </p:cNvSpPr>
          <p:nvPr>
            <p:ph type="sldNum" sz="quarter" idx="12"/>
          </p:nvPr>
        </p:nvSpPr>
        <p:spPr/>
        <p:txBody>
          <a:bodyPr/>
          <a:lstStyle/>
          <a:p>
            <a:fld id="{744C518F-8AB4-4C5E-88D4-8CAE27974ED0}" type="slidenum">
              <a:rPr lang="en-GB" smtClean="0"/>
              <a:t>‹#›</a:t>
            </a:fld>
            <a:endParaRPr lang="en-GB"/>
          </a:p>
        </p:txBody>
      </p:sp>
    </p:spTree>
    <p:extLst>
      <p:ext uri="{BB962C8B-B14F-4D97-AF65-F5344CB8AC3E}">
        <p14:creationId xmlns:p14="http://schemas.microsoft.com/office/powerpoint/2010/main" val="2243169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99A36C-13E7-D54B-435A-92A115D056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EC36E6E-9189-A54A-D294-1CA9E1FCCD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D69039-3D3D-2DCA-3260-53C1A370AE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1E7749-1140-48F5-ABBB-4BAAAA52A32C}" type="datetimeFigureOut">
              <a:rPr lang="en-GB" smtClean="0"/>
              <a:t>11/07/2024</a:t>
            </a:fld>
            <a:endParaRPr lang="en-GB"/>
          </a:p>
        </p:txBody>
      </p:sp>
      <p:sp>
        <p:nvSpPr>
          <p:cNvPr id="5" name="Footer Placeholder 4">
            <a:extLst>
              <a:ext uri="{FF2B5EF4-FFF2-40B4-BE49-F238E27FC236}">
                <a16:creationId xmlns:a16="http://schemas.microsoft.com/office/drawing/2014/main" id="{EAFD8C7C-ABD0-0EDC-4B45-FE62D6B35F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19D27F6D-4CC3-6A4E-BDB7-3F6F4E5209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4C518F-8AB4-4C5E-88D4-8CAE27974ED0}" type="slidenum">
              <a:rPr lang="en-GB" smtClean="0"/>
              <a:t>‹#›</a:t>
            </a:fld>
            <a:endParaRPr lang="en-GB"/>
          </a:p>
        </p:txBody>
      </p:sp>
    </p:spTree>
    <p:extLst>
      <p:ext uri="{BB962C8B-B14F-4D97-AF65-F5344CB8AC3E}">
        <p14:creationId xmlns:p14="http://schemas.microsoft.com/office/powerpoint/2010/main" val="1261108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A5FEA-79C3-F8B6-A319-D7257CC0B67B}"/>
              </a:ext>
            </a:extLst>
          </p:cNvPr>
          <p:cNvSpPr>
            <a:spLocks noGrp="1"/>
          </p:cNvSpPr>
          <p:nvPr>
            <p:ph type="ctrTitle"/>
          </p:nvPr>
        </p:nvSpPr>
        <p:spPr/>
        <p:txBody>
          <a:bodyPr/>
          <a:lstStyle/>
          <a:p>
            <a:r>
              <a:rPr lang="en-GB"/>
              <a:t>Synapse -&gt; Databricks Migration</a:t>
            </a:r>
          </a:p>
        </p:txBody>
      </p:sp>
      <p:sp>
        <p:nvSpPr>
          <p:cNvPr id="3" name="Subtitle 2">
            <a:extLst>
              <a:ext uri="{FF2B5EF4-FFF2-40B4-BE49-F238E27FC236}">
                <a16:creationId xmlns:a16="http://schemas.microsoft.com/office/drawing/2014/main" id="{7FC4B905-0519-540D-5294-C3FE0926C096}"/>
              </a:ext>
            </a:extLst>
          </p:cNvPr>
          <p:cNvSpPr>
            <a:spLocks noGrp="1"/>
          </p:cNvSpPr>
          <p:nvPr>
            <p:ph type="subTitle" idx="1"/>
          </p:nvPr>
        </p:nvSpPr>
        <p:spPr/>
        <p:txBody>
          <a:bodyPr/>
          <a:lstStyle/>
          <a:p>
            <a:r>
              <a:rPr lang="en-GB"/>
              <a:t>VERY ROUGH DRAFT</a:t>
            </a:r>
          </a:p>
        </p:txBody>
      </p:sp>
    </p:spTree>
    <p:extLst>
      <p:ext uri="{BB962C8B-B14F-4D97-AF65-F5344CB8AC3E}">
        <p14:creationId xmlns:p14="http://schemas.microsoft.com/office/powerpoint/2010/main" val="1286632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0182AF5F-D713-85BA-D170-4D8795D3E83C}"/>
              </a:ext>
            </a:extLst>
          </p:cNvPr>
          <p:cNvSpPr/>
          <p:nvPr/>
        </p:nvSpPr>
        <p:spPr>
          <a:xfrm>
            <a:off x="10985157" y="3959172"/>
            <a:ext cx="1023963" cy="59965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50">
                <a:solidFill>
                  <a:schemeClr val="tx1"/>
                </a:solidFill>
              </a:rPr>
              <a:t>Testing Completed</a:t>
            </a:r>
          </a:p>
        </p:txBody>
      </p:sp>
      <p:sp>
        <p:nvSpPr>
          <p:cNvPr id="35" name="Rectangle 34">
            <a:extLst>
              <a:ext uri="{FF2B5EF4-FFF2-40B4-BE49-F238E27FC236}">
                <a16:creationId xmlns:a16="http://schemas.microsoft.com/office/drawing/2014/main" id="{F4AE6144-00F2-3FD6-89C5-A3473C9BECC8}"/>
              </a:ext>
            </a:extLst>
          </p:cNvPr>
          <p:cNvSpPr/>
          <p:nvPr/>
        </p:nvSpPr>
        <p:spPr>
          <a:xfrm>
            <a:off x="9469392" y="3350658"/>
            <a:ext cx="2539728" cy="59965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00">
                <a:solidFill>
                  <a:schemeClr val="tx1"/>
                </a:solidFill>
              </a:rPr>
              <a:t>Framework changes completed</a:t>
            </a:r>
          </a:p>
          <a:p>
            <a:pPr marL="171450" indent="-171450">
              <a:buFont typeface="Arial" panose="020B0604020202020204" pitchFamily="34" charset="0"/>
              <a:buChar char="•"/>
            </a:pPr>
            <a:r>
              <a:rPr lang="en-GB" sz="1000">
                <a:solidFill>
                  <a:schemeClr val="tx1"/>
                </a:solidFill>
              </a:rPr>
              <a:t>Calls to databricks objects implemented in metadata</a:t>
            </a:r>
          </a:p>
          <a:p>
            <a:pPr marL="171450" indent="-171450">
              <a:buFont typeface="Arial" panose="020B0604020202020204" pitchFamily="34" charset="0"/>
              <a:buChar char="•"/>
            </a:pPr>
            <a:r>
              <a:rPr lang="en-GB" sz="1000">
                <a:solidFill>
                  <a:schemeClr val="tx1"/>
                </a:solidFill>
              </a:rPr>
              <a:t>Remove layers – staging, external parquet</a:t>
            </a:r>
          </a:p>
        </p:txBody>
      </p:sp>
      <p:sp>
        <p:nvSpPr>
          <p:cNvPr id="34" name="Rectangle 33">
            <a:extLst>
              <a:ext uri="{FF2B5EF4-FFF2-40B4-BE49-F238E27FC236}">
                <a16:creationId xmlns:a16="http://schemas.microsoft.com/office/drawing/2014/main" id="{E9B78C29-354C-586E-94B1-173611830025}"/>
              </a:ext>
            </a:extLst>
          </p:cNvPr>
          <p:cNvSpPr/>
          <p:nvPr/>
        </p:nvSpPr>
        <p:spPr>
          <a:xfrm>
            <a:off x="9469392" y="2751968"/>
            <a:ext cx="2539728" cy="59965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50">
                <a:solidFill>
                  <a:schemeClr val="tx1"/>
                </a:solidFill>
              </a:rPr>
              <a:t>Reporting views transformed into databricks SQL</a:t>
            </a:r>
          </a:p>
        </p:txBody>
      </p:sp>
      <p:sp>
        <p:nvSpPr>
          <p:cNvPr id="26" name="Rectangle 25">
            <a:extLst>
              <a:ext uri="{FF2B5EF4-FFF2-40B4-BE49-F238E27FC236}">
                <a16:creationId xmlns:a16="http://schemas.microsoft.com/office/drawing/2014/main" id="{373B3D71-264A-D4FC-2F29-3FD22CCB8AE7}"/>
              </a:ext>
            </a:extLst>
          </p:cNvPr>
          <p:cNvSpPr/>
          <p:nvPr/>
        </p:nvSpPr>
        <p:spPr>
          <a:xfrm>
            <a:off x="9469392" y="2148362"/>
            <a:ext cx="2539728" cy="59965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50">
                <a:solidFill>
                  <a:schemeClr val="tx1"/>
                </a:solidFill>
              </a:rPr>
              <a:t>Dims, bridges and facts transformed into databricks SQL</a:t>
            </a:r>
          </a:p>
          <a:p>
            <a:pPr marL="171450" indent="-171450">
              <a:buFont typeface="Arial" panose="020B0604020202020204" pitchFamily="34" charset="0"/>
              <a:buChar char="•"/>
            </a:pPr>
            <a:endParaRPr lang="en-GB" sz="1050">
              <a:solidFill>
                <a:schemeClr val="tx1"/>
              </a:solidFill>
            </a:endParaRPr>
          </a:p>
        </p:txBody>
      </p:sp>
      <p:sp>
        <p:nvSpPr>
          <p:cNvPr id="8" name="Rectangle 7">
            <a:extLst>
              <a:ext uri="{FF2B5EF4-FFF2-40B4-BE49-F238E27FC236}">
                <a16:creationId xmlns:a16="http://schemas.microsoft.com/office/drawing/2014/main" id="{B6D28E75-8A0F-8F06-6A4D-C7FF8540CA1B}"/>
              </a:ext>
            </a:extLst>
          </p:cNvPr>
          <p:cNvSpPr/>
          <p:nvPr/>
        </p:nvSpPr>
        <p:spPr>
          <a:xfrm>
            <a:off x="48768" y="713507"/>
            <a:ext cx="2377441" cy="835207"/>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50">
                <a:solidFill>
                  <a:schemeClr val="tx1"/>
                </a:solidFill>
              </a:rPr>
              <a:t>Candidate dim, bridge and phase B fact and </a:t>
            </a:r>
            <a:r>
              <a:rPr lang="en-GB" sz="1050" err="1">
                <a:solidFill>
                  <a:schemeClr val="tx1"/>
                </a:solidFill>
              </a:rPr>
              <a:t>bdx</a:t>
            </a:r>
            <a:r>
              <a:rPr lang="en-GB" sz="1050">
                <a:solidFill>
                  <a:schemeClr val="tx1"/>
                </a:solidFill>
              </a:rPr>
              <a:t> fact for PoC</a:t>
            </a:r>
          </a:p>
          <a:p>
            <a:pPr marL="171450" indent="-171450">
              <a:buFont typeface="Arial" panose="020B0604020202020204" pitchFamily="34" charset="0"/>
              <a:buChar char="•"/>
            </a:pPr>
            <a:r>
              <a:rPr lang="en-GB" sz="1050">
                <a:solidFill>
                  <a:schemeClr val="tx1"/>
                </a:solidFill>
              </a:rPr>
              <a:t>Options for Power BI access (views/materialized/clusters)</a:t>
            </a:r>
          </a:p>
          <a:p>
            <a:pPr marL="171450" indent="-171450">
              <a:buFont typeface="Arial" panose="020B0604020202020204" pitchFamily="34" charset="0"/>
              <a:buChar char="•"/>
            </a:pPr>
            <a:r>
              <a:rPr lang="en-GB" sz="1050">
                <a:solidFill>
                  <a:schemeClr val="tx1"/>
                </a:solidFill>
              </a:rPr>
              <a:t>Static table loading</a:t>
            </a:r>
          </a:p>
        </p:txBody>
      </p:sp>
      <p:sp>
        <p:nvSpPr>
          <p:cNvPr id="6" name="Rectangle 5">
            <a:extLst>
              <a:ext uri="{FF2B5EF4-FFF2-40B4-BE49-F238E27FC236}">
                <a16:creationId xmlns:a16="http://schemas.microsoft.com/office/drawing/2014/main" id="{EEF8A76B-9456-F3A1-D5F4-957F3EE01174}"/>
              </a:ext>
            </a:extLst>
          </p:cNvPr>
          <p:cNvSpPr/>
          <p:nvPr/>
        </p:nvSpPr>
        <p:spPr>
          <a:xfrm>
            <a:off x="3541776" y="713509"/>
            <a:ext cx="3789898" cy="835206"/>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50">
                <a:solidFill>
                  <a:schemeClr val="tx1"/>
                </a:solidFill>
              </a:rPr>
              <a:t>Understood candidate pattern for dim, bridge and fact databricks implementation – partitioning, clustering, liquid clustering</a:t>
            </a:r>
          </a:p>
          <a:p>
            <a:pPr marL="171450" indent="-171450">
              <a:buFont typeface="Arial" panose="020B0604020202020204" pitchFamily="34" charset="0"/>
              <a:buChar char="•"/>
            </a:pPr>
            <a:r>
              <a:rPr lang="en-GB" sz="1050">
                <a:solidFill>
                  <a:schemeClr val="tx1"/>
                </a:solidFill>
              </a:rPr>
              <a:t>Additional consideration for </a:t>
            </a:r>
            <a:r>
              <a:rPr lang="en-GB" sz="1050" err="1">
                <a:solidFill>
                  <a:schemeClr val="tx1"/>
                </a:solidFill>
              </a:rPr>
              <a:t>Bdx</a:t>
            </a:r>
            <a:r>
              <a:rPr lang="en-GB" sz="1050">
                <a:solidFill>
                  <a:schemeClr val="tx1"/>
                </a:solidFill>
              </a:rPr>
              <a:t> facts in particular – very wide</a:t>
            </a:r>
          </a:p>
          <a:p>
            <a:pPr marL="171450" indent="-171450">
              <a:buFont typeface="Arial" panose="020B0604020202020204" pitchFamily="34" charset="0"/>
              <a:buChar char="•"/>
            </a:pPr>
            <a:r>
              <a:rPr lang="en-GB" sz="1050">
                <a:solidFill>
                  <a:schemeClr val="tx1"/>
                </a:solidFill>
              </a:rPr>
              <a:t>Cluster types for ETL</a:t>
            </a:r>
          </a:p>
          <a:p>
            <a:pPr marL="171450" indent="-171450">
              <a:buFont typeface="Arial" panose="020B0604020202020204" pitchFamily="34" charset="0"/>
              <a:buChar char="•"/>
            </a:pPr>
            <a:r>
              <a:rPr lang="en-GB" sz="1050">
                <a:solidFill>
                  <a:schemeClr val="tx1"/>
                </a:solidFill>
              </a:rPr>
              <a:t>Discussed architecture design for Power BI access to databricks</a:t>
            </a:r>
          </a:p>
        </p:txBody>
      </p:sp>
      <p:sp>
        <p:nvSpPr>
          <p:cNvPr id="2" name="Rectangle 1">
            <a:extLst>
              <a:ext uri="{FF2B5EF4-FFF2-40B4-BE49-F238E27FC236}">
                <a16:creationId xmlns:a16="http://schemas.microsoft.com/office/drawing/2014/main" id="{A89C4037-30EC-A85A-029A-8C8521EFD006}"/>
              </a:ext>
            </a:extLst>
          </p:cNvPr>
          <p:cNvSpPr/>
          <p:nvPr/>
        </p:nvSpPr>
        <p:spPr>
          <a:xfrm>
            <a:off x="3541776" y="1548714"/>
            <a:ext cx="1932266"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PoC – Dimension, bridge and fact</a:t>
            </a:r>
          </a:p>
        </p:txBody>
      </p:sp>
      <p:sp>
        <p:nvSpPr>
          <p:cNvPr id="3" name="Rectangle 2">
            <a:extLst>
              <a:ext uri="{FF2B5EF4-FFF2-40B4-BE49-F238E27FC236}">
                <a16:creationId xmlns:a16="http://schemas.microsoft.com/office/drawing/2014/main" id="{2076D40A-F3C7-6194-458F-F05C18C98C6C}"/>
              </a:ext>
            </a:extLst>
          </p:cNvPr>
          <p:cNvSpPr/>
          <p:nvPr/>
        </p:nvSpPr>
        <p:spPr>
          <a:xfrm>
            <a:off x="2426209" y="713508"/>
            <a:ext cx="1115566" cy="8352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Kick Off &amp; Design</a:t>
            </a:r>
          </a:p>
        </p:txBody>
      </p:sp>
      <p:sp>
        <p:nvSpPr>
          <p:cNvPr id="4" name="Rectangle 3">
            <a:extLst>
              <a:ext uri="{FF2B5EF4-FFF2-40B4-BE49-F238E27FC236}">
                <a16:creationId xmlns:a16="http://schemas.microsoft.com/office/drawing/2014/main" id="{4A13F1AF-C6B3-2808-8196-27569C7E1F8A}"/>
              </a:ext>
            </a:extLst>
          </p:cNvPr>
          <p:cNvSpPr/>
          <p:nvPr/>
        </p:nvSpPr>
        <p:spPr>
          <a:xfrm>
            <a:off x="5474042" y="1548714"/>
            <a:ext cx="2889669" cy="599650"/>
          </a:xfrm>
          <a:prstGeom prst="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marL="171450" indent="-171450">
              <a:buFont typeface="Arial" panose="020B0604020202020204" pitchFamily="34" charset="0"/>
              <a:buChar char="•"/>
            </a:pPr>
            <a:r>
              <a:rPr lang="en-GB" sz="1050">
                <a:solidFill>
                  <a:schemeClr val="tx1"/>
                </a:solidFill>
              </a:rPr>
              <a:t>Understood implementation pattern</a:t>
            </a:r>
          </a:p>
          <a:p>
            <a:pPr marL="171450" indent="-171450">
              <a:buFont typeface="Arial" panose="020B0604020202020204" pitchFamily="34" charset="0"/>
              <a:buChar char="•"/>
            </a:pPr>
            <a:r>
              <a:rPr lang="en-GB" sz="1050">
                <a:solidFill>
                  <a:schemeClr val="tx1"/>
                </a:solidFill>
              </a:rPr>
              <a:t>Understood required framework changes</a:t>
            </a:r>
          </a:p>
          <a:p>
            <a:pPr marL="171450" indent="-171450">
              <a:buFont typeface="Arial" panose="020B0604020202020204" pitchFamily="34" charset="0"/>
              <a:buChar char="•"/>
            </a:pPr>
            <a:r>
              <a:rPr lang="en-GB" sz="1050">
                <a:solidFill>
                  <a:schemeClr val="tx1"/>
                </a:solidFill>
              </a:rPr>
              <a:t>Understood and resolved performance concerns</a:t>
            </a:r>
          </a:p>
        </p:txBody>
      </p:sp>
      <p:sp>
        <p:nvSpPr>
          <p:cNvPr id="5" name="Rectangle 4">
            <a:extLst>
              <a:ext uri="{FF2B5EF4-FFF2-40B4-BE49-F238E27FC236}">
                <a16:creationId xmlns:a16="http://schemas.microsoft.com/office/drawing/2014/main" id="{62A3B63C-68DB-7F96-DDF1-BCFC1D77DE05}"/>
              </a:ext>
            </a:extLst>
          </p:cNvPr>
          <p:cNvSpPr/>
          <p:nvPr/>
        </p:nvSpPr>
        <p:spPr>
          <a:xfrm>
            <a:off x="5474041" y="2148364"/>
            <a:ext cx="3995351"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Implementation – Dimensions, bridges and facts</a:t>
            </a:r>
          </a:p>
        </p:txBody>
      </p:sp>
      <p:sp>
        <p:nvSpPr>
          <p:cNvPr id="7" name="Rectangle 6">
            <a:extLst>
              <a:ext uri="{FF2B5EF4-FFF2-40B4-BE49-F238E27FC236}">
                <a16:creationId xmlns:a16="http://schemas.microsoft.com/office/drawing/2014/main" id="{E1335D3D-8B8B-3A89-655E-CD0EFD4C02AC}"/>
              </a:ext>
            </a:extLst>
          </p:cNvPr>
          <p:cNvSpPr/>
          <p:nvPr/>
        </p:nvSpPr>
        <p:spPr>
          <a:xfrm>
            <a:off x="6652053" y="2748013"/>
            <a:ext cx="2817340"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Implementation – Reporting Views</a:t>
            </a:r>
          </a:p>
        </p:txBody>
      </p:sp>
      <p:cxnSp>
        <p:nvCxnSpPr>
          <p:cNvPr id="11" name="Connector: Elbow 10">
            <a:extLst>
              <a:ext uri="{FF2B5EF4-FFF2-40B4-BE49-F238E27FC236}">
                <a16:creationId xmlns:a16="http://schemas.microsoft.com/office/drawing/2014/main" id="{A052CD0B-9FA5-A234-694F-9F34AD31789C}"/>
              </a:ext>
            </a:extLst>
          </p:cNvPr>
          <p:cNvCxnSpPr>
            <a:cxnSpLocks/>
            <a:stCxn id="3" idx="2"/>
            <a:endCxn id="2" idx="1"/>
          </p:cNvCxnSpPr>
          <p:nvPr/>
        </p:nvCxnSpPr>
        <p:spPr>
          <a:xfrm rot="16200000" flipH="1">
            <a:off x="3112972" y="1419734"/>
            <a:ext cx="299825" cy="55778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2A5C59B5-327E-0FA1-42A8-B856690A3844}"/>
              </a:ext>
            </a:extLst>
          </p:cNvPr>
          <p:cNvCxnSpPr>
            <a:cxnSpLocks/>
            <a:stCxn id="2" idx="2"/>
            <a:endCxn id="5" idx="1"/>
          </p:cNvCxnSpPr>
          <p:nvPr/>
        </p:nvCxnSpPr>
        <p:spPr>
          <a:xfrm rot="16200000" flipH="1">
            <a:off x="4841063" y="1815210"/>
            <a:ext cx="299825" cy="966132"/>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710A245C-405C-DED8-52E2-DAA1BFBBB938}"/>
              </a:ext>
            </a:extLst>
          </p:cNvPr>
          <p:cNvCxnSpPr>
            <a:cxnSpLocks/>
            <a:stCxn id="2" idx="2"/>
            <a:endCxn id="7" idx="1"/>
          </p:cNvCxnSpPr>
          <p:nvPr/>
        </p:nvCxnSpPr>
        <p:spPr>
          <a:xfrm rot="16200000" flipH="1">
            <a:off x="5130244" y="1526029"/>
            <a:ext cx="899474" cy="2144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FD119FF2-AB52-7DF2-DF5B-9727338916C9}"/>
              </a:ext>
            </a:extLst>
          </p:cNvPr>
          <p:cNvSpPr/>
          <p:nvPr/>
        </p:nvSpPr>
        <p:spPr>
          <a:xfrm>
            <a:off x="6211328" y="3947312"/>
            <a:ext cx="4773830"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Testing – Data Correctness, Performance, Reconciliation </a:t>
            </a:r>
          </a:p>
        </p:txBody>
      </p:sp>
      <p:sp>
        <p:nvSpPr>
          <p:cNvPr id="23" name="Rectangle 22">
            <a:extLst>
              <a:ext uri="{FF2B5EF4-FFF2-40B4-BE49-F238E27FC236}">
                <a16:creationId xmlns:a16="http://schemas.microsoft.com/office/drawing/2014/main" id="{BED8C422-E77B-81B8-7181-7482C1D0ED21}"/>
              </a:ext>
            </a:extLst>
          </p:cNvPr>
          <p:cNvSpPr/>
          <p:nvPr/>
        </p:nvSpPr>
        <p:spPr>
          <a:xfrm>
            <a:off x="7875373" y="3347663"/>
            <a:ext cx="1594019"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Framework Integration</a:t>
            </a:r>
          </a:p>
        </p:txBody>
      </p:sp>
      <p:sp>
        <p:nvSpPr>
          <p:cNvPr id="24" name="Rectangle 23">
            <a:extLst>
              <a:ext uri="{FF2B5EF4-FFF2-40B4-BE49-F238E27FC236}">
                <a16:creationId xmlns:a16="http://schemas.microsoft.com/office/drawing/2014/main" id="{3C274BC4-EC30-3768-71DB-32FD8CF0D868}"/>
              </a:ext>
            </a:extLst>
          </p:cNvPr>
          <p:cNvSpPr/>
          <p:nvPr/>
        </p:nvSpPr>
        <p:spPr>
          <a:xfrm>
            <a:off x="9469392" y="5153652"/>
            <a:ext cx="1515765" cy="5996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Hardening – Bug Fixing</a:t>
            </a:r>
          </a:p>
        </p:txBody>
      </p:sp>
      <p:sp>
        <p:nvSpPr>
          <p:cNvPr id="25" name="Rectangle 24">
            <a:extLst>
              <a:ext uri="{FF2B5EF4-FFF2-40B4-BE49-F238E27FC236}">
                <a16:creationId xmlns:a16="http://schemas.microsoft.com/office/drawing/2014/main" id="{A442BCB4-2445-1AE2-6434-B17457DB6544}"/>
              </a:ext>
            </a:extLst>
          </p:cNvPr>
          <p:cNvSpPr/>
          <p:nvPr/>
        </p:nvSpPr>
        <p:spPr>
          <a:xfrm>
            <a:off x="10985157" y="5763295"/>
            <a:ext cx="1161535" cy="303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i="1"/>
              <a:t>See left</a:t>
            </a:r>
          </a:p>
        </p:txBody>
      </p:sp>
      <p:sp>
        <p:nvSpPr>
          <p:cNvPr id="13" name="Rectangle 12">
            <a:extLst>
              <a:ext uri="{FF2B5EF4-FFF2-40B4-BE49-F238E27FC236}">
                <a16:creationId xmlns:a16="http://schemas.microsoft.com/office/drawing/2014/main" id="{87895897-8C2B-A6AC-3E72-6C1166FBC528}"/>
              </a:ext>
            </a:extLst>
          </p:cNvPr>
          <p:cNvSpPr/>
          <p:nvPr/>
        </p:nvSpPr>
        <p:spPr>
          <a:xfrm>
            <a:off x="7634511" y="4550706"/>
            <a:ext cx="3350646" cy="59965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Update existing tests (unit, recon) to run against databricks</a:t>
            </a:r>
          </a:p>
        </p:txBody>
      </p:sp>
      <p:sp>
        <p:nvSpPr>
          <p:cNvPr id="15" name="Rectangle 14">
            <a:extLst>
              <a:ext uri="{FF2B5EF4-FFF2-40B4-BE49-F238E27FC236}">
                <a16:creationId xmlns:a16="http://schemas.microsoft.com/office/drawing/2014/main" id="{7DB37B65-F139-7F88-63DB-32B5287DF6C4}"/>
              </a:ext>
            </a:extLst>
          </p:cNvPr>
          <p:cNvSpPr/>
          <p:nvPr/>
        </p:nvSpPr>
        <p:spPr>
          <a:xfrm>
            <a:off x="902041" y="4073124"/>
            <a:ext cx="1388078"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Release to environment</a:t>
            </a:r>
          </a:p>
        </p:txBody>
      </p:sp>
      <p:sp>
        <p:nvSpPr>
          <p:cNvPr id="16" name="Rectangle 15">
            <a:extLst>
              <a:ext uri="{FF2B5EF4-FFF2-40B4-BE49-F238E27FC236}">
                <a16:creationId xmlns:a16="http://schemas.microsoft.com/office/drawing/2014/main" id="{CC5E298A-1AF6-BF55-A576-18908A1FF29D}"/>
              </a:ext>
            </a:extLst>
          </p:cNvPr>
          <p:cNvSpPr/>
          <p:nvPr/>
        </p:nvSpPr>
        <p:spPr>
          <a:xfrm>
            <a:off x="2296199" y="4672774"/>
            <a:ext cx="1828801"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Parallel Running</a:t>
            </a:r>
          </a:p>
        </p:txBody>
      </p:sp>
      <p:sp>
        <p:nvSpPr>
          <p:cNvPr id="17" name="Rectangle 16">
            <a:extLst>
              <a:ext uri="{FF2B5EF4-FFF2-40B4-BE49-F238E27FC236}">
                <a16:creationId xmlns:a16="http://schemas.microsoft.com/office/drawing/2014/main" id="{4EE20369-83C5-13B3-DBCC-7778A76DEBF2}"/>
              </a:ext>
            </a:extLst>
          </p:cNvPr>
          <p:cNvSpPr/>
          <p:nvPr/>
        </p:nvSpPr>
        <p:spPr>
          <a:xfrm>
            <a:off x="4125000" y="5272424"/>
            <a:ext cx="1106027"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Go/No go</a:t>
            </a:r>
          </a:p>
        </p:txBody>
      </p:sp>
      <p:sp>
        <p:nvSpPr>
          <p:cNvPr id="18" name="Rectangle 17">
            <a:extLst>
              <a:ext uri="{FF2B5EF4-FFF2-40B4-BE49-F238E27FC236}">
                <a16:creationId xmlns:a16="http://schemas.microsoft.com/office/drawing/2014/main" id="{43DAA310-E88E-B221-3285-3616865A40AB}"/>
              </a:ext>
            </a:extLst>
          </p:cNvPr>
          <p:cNvSpPr/>
          <p:nvPr/>
        </p:nvSpPr>
        <p:spPr>
          <a:xfrm>
            <a:off x="5231027" y="5872074"/>
            <a:ext cx="1106027" cy="5996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a:t>Cutover</a:t>
            </a:r>
          </a:p>
        </p:txBody>
      </p:sp>
      <p:sp>
        <p:nvSpPr>
          <p:cNvPr id="20" name="Rectangle 19">
            <a:extLst>
              <a:ext uri="{FF2B5EF4-FFF2-40B4-BE49-F238E27FC236}">
                <a16:creationId xmlns:a16="http://schemas.microsoft.com/office/drawing/2014/main" id="{01B6C35B-6C35-CBAD-BA1E-1E2F19027103}"/>
              </a:ext>
            </a:extLst>
          </p:cNvPr>
          <p:cNvSpPr/>
          <p:nvPr/>
        </p:nvSpPr>
        <p:spPr>
          <a:xfrm>
            <a:off x="321273" y="3643438"/>
            <a:ext cx="1161535" cy="3038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en-GB" i="1"/>
              <a:t>Continued</a:t>
            </a:r>
          </a:p>
        </p:txBody>
      </p:sp>
      <p:cxnSp>
        <p:nvCxnSpPr>
          <p:cNvPr id="30" name="Connector: Elbow 29">
            <a:extLst>
              <a:ext uri="{FF2B5EF4-FFF2-40B4-BE49-F238E27FC236}">
                <a16:creationId xmlns:a16="http://schemas.microsoft.com/office/drawing/2014/main" id="{20EDB379-FA98-D4AD-4F89-D28F72F58E37}"/>
              </a:ext>
            </a:extLst>
          </p:cNvPr>
          <p:cNvCxnSpPr>
            <a:stCxn id="25" idx="2"/>
            <a:endCxn id="20" idx="0"/>
          </p:cNvCxnSpPr>
          <p:nvPr/>
        </p:nvCxnSpPr>
        <p:spPr>
          <a:xfrm rot="5400000" flipH="1">
            <a:off x="5022117" y="-476638"/>
            <a:ext cx="2423731" cy="10663884"/>
          </a:xfrm>
          <a:prstGeom prst="bentConnector5">
            <a:avLst>
              <a:gd name="adj1" fmla="val -25406"/>
              <a:gd name="adj2" fmla="val 106431"/>
              <a:gd name="adj3" fmla="val 109432"/>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5688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Items to be discussed internally</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vert="horz" lIns="91440" tIns="45720" rIns="91440" bIns="45720" rtlCol="0" anchor="t">
            <a:normAutofit/>
          </a:bodyPr>
          <a:lstStyle/>
          <a:p>
            <a:r>
              <a:rPr lang="en-IN" sz="1800">
                <a:ea typeface="+mn-lt"/>
                <a:cs typeface="+mn-lt"/>
              </a:rPr>
              <a:t>Identify SQL Functions -HBKs, </a:t>
            </a:r>
            <a:r>
              <a:rPr lang="en-IN" sz="1800" err="1">
                <a:ea typeface="+mn-lt"/>
                <a:cs typeface="+mn-lt"/>
              </a:rPr>
              <a:t>convertmonthyeartodateid</a:t>
            </a:r>
            <a:r>
              <a:rPr lang="en-IN" sz="1800">
                <a:ea typeface="+mn-lt"/>
                <a:cs typeface="+mn-lt"/>
              </a:rPr>
              <a:t>, </a:t>
            </a:r>
            <a:r>
              <a:rPr lang="en-IN" sz="1800" err="1">
                <a:ea typeface="+mn-lt"/>
                <a:cs typeface="+mn-lt"/>
              </a:rPr>
              <a:t>convertmonthyeartomonthid</a:t>
            </a:r>
            <a:r>
              <a:rPr lang="en-IN" sz="1800">
                <a:ea typeface="+mn-lt"/>
                <a:cs typeface="+mn-lt"/>
              </a:rPr>
              <a:t>--check usage of least of 2 dates, space before cap functions in synapse, replicate in </a:t>
            </a:r>
            <a:r>
              <a:rPr lang="en-IN" sz="1800" err="1">
                <a:ea typeface="+mn-lt"/>
                <a:cs typeface="+mn-lt"/>
              </a:rPr>
              <a:t>databricks</a:t>
            </a:r>
            <a:r>
              <a:rPr lang="en-IN" sz="1800">
                <a:ea typeface="+mn-lt"/>
                <a:cs typeface="+mn-lt"/>
              </a:rPr>
              <a:t> --Sourav</a:t>
            </a:r>
            <a:endParaRPr lang="en-US" sz="1800">
              <a:ea typeface="Calibri" panose="020F0502020204030204"/>
              <a:cs typeface="Calibri" panose="020F0502020204030204"/>
            </a:endParaRPr>
          </a:p>
          <a:p>
            <a:r>
              <a:rPr lang="en-IN" sz="1800">
                <a:ea typeface="+mn-lt"/>
                <a:cs typeface="+mn-lt"/>
              </a:rPr>
              <a:t>Case Sensitive consideration - used upper in joins, where condition on text cols, should we apply trim? discussion on applying upper(trim(cols)) moving from raw to std</a:t>
            </a:r>
            <a:endParaRPr lang="en-US" sz="1800">
              <a:ea typeface="Calibri"/>
              <a:cs typeface="Calibri"/>
            </a:endParaRPr>
          </a:p>
          <a:p>
            <a:r>
              <a:rPr lang="en-IN" sz="1800">
                <a:ea typeface="+mn-lt"/>
                <a:cs typeface="+mn-lt"/>
              </a:rPr>
              <a:t>Addition of source ID's in master view - should come through </a:t>
            </a:r>
            <a:r>
              <a:rPr lang="en-IN" sz="1800" err="1">
                <a:ea typeface="+mn-lt"/>
                <a:cs typeface="+mn-lt"/>
              </a:rPr>
              <a:t>cnf</a:t>
            </a:r>
            <a:r>
              <a:rPr lang="en-IN" sz="1800">
                <a:ea typeface="+mn-lt"/>
                <a:cs typeface="+mn-lt"/>
              </a:rPr>
              <a:t>, update existing </a:t>
            </a:r>
            <a:r>
              <a:rPr lang="en-IN" sz="1800" err="1">
                <a:ea typeface="+mn-lt"/>
                <a:cs typeface="+mn-lt"/>
              </a:rPr>
              <a:t>hbks</a:t>
            </a:r>
            <a:endParaRPr lang="en-US" sz="1800">
              <a:ea typeface="Calibri"/>
              <a:cs typeface="Calibri"/>
            </a:endParaRPr>
          </a:p>
          <a:p>
            <a:r>
              <a:rPr lang="en-IN" sz="1800">
                <a:ea typeface="+mn-lt"/>
                <a:cs typeface="+mn-lt"/>
              </a:rPr>
              <a:t>Generic code for defaults - this should be a single notebook that goes through all tables adding defaults for certain types where appropriate</a:t>
            </a:r>
            <a:endParaRPr lang="en-US" sz="1800">
              <a:ea typeface="Calibri"/>
              <a:cs typeface="Calibri"/>
            </a:endParaRPr>
          </a:p>
          <a:p>
            <a:r>
              <a:rPr lang="en-IN" sz="1800">
                <a:ea typeface="+mn-lt"/>
                <a:cs typeface="+mn-lt"/>
              </a:rPr>
              <a:t>Identify Generation - generic notebook to insert default values in dims, discussion to replace null to sensible values in dims </a:t>
            </a:r>
            <a:endParaRPr lang="en-US" sz="1800">
              <a:ea typeface="Calibri"/>
              <a:cs typeface="Calibri"/>
            </a:endParaRPr>
          </a:p>
          <a:p>
            <a:r>
              <a:rPr lang="en-IN" sz="1800">
                <a:ea typeface="+mn-lt"/>
                <a:cs typeface="+mn-lt"/>
              </a:rPr>
              <a:t>Progress on alternative fact structure for loading -- create a flowchart </a:t>
            </a:r>
            <a:endParaRPr lang="en-US" sz="1800"/>
          </a:p>
          <a:p>
            <a:endParaRPr lang="en-US">
              <a:ea typeface="Calibri"/>
              <a:cs typeface="Calibri"/>
            </a:endParaRPr>
          </a:p>
        </p:txBody>
      </p:sp>
    </p:spTree>
    <p:extLst>
      <p:ext uri="{BB962C8B-B14F-4D97-AF65-F5344CB8AC3E}">
        <p14:creationId xmlns:p14="http://schemas.microsoft.com/office/powerpoint/2010/main" val="4031844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mj-lt"/>
                <a:cs typeface="+mj-lt"/>
              </a:rPr>
              <a:t>table creation and data migration from synapse to </a:t>
            </a:r>
            <a:r>
              <a:rPr lang="en-IN" err="1">
                <a:ea typeface="+mj-lt"/>
                <a:cs typeface="+mj-lt"/>
              </a:rPr>
              <a:t>databricks</a:t>
            </a:r>
            <a:r>
              <a:rPr lang="en-IN">
                <a:ea typeface="+mj-lt"/>
                <a:cs typeface="+mj-lt"/>
              </a:rPr>
              <a:t>, </a:t>
            </a:r>
            <a:r>
              <a:rPr lang="en-IN" err="1">
                <a:ea typeface="+mj-lt"/>
                <a:cs typeface="+mj-lt"/>
              </a:rPr>
              <a:t>hbk</a:t>
            </a:r>
            <a:r>
              <a:rPr lang="en-IN">
                <a:ea typeface="+mj-lt"/>
                <a:cs typeface="+mj-lt"/>
              </a:rPr>
              <a:t> updates (Sourav)</a:t>
            </a:r>
            <a:endParaRPr lang="en-US"/>
          </a:p>
          <a:p>
            <a:endParaRPr lang="en-US">
              <a:ea typeface="Calibri Light"/>
              <a:cs typeface="Calibri Light"/>
            </a:endParaRP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a:xfrm>
            <a:off x="838200" y="1825625"/>
            <a:ext cx="10515600" cy="4806079"/>
          </a:xfrm>
        </p:spPr>
        <p:txBody>
          <a:bodyPr vert="horz" lIns="91440" tIns="45720" rIns="91440" bIns="45720" rtlCol="0" anchor="t">
            <a:normAutofit lnSpcReduction="10000"/>
          </a:bodyPr>
          <a:lstStyle/>
          <a:p>
            <a:r>
              <a:rPr lang="en-US">
                <a:ea typeface="Calibri"/>
                <a:cs typeface="Calibri"/>
              </a:rPr>
              <a:t>Extracted </a:t>
            </a:r>
            <a:r>
              <a:rPr lang="en-US" err="1">
                <a:ea typeface="Calibri"/>
                <a:cs typeface="Calibri"/>
              </a:rPr>
              <a:t>Tables,Columns</a:t>
            </a:r>
            <a:r>
              <a:rPr lang="en-US">
                <a:ea typeface="Calibri"/>
                <a:cs typeface="Calibri"/>
              </a:rPr>
              <a:t> metadata from Synapse and stored in </a:t>
            </a:r>
            <a:r>
              <a:rPr lang="en-US" err="1">
                <a:ea typeface="Calibri"/>
                <a:cs typeface="Calibri"/>
              </a:rPr>
              <a:t>Dataframes</a:t>
            </a:r>
            <a:r>
              <a:rPr lang="en-US">
                <a:ea typeface="Calibri"/>
                <a:cs typeface="Calibri"/>
              </a:rPr>
              <a:t>.</a:t>
            </a:r>
          </a:p>
          <a:p>
            <a:r>
              <a:rPr lang="en-US">
                <a:ea typeface="+mn-lt"/>
                <a:cs typeface="+mn-lt"/>
              </a:rPr>
              <a:t>Updated the datatype mapping between source and target, Generated DDL statements for Databricks SQL and save them as separate files in migration storage account.</a:t>
            </a:r>
          </a:p>
          <a:p>
            <a:r>
              <a:rPr lang="en-US">
                <a:ea typeface="+mn-lt"/>
                <a:cs typeface="+mn-lt"/>
              </a:rPr>
              <a:t>Created Delta tables by executing the same generated DDL statements in Databricks SQL.</a:t>
            </a:r>
          </a:p>
          <a:p>
            <a:r>
              <a:rPr lang="en-US">
                <a:ea typeface="+mn-lt"/>
                <a:cs typeface="+mn-lt"/>
              </a:rPr>
              <a:t>To export data, Created an external table for every user table. This actually exports data to staging storage.</a:t>
            </a:r>
            <a:endParaRPr lang="en-US">
              <a:ea typeface="Calibri" panose="020F0502020204030204"/>
              <a:cs typeface="Calibri" panose="020F0502020204030204"/>
            </a:endParaRPr>
          </a:p>
          <a:p>
            <a:r>
              <a:rPr lang="en-US">
                <a:ea typeface="+mn-lt"/>
                <a:cs typeface="+mn-lt"/>
              </a:rPr>
              <a:t> Import data into </a:t>
            </a:r>
            <a:r>
              <a:rPr lang="en-US" err="1">
                <a:ea typeface="+mn-lt"/>
                <a:cs typeface="+mn-lt"/>
              </a:rPr>
              <a:t>lakehouse</a:t>
            </a:r>
            <a:r>
              <a:rPr lang="en-US">
                <a:ea typeface="+mn-lt"/>
                <a:cs typeface="+mn-lt"/>
              </a:rPr>
              <a:t> from staging storage using COPY INTO statements. Data is converted to Delta format at this point.</a:t>
            </a:r>
            <a:endParaRPr lang="en-US">
              <a:ea typeface="Calibri" panose="020F0502020204030204"/>
              <a:cs typeface="Calibri" panose="020F0502020204030204"/>
            </a:endParaRPr>
          </a:p>
          <a:p>
            <a:endParaRPr lang="en-US">
              <a:ea typeface="Calibri" panose="020F0502020204030204"/>
              <a:cs typeface="Calibri" panose="020F0502020204030204"/>
            </a:endParaRPr>
          </a:p>
          <a:p>
            <a:endParaRPr lang="en-US">
              <a:ea typeface="Calibri" panose="020F0502020204030204"/>
              <a:cs typeface="Calibri" panose="020F0502020204030204"/>
            </a:endParaRPr>
          </a:p>
        </p:txBody>
      </p:sp>
    </p:spTree>
    <p:extLst>
      <p:ext uri="{BB962C8B-B14F-4D97-AF65-F5344CB8AC3E}">
        <p14:creationId xmlns:p14="http://schemas.microsoft.com/office/powerpoint/2010/main" val="423708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Dim Outwards Policy - </a:t>
            </a:r>
            <a:r>
              <a:rPr lang="en-IN" err="1">
                <a:ea typeface="Calibri Light"/>
                <a:cs typeface="Calibri Light"/>
              </a:rPr>
              <a:t>nikunj</a:t>
            </a:r>
            <a:endParaRPr lang="en-IN">
              <a:ea typeface="Calibri Light"/>
              <a:cs typeface="Calibri Light"/>
            </a:endParaRP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vert="horz" lIns="91440" tIns="45720" rIns="91440" bIns="45720" rtlCol="0" anchor="t">
            <a:normAutofit/>
          </a:bodyPr>
          <a:lstStyle/>
          <a:p>
            <a:r>
              <a:rPr lang="en-US"/>
              <a:t>Build on top of conformed </a:t>
            </a:r>
            <a:r>
              <a:rPr lang="en-US" err="1"/>
              <a:t>masterviews</a:t>
            </a:r>
            <a:r>
              <a:rPr lang="en-US"/>
              <a:t> (used staging in synapse)</a:t>
            </a:r>
          </a:p>
          <a:p>
            <a:r>
              <a:rPr lang="en-US"/>
              <a:t>HBKs generated using the same function that generates HBKs in conformed layer (stored as </a:t>
            </a:r>
            <a:r>
              <a:rPr lang="en-US" err="1"/>
              <a:t>bigint</a:t>
            </a:r>
            <a:r>
              <a:rPr lang="en-US"/>
              <a:t> as compared to </a:t>
            </a:r>
            <a:r>
              <a:rPr lang="en-US" err="1"/>
              <a:t>varbinary</a:t>
            </a:r>
            <a:r>
              <a:rPr lang="en-US"/>
              <a:t> in synapse)</a:t>
            </a:r>
            <a:endParaRPr lang="en-US">
              <a:ea typeface="Calibri"/>
              <a:cs typeface="Calibri"/>
            </a:endParaRPr>
          </a:p>
          <a:p>
            <a:r>
              <a:rPr lang="en-US"/>
              <a:t>Code written in SQL commands</a:t>
            </a:r>
            <a:endParaRPr lang="en-US">
              <a:ea typeface="Calibri"/>
              <a:cs typeface="Calibri"/>
            </a:endParaRPr>
          </a:p>
          <a:p>
            <a:r>
              <a:rPr lang="en-US">
                <a:ea typeface="Calibri"/>
                <a:cs typeface="Calibri"/>
              </a:rPr>
              <a:t>Created temp views as compared to CTAS in synapse</a:t>
            </a:r>
            <a:endParaRPr lang="en-US"/>
          </a:p>
          <a:p>
            <a:r>
              <a:rPr lang="en-US"/>
              <a:t>Overall structure of the code still remains the same</a:t>
            </a:r>
            <a:endParaRPr lang="en-US">
              <a:ea typeface="Calibri"/>
              <a:cs typeface="Calibri"/>
            </a:endParaRPr>
          </a:p>
          <a:p>
            <a:r>
              <a:rPr lang="en-US"/>
              <a:t>Clustered on valid from and to timestamps</a:t>
            </a:r>
            <a:endParaRPr lang="en-US">
              <a:ea typeface="Calibri"/>
              <a:cs typeface="Calibri"/>
            </a:endParaRPr>
          </a:p>
          <a:p>
            <a:endParaRPr lang="en-US"/>
          </a:p>
        </p:txBody>
      </p:sp>
    </p:spTree>
    <p:extLst>
      <p:ext uri="{BB962C8B-B14F-4D97-AF65-F5344CB8AC3E}">
        <p14:creationId xmlns:p14="http://schemas.microsoft.com/office/powerpoint/2010/main" val="2918436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Dim BDX - KK</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vert="horz" lIns="91440" tIns="45720" rIns="91440" bIns="45720" rtlCol="0" anchor="t">
            <a:normAutofit fontScale="92500"/>
          </a:bodyPr>
          <a:lstStyle/>
          <a:p>
            <a:r>
              <a:rPr lang="en-US">
                <a:ea typeface="Calibri"/>
                <a:cs typeface="Calibri"/>
              </a:rPr>
              <a:t>Build on top of conformed </a:t>
            </a:r>
            <a:r>
              <a:rPr lang="en-US" err="1">
                <a:ea typeface="Calibri"/>
                <a:cs typeface="Calibri"/>
              </a:rPr>
              <a:t>masterviews</a:t>
            </a:r>
            <a:r>
              <a:rPr lang="en-US">
                <a:ea typeface="Calibri"/>
                <a:cs typeface="Calibri"/>
              </a:rPr>
              <a:t> (used staging in synapse)</a:t>
            </a:r>
          </a:p>
          <a:p>
            <a:r>
              <a:rPr lang="en-US">
                <a:ea typeface="Calibri"/>
                <a:cs typeface="Calibri"/>
              </a:rPr>
              <a:t>HBKs generated using the same function that generates HBKs in conformed layer (stored as </a:t>
            </a:r>
            <a:r>
              <a:rPr lang="en-US" err="1">
                <a:ea typeface="Calibri"/>
                <a:cs typeface="Calibri"/>
              </a:rPr>
              <a:t>bigint</a:t>
            </a:r>
            <a:r>
              <a:rPr lang="en-US">
                <a:ea typeface="Calibri"/>
                <a:cs typeface="Calibri"/>
              </a:rPr>
              <a:t> as compared to </a:t>
            </a:r>
            <a:r>
              <a:rPr lang="en-US" err="1">
                <a:ea typeface="Calibri"/>
                <a:cs typeface="Calibri"/>
              </a:rPr>
              <a:t>varbinary</a:t>
            </a:r>
            <a:r>
              <a:rPr lang="en-US">
                <a:ea typeface="Calibri"/>
                <a:cs typeface="Calibri"/>
              </a:rPr>
              <a:t> in synapse)</a:t>
            </a:r>
          </a:p>
          <a:p>
            <a:r>
              <a:rPr lang="en-US">
                <a:ea typeface="Calibri"/>
                <a:cs typeface="Calibri"/>
              </a:rPr>
              <a:t>Code written in SQL commands</a:t>
            </a:r>
          </a:p>
          <a:p>
            <a:r>
              <a:rPr lang="en-US" sz="3000">
                <a:ea typeface="Calibri"/>
                <a:cs typeface="Calibri"/>
              </a:rPr>
              <a:t>Created temp views as compared to CTAS in synapse</a:t>
            </a:r>
            <a:endParaRPr lang="en-US">
              <a:ea typeface="Calibri"/>
              <a:cs typeface="Calibri"/>
            </a:endParaRPr>
          </a:p>
          <a:p>
            <a:r>
              <a:rPr lang="en-US">
                <a:ea typeface="Calibri"/>
                <a:cs typeface="Calibri"/>
              </a:rPr>
              <a:t>Updates and inserts are combined to a single merge statement</a:t>
            </a:r>
          </a:p>
          <a:p>
            <a:r>
              <a:rPr lang="en-US">
                <a:ea typeface="Calibri"/>
                <a:cs typeface="Calibri"/>
              </a:rPr>
              <a:t>Try/catch and roll back to initial version as part of the first merge</a:t>
            </a:r>
          </a:p>
          <a:p>
            <a:r>
              <a:rPr lang="en-US">
                <a:ea typeface="Calibri"/>
                <a:cs typeface="Calibri"/>
              </a:rPr>
              <a:t>Second merge statement for reactivated records</a:t>
            </a:r>
          </a:p>
          <a:p>
            <a:r>
              <a:rPr lang="en-US">
                <a:ea typeface="Calibri"/>
                <a:cs typeface="Calibri"/>
              </a:rPr>
              <a:t>Third merge for updating </a:t>
            </a:r>
            <a:r>
              <a:rPr lang="en-US" err="1">
                <a:ea typeface="Calibri"/>
                <a:cs typeface="Calibri"/>
              </a:rPr>
              <a:t>orginal_id</a:t>
            </a:r>
          </a:p>
        </p:txBody>
      </p:sp>
    </p:spTree>
    <p:extLst>
      <p:ext uri="{BB962C8B-B14F-4D97-AF65-F5344CB8AC3E}">
        <p14:creationId xmlns:p14="http://schemas.microsoft.com/office/powerpoint/2010/main" val="1779332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Bridge Line Outwards Policy - Nikunj</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vert="horz" lIns="91440" tIns="45720" rIns="91440" bIns="45720" rtlCol="0" anchor="t">
            <a:normAutofit fontScale="92500"/>
          </a:bodyPr>
          <a:lstStyle/>
          <a:p>
            <a:r>
              <a:rPr lang="en-US"/>
              <a:t>Build on top of conformed </a:t>
            </a:r>
            <a:r>
              <a:rPr lang="en-US" err="1"/>
              <a:t>masterviews</a:t>
            </a:r>
            <a:r>
              <a:rPr lang="en-US"/>
              <a:t> (used staging in synapse) and copied dims (from synapse)</a:t>
            </a:r>
          </a:p>
          <a:p>
            <a:r>
              <a:rPr lang="en-US"/>
              <a:t>HBKs in bridge generated using the same function that generates HBKs in conformed layer (stored as </a:t>
            </a:r>
            <a:r>
              <a:rPr lang="en-US" err="1"/>
              <a:t>bigint</a:t>
            </a:r>
            <a:r>
              <a:rPr lang="en-US"/>
              <a:t> as compared to </a:t>
            </a:r>
            <a:r>
              <a:rPr lang="en-US" err="1"/>
              <a:t>varbinary</a:t>
            </a:r>
            <a:r>
              <a:rPr lang="en-US"/>
              <a:t> in synapse)</a:t>
            </a:r>
          </a:p>
          <a:p>
            <a:r>
              <a:rPr lang="en-US"/>
              <a:t>HBKs were updated in the copied dims (so that the joins could happen)</a:t>
            </a:r>
            <a:endParaRPr lang="en-US">
              <a:ea typeface="Calibri"/>
              <a:cs typeface="Calibri"/>
            </a:endParaRPr>
          </a:p>
          <a:p>
            <a:r>
              <a:rPr lang="en-US" sz="3000">
                <a:ea typeface="Calibri"/>
                <a:cs typeface="Calibri"/>
              </a:rPr>
              <a:t>Created temp views as compared to CTAS in synapse</a:t>
            </a:r>
            <a:endParaRPr lang="en-US"/>
          </a:p>
          <a:p>
            <a:r>
              <a:rPr lang="en-US"/>
              <a:t>Code written in SQL commands</a:t>
            </a:r>
            <a:endParaRPr lang="en-US">
              <a:ea typeface="Calibri" panose="020F0502020204030204"/>
              <a:cs typeface="Calibri" panose="020F0502020204030204"/>
            </a:endParaRPr>
          </a:p>
          <a:p>
            <a:r>
              <a:rPr lang="en-US"/>
              <a:t>Overall structure of the code still remains the same</a:t>
            </a:r>
            <a:endParaRPr lang="en-US">
              <a:ea typeface="Calibri" panose="020F0502020204030204"/>
              <a:cs typeface="Calibri" panose="020F0502020204030204"/>
            </a:endParaRPr>
          </a:p>
          <a:p>
            <a:r>
              <a:rPr lang="en-US"/>
              <a:t>Clustered on valid from and to timestamps</a:t>
            </a:r>
            <a:endParaRPr lang="en-US">
              <a:ea typeface="Calibri" panose="020F0502020204030204"/>
              <a:cs typeface="Calibri" panose="020F0502020204030204"/>
            </a:endParaRPr>
          </a:p>
        </p:txBody>
      </p:sp>
    </p:spTree>
    <p:extLst>
      <p:ext uri="{BB962C8B-B14F-4D97-AF65-F5344CB8AC3E}">
        <p14:creationId xmlns:p14="http://schemas.microsoft.com/office/powerpoint/2010/main" val="3142259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Fact outwards settlement v1- Nikunj</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a:normAutofit fontScale="92500"/>
          </a:bodyPr>
          <a:lstStyle/>
          <a:p>
            <a:r>
              <a:rPr lang="en-US"/>
              <a:t>Build on top of conformed </a:t>
            </a:r>
            <a:r>
              <a:rPr lang="en-US" err="1"/>
              <a:t>masterviews</a:t>
            </a:r>
            <a:r>
              <a:rPr lang="en-US"/>
              <a:t> (used staging in synapse) and copied dims (from synapse)</a:t>
            </a:r>
          </a:p>
          <a:p>
            <a:r>
              <a:rPr lang="en-US"/>
              <a:t>HBKs in fact generated using the same function that generates HBKs in conformed layer (stored as </a:t>
            </a:r>
            <a:r>
              <a:rPr lang="en-US" err="1"/>
              <a:t>bigint</a:t>
            </a:r>
            <a:r>
              <a:rPr lang="en-US"/>
              <a:t> as compared to </a:t>
            </a:r>
            <a:r>
              <a:rPr lang="en-US" err="1"/>
              <a:t>varbinary</a:t>
            </a:r>
            <a:r>
              <a:rPr lang="en-US"/>
              <a:t> in synapse)</a:t>
            </a:r>
          </a:p>
          <a:p>
            <a:r>
              <a:rPr lang="en-US"/>
              <a:t>HBKs were updated in the copied dims (so that the joins could happen)</a:t>
            </a:r>
          </a:p>
          <a:p>
            <a:r>
              <a:rPr lang="en-US"/>
              <a:t>Code written in SQL commands</a:t>
            </a:r>
          </a:p>
          <a:p>
            <a:r>
              <a:rPr lang="en-US"/>
              <a:t>Overall structure of the code was the same, the load took around 3 </a:t>
            </a:r>
            <a:r>
              <a:rPr lang="en-US" err="1"/>
              <a:t>mins</a:t>
            </a:r>
            <a:r>
              <a:rPr lang="en-US"/>
              <a:t> 20 sec</a:t>
            </a:r>
          </a:p>
          <a:p>
            <a:r>
              <a:rPr lang="en-US"/>
              <a:t>Clustered on valid from and to timestamps</a:t>
            </a:r>
          </a:p>
        </p:txBody>
      </p:sp>
    </p:spTree>
    <p:extLst>
      <p:ext uri="{BB962C8B-B14F-4D97-AF65-F5344CB8AC3E}">
        <p14:creationId xmlns:p14="http://schemas.microsoft.com/office/powerpoint/2010/main" val="11327765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Fact outwards settlement v2- Nikunj</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a:normAutofit/>
          </a:bodyPr>
          <a:lstStyle/>
          <a:p>
            <a:endParaRPr lang="en-US"/>
          </a:p>
          <a:p>
            <a:r>
              <a:rPr lang="en-US"/>
              <a:t>This approach had 2 changes;</a:t>
            </a:r>
          </a:p>
          <a:p>
            <a:pPr lvl="1"/>
            <a:r>
              <a:rPr lang="en-US"/>
              <a:t>Rather than joining again and again on the base table and bringing in all the data in each join, separate base tables were created, joined with the required dims, and all these base table joined at once in the final step</a:t>
            </a:r>
          </a:p>
          <a:p>
            <a:pPr lvl="1"/>
            <a:r>
              <a:rPr lang="en-US"/>
              <a:t>Accounting and development period updates, that used to happen post the fact loads in synapse, was updated so that it gets handled in a single insert</a:t>
            </a:r>
          </a:p>
          <a:p>
            <a:r>
              <a:rPr lang="en-US"/>
              <a:t>This provided better timings, v1 took 3 </a:t>
            </a:r>
            <a:r>
              <a:rPr lang="en-US" err="1"/>
              <a:t>mins</a:t>
            </a:r>
            <a:r>
              <a:rPr lang="en-US"/>
              <a:t> 20 sec whereas v2 took around 1 min 50 sec for the complete load</a:t>
            </a:r>
          </a:p>
        </p:txBody>
      </p:sp>
    </p:spTree>
    <p:extLst>
      <p:ext uri="{BB962C8B-B14F-4D97-AF65-F5344CB8AC3E}">
        <p14:creationId xmlns:p14="http://schemas.microsoft.com/office/powerpoint/2010/main" val="1209119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Fact BDX - KK</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1085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Summary Timings KK/Nikunj</a:t>
            </a:r>
          </a:p>
        </p:txBody>
      </p:sp>
      <p:graphicFrame>
        <p:nvGraphicFramePr>
          <p:cNvPr id="4" name="Content Placeholder 3">
            <a:extLst>
              <a:ext uri="{FF2B5EF4-FFF2-40B4-BE49-F238E27FC236}">
                <a16:creationId xmlns:a16="http://schemas.microsoft.com/office/drawing/2014/main" id="{D5BD4C2D-B9E4-25F4-A920-72FBABD6028B}"/>
              </a:ext>
            </a:extLst>
          </p:cNvPr>
          <p:cNvGraphicFramePr>
            <a:graphicFrameLocks noGrp="1"/>
          </p:cNvGraphicFramePr>
          <p:nvPr>
            <p:ph idx="1"/>
            <p:extLst>
              <p:ext uri="{D42A27DB-BD31-4B8C-83A1-F6EECF244321}">
                <p14:modId xmlns:p14="http://schemas.microsoft.com/office/powerpoint/2010/main" val="3185844129"/>
              </p:ext>
            </p:extLst>
          </p:nvPr>
        </p:nvGraphicFramePr>
        <p:xfrm>
          <a:off x="838200" y="1825625"/>
          <a:ext cx="10515600" cy="2225040"/>
        </p:xfrm>
        <a:graphic>
          <a:graphicData uri="http://schemas.openxmlformats.org/drawingml/2006/table">
            <a:tbl>
              <a:tblPr firstRow="1" bandRow="1">
                <a:tableStyleId>{5C22544A-7EE6-4342-B048-85BDC9FD1C3A}</a:tableStyleId>
              </a:tblPr>
              <a:tblGrid>
                <a:gridCol w="3505200">
                  <a:extLst>
                    <a:ext uri="{9D8B030D-6E8A-4147-A177-3AD203B41FA5}">
                      <a16:colId xmlns:a16="http://schemas.microsoft.com/office/drawing/2014/main" val="3923989502"/>
                    </a:ext>
                  </a:extLst>
                </a:gridCol>
                <a:gridCol w="3505200">
                  <a:extLst>
                    <a:ext uri="{9D8B030D-6E8A-4147-A177-3AD203B41FA5}">
                      <a16:colId xmlns:a16="http://schemas.microsoft.com/office/drawing/2014/main" val="3983319165"/>
                    </a:ext>
                  </a:extLst>
                </a:gridCol>
                <a:gridCol w="3505200">
                  <a:extLst>
                    <a:ext uri="{9D8B030D-6E8A-4147-A177-3AD203B41FA5}">
                      <a16:colId xmlns:a16="http://schemas.microsoft.com/office/drawing/2014/main" val="74009446"/>
                    </a:ext>
                  </a:extLst>
                </a:gridCol>
              </a:tblGrid>
              <a:tr h="370840">
                <a:tc>
                  <a:txBody>
                    <a:bodyPr/>
                    <a:lstStyle/>
                    <a:p>
                      <a:r>
                        <a:rPr lang="en-US"/>
                        <a:t>Entity</a:t>
                      </a:r>
                    </a:p>
                  </a:txBody>
                  <a:tcPr/>
                </a:tc>
                <a:tc>
                  <a:txBody>
                    <a:bodyPr/>
                    <a:lstStyle/>
                    <a:p>
                      <a:r>
                        <a:rPr lang="en-US"/>
                        <a:t>Time Taken in Synapse</a:t>
                      </a:r>
                    </a:p>
                  </a:txBody>
                  <a:tcPr/>
                </a:tc>
                <a:tc>
                  <a:txBody>
                    <a:bodyPr/>
                    <a:lstStyle/>
                    <a:p>
                      <a:pPr lvl="0">
                        <a:buNone/>
                      </a:pPr>
                      <a:r>
                        <a:rPr lang="en-US" sz="1800" b="1" i="0" u="none" strike="noStrike" noProof="0">
                          <a:solidFill>
                            <a:srgbClr val="FFFFFF"/>
                          </a:solidFill>
                          <a:latin typeface="Calibri"/>
                        </a:rPr>
                        <a:t>Time Taken in Databricks</a:t>
                      </a:r>
                      <a:endParaRPr lang="en-US"/>
                    </a:p>
                  </a:txBody>
                  <a:tcPr/>
                </a:tc>
                <a:extLst>
                  <a:ext uri="{0D108BD9-81ED-4DB2-BD59-A6C34878D82A}">
                    <a16:rowId xmlns:a16="http://schemas.microsoft.com/office/drawing/2014/main" val="3635399213"/>
                  </a:ext>
                </a:extLst>
              </a:tr>
              <a:tr h="370840">
                <a:tc>
                  <a:txBody>
                    <a:bodyPr/>
                    <a:lstStyle/>
                    <a:p>
                      <a:r>
                        <a:rPr lang="en-US" err="1"/>
                        <a:t>Dim_Outwards_Policy</a:t>
                      </a:r>
                      <a:endParaRPr lang="en-US"/>
                    </a:p>
                  </a:txBody>
                  <a:tcPr/>
                </a:tc>
                <a:tc>
                  <a:txBody>
                    <a:bodyPr/>
                    <a:lstStyle/>
                    <a:p>
                      <a:r>
                        <a:rPr lang="en-US"/>
                        <a:t>24 sec</a:t>
                      </a:r>
                    </a:p>
                  </a:txBody>
                  <a:tcPr/>
                </a:tc>
                <a:tc>
                  <a:txBody>
                    <a:bodyPr/>
                    <a:lstStyle/>
                    <a:p>
                      <a:r>
                        <a:rPr lang="en-US"/>
                        <a:t>23 sec</a:t>
                      </a:r>
                    </a:p>
                  </a:txBody>
                  <a:tcPr/>
                </a:tc>
                <a:extLst>
                  <a:ext uri="{0D108BD9-81ED-4DB2-BD59-A6C34878D82A}">
                    <a16:rowId xmlns:a16="http://schemas.microsoft.com/office/drawing/2014/main" val="605466429"/>
                  </a:ext>
                </a:extLst>
              </a:tr>
              <a:tr h="370840">
                <a:tc>
                  <a:txBody>
                    <a:bodyPr/>
                    <a:lstStyle/>
                    <a:p>
                      <a:r>
                        <a:rPr lang="en-US" err="1"/>
                        <a:t>Dim_Bdx</a:t>
                      </a:r>
                      <a:endParaRPr lang="en-US"/>
                    </a:p>
                  </a:txBody>
                  <a:tcPr/>
                </a:tc>
                <a:tc>
                  <a:txBody>
                    <a:bodyPr/>
                    <a:lstStyle/>
                    <a:p>
                      <a:endParaRPr lang="en-US"/>
                    </a:p>
                  </a:txBody>
                  <a:tcPr/>
                </a:tc>
                <a:tc>
                  <a:txBody>
                    <a:bodyPr/>
                    <a:lstStyle/>
                    <a:p>
                      <a:r>
                        <a:rPr lang="en-US"/>
                        <a:t>22 sec</a:t>
                      </a:r>
                    </a:p>
                  </a:txBody>
                  <a:tcPr/>
                </a:tc>
                <a:extLst>
                  <a:ext uri="{0D108BD9-81ED-4DB2-BD59-A6C34878D82A}">
                    <a16:rowId xmlns:a16="http://schemas.microsoft.com/office/drawing/2014/main" val="2000820345"/>
                  </a:ext>
                </a:extLst>
              </a:tr>
              <a:tr h="370840">
                <a:tc>
                  <a:txBody>
                    <a:bodyPr/>
                    <a:lstStyle/>
                    <a:p>
                      <a:r>
                        <a:rPr lang="en-US" err="1"/>
                        <a:t>Bridge_Line_Outwards_Policy</a:t>
                      </a:r>
                      <a:endParaRPr lang="en-US"/>
                    </a:p>
                  </a:txBody>
                  <a:tcPr/>
                </a:tc>
                <a:tc>
                  <a:txBody>
                    <a:bodyPr/>
                    <a:lstStyle/>
                    <a:p>
                      <a:r>
                        <a:rPr lang="en-US"/>
                        <a:t>25 sec</a:t>
                      </a:r>
                    </a:p>
                  </a:txBody>
                  <a:tcPr/>
                </a:tc>
                <a:tc>
                  <a:txBody>
                    <a:bodyPr/>
                    <a:lstStyle/>
                    <a:p>
                      <a:r>
                        <a:rPr lang="en-US"/>
                        <a:t>25 sec</a:t>
                      </a:r>
                    </a:p>
                  </a:txBody>
                  <a:tcPr/>
                </a:tc>
                <a:extLst>
                  <a:ext uri="{0D108BD9-81ED-4DB2-BD59-A6C34878D82A}">
                    <a16:rowId xmlns:a16="http://schemas.microsoft.com/office/drawing/2014/main" val="3884769453"/>
                  </a:ext>
                </a:extLst>
              </a:tr>
              <a:tr h="370840">
                <a:tc>
                  <a:txBody>
                    <a:bodyPr/>
                    <a:lstStyle/>
                    <a:p>
                      <a:r>
                        <a:rPr lang="en-US" err="1"/>
                        <a:t>Fact_Outwards_Settlement</a:t>
                      </a:r>
                      <a:endParaRPr lang="en-US"/>
                    </a:p>
                  </a:txBody>
                  <a:tcPr/>
                </a:tc>
                <a:tc>
                  <a:txBody>
                    <a:bodyPr/>
                    <a:lstStyle/>
                    <a:p>
                      <a:r>
                        <a:rPr lang="en-US"/>
                        <a:t>6 mins 19 sec</a:t>
                      </a:r>
                    </a:p>
                  </a:txBody>
                  <a:tcPr/>
                </a:tc>
                <a:tc>
                  <a:txBody>
                    <a:bodyPr/>
                    <a:lstStyle/>
                    <a:p>
                      <a:r>
                        <a:rPr lang="en-US"/>
                        <a:t>1 min</a:t>
                      </a:r>
                      <a:r>
                        <a:rPr lang="en-US" baseline="0"/>
                        <a:t> 50 sec</a:t>
                      </a:r>
                      <a:endParaRPr lang="en-US"/>
                    </a:p>
                  </a:txBody>
                  <a:tcPr/>
                </a:tc>
                <a:extLst>
                  <a:ext uri="{0D108BD9-81ED-4DB2-BD59-A6C34878D82A}">
                    <a16:rowId xmlns:a16="http://schemas.microsoft.com/office/drawing/2014/main" val="571196663"/>
                  </a:ext>
                </a:extLst>
              </a:tr>
              <a:tr h="370840">
                <a:tc>
                  <a:txBody>
                    <a:bodyPr/>
                    <a:lstStyle/>
                    <a:p>
                      <a:r>
                        <a:rPr lang="en-US" err="1"/>
                        <a:t>Fact_Bdx</a:t>
                      </a:r>
                      <a:r>
                        <a:rPr lang="en-US"/>
                        <a:t>_</a:t>
                      </a:r>
                    </a:p>
                  </a:txBody>
                  <a:tcPr/>
                </a:tc>
                <a:tc>
                  <a:txBody>
                    <a:bodyPr/>
                    <a:lstStyle/>
                    <a:p>
                      <a:endParaRPr lang="en-US"/>
                    </a:p>
                  </a:txBody>
                  <a:tcPr/>
                </a:tc>
                <a:tc>
                  <a:txBody>
                    <a:bodyPr/>
                    <a:lstStyle/>
                    <a:p>
                      <a:r>
                        <a:rPr lang="en-US"/>
                        <a:t>1 hour</a:t>
                      </a:r>
                    </a:p>
                  </a:txBody>
                  <a:tcPr/>
                </a:tc>
                <a:extLst>
                  <a:ext uri="{0D108BD9-81ED-4DB2-BD59-A6C34878D82A}">
                    <a16:rowId xmlns:a16="http://schemas.microsoft.com/office/drawing/2014/main" val="2821609645"/>
                  </a:ext>
                </a:extLst>
              </a:tr>
            </a:tbl>
          </a:graphicData>
        </a:graphic>
      </p:graphicFrame>
    </p:spTree>
    <p:extLst>
      <p:ext uri="{BB962C8B-B14F-4D97-AF65-F5344CB8AC3E}">
        <p14:creationId xmlns:p14="http://schemas.microsoft.com/office/powerpoint/2010/main" val="2784766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Summary Timings KK/Nikunj</a:t>
            </a:r>
          </a:p>
        </p:txBody>
      </p:sp>
      <p:graphicFrame>
        <p:nvGraphicFramePr>
          <p:cNvPr id="4" name="Content Placeholder 3">
            <a:extLst>
              <a:ext uri="{FF2B5EF4-FFF2-40B4-BE49-F238E27FC236}">
                <a16:creationId xmlns:a16="http://schemas.microsoft.com/office/drawing/2014/main" id="{D5BD4C2D-B9E4-25F4-A920-72FBABD6028B}"/>
              </a:ext>
            </a:extLst>
          </p:cNvPr>
          <p:cNvGraphicFramePr>
            <a:graphicFrameLocks noGrp="1"/>
          </p:cNvGraphicFramePr>
          <p:nvPr>
            <p:ph idx="1"/>
            <p:extLst>
              <p:ext uri="{D42A27DB-BD31-4B8C-83A1-F6EECF244321}">
                <p14:modId xmlns:p14="http://schemas.microsoft.com/office/powerpoint/2010/main" val="1388437904"/>
              </p:ext>
            </p:extLst>
          </p:nvPr>
        </p:nvGraphicFramePr>
        <p:xfrm>
          <a:off x="838200" y="1825625"/>
          <a:ext cx="10449483" cy="2494280"/>
        </p:xfrm>
        <a:graphic>
          <a:graphicData uri="http://schemas.openxmlformats.org/drawingml/2006/table">
            <a:tbl>
              <a:tblPr firstRow="1" bandRow="1">
                <a:tableStyleId>{5C22544A-7EE6-4342-B048-85BDC9FD1C3A}</a:tableStyleId>
              </a:tblPr>
              <a:tblGrid>
                <a:gridCol w="4352395">
                  <a:extLst>
                    <a:ext uri="{9D8B030D-6E8A-4147-A177-3AD203B41FA5}">
                      <a16:colId xmlns:a16="http://schemas.microsoft.com/office/drawing/2014/main" val="3923989502"/>
                    </a:ext>
                  </a:extLst>
                </a:gridCol>
                <a:gridCol w="1600728">
                  <a:extLst>
                    <a:ext uri="{9D8B030D-6E8A-4147-A177-3AD203B41FA5}">
                      <a16:colId xmlns:a16="http://schemas.microsoft.com/office/drawing/2014/main" val="3983319165"/>
                    </a:ext>
                  </a:extLst>
                </a:gridCol>
                <a:gridCol w="1785934">
                  <a:extLst>
                    <a:ext uri="{9D8B030D-6E8A-4147-A177-3AD203B41FA5}">
                      <a16:colId xmlns:a16="http://schemas.microsoft.com/office/drawing/2014/main" val="74009446"/>
                    </a:ext>
                  </a:extLst>
                </a:gridCol>
                <a:gridCol w="1263240">
                  <a:extLst>
                    <a:ext uri="{9D8B030D-6E8A-4147-A177-3AD203B41FA5}">
                      <a16:colId xmlns:a16="http://schemas.microsoft.com/office/drawing/2014/main" val="4110697127"/>
                    </a:ext>
                  </a:extLst>
                </a:gridCol>
                <a:gridCol w="1447186">
                  <a:extLst>
                    <a:ext uri="{9D8B030D-6E8A-4147-A177-3AD203B41FA5}">
                      <a16:colId xmlns:a16="http://schemas.microsoft.com/office/drawing/2014/main" val="3855776140"/>
                    </a:ext>
                  </a:extLst>
                </a:gridCol>
              </a:tblGrid>
              <a:tr h="370840">
                <a:tc>
                  <a:txBody>
                    <a:bodyPr/>
                    <a:lstStyle/>
                    <a:p>
                      <a:r>
                        <a:rPr lang="en-US" dirty="0"/>
                        <a:t>Entity</a:t>
                      </a:r>
                    </a:p>
                  </a:txBody>
                  <a:tcPr/>
                </a:tc>
                <a:tc>
                  <a:txBody>
                    <a:bodyPr/>
                    <a:lstStyle/>
                    <a:p>
                      <a:r>
                        <a:rPr lang="en-US" dirty="0"/>
                        <a:t>Time Taken in Synapse</a:t>
                      </a:r>
                    </a:p>
                  </a:txBody>
                  <a:tcPr/>
                </a:tc>
                <a:tc>
                  <a:txBody>
                    <a:bodyPr/>
                    <a:lstStyle/>
                    <a:p>
                      <a:pPr lvl="0">
                        <a:buNone/>
                      </a:pPr>
                      <a:r>
                        <a:rPr lang="en-US" sz="1800" b="1" i="0" u="none" strike="noStrike" noProof="0">
                          <a:solidFill>
                            <a:srgbClr val="FFFFFF"/>
                          </a:solidFill>
                          <a:latin typeface="Calibri"/>
                        </a:rPr>
                        <a:t>Time Taken</a:t>
                      </a:r>
                      <a:endParaRPr lang="en-US" dirty="0"/>
                    </a:p>
                    <a:p>
                      <a:pPr lvl="0">
                        <a:buNone/>
                      </a:pPr>
                      <a:r>
                        <a:rPr lang="en-US" sz="1800" b="1" i="0" u="none" strike="noStrike" noProof="0">
                          <a:solidFill>
                            <a:srgbClr val="FFFFFF"/>
                          </a:solidFill>
                          <a:latin typeface="Calibri"/>
                        </a:rPr>
                        <a:t>in Databricks</a:t>
                      </a:r>
                      <a:endParaRPr lang="en-US"/>
                    </a:p>
                  </a:txBody>
                  <a:tcPr/>
                </a:tc>
                <a:tc>
                  <a:txBody>
                    <a:bodyPr/>
                    <a:lstStyle/>
                    <a:p>
                      <a:pPr lvl="0">
                        <a:buNone/>
                      </a:pPr>
                      <a:r>
                        <a:rPr lang="en-US" sz="1800" b="1" i="0" u="none" strike="noStrike" noProof="0" dirty="0">
                          <a:solidFill>
                            <a:srgbClr val="FFFFFF"/>
                          </a:solidFill>
                          <a:latin typeface="Calibri"/>
                        </a:rPr>
                        <a:t>Cost</a:t>
                      </a:r>
                    </a:p>
                    <a:p>
                      <a:pPr lvl="0">
                        <a:buNone/>
                      </a:pPr>
                      <a:r>
                        <a:rPr lang="en-US" sz="1800" b="1" i="0" u="none" strike="noStrike" noProof="0" dirty="0">
                          <a:solidFill>
                            <a:srgbClr val="FFFFFF"/>
                          </a:solidFill>
                          <a:latin typeface="Calibri"/>
                        </a:rPr>
                        <a:t>Synapse</a:t>
                      </a:r>
                    </a:p>
                  </a:txBody>
                  <a:tcPr/>
                </a:tc>
                <a:tc>
                  <a:txBody>
                    <a:bodyPr/>
                    <a:lstStyle/>
                    <a:p>
                      <a:pPr lvl="0">
                        <a:buNone/>
                      </a:pPr>
                      <a:r>
                        <a:rPr lang="en-US" sz="1800" b="1" i="0" u="none" strike="noStrike" noProof="0">
                          <a:solidFill>
                            <a:srgbClr val="FFFFFF"/>
                          </a:solidFill>
                          <a:latin typeface="Calibri"/>
                        </a:rPr>
                        <a:t>Cost Databricks</a:t>
                      </a:r>
                      <a:endParaRPr lang="en-US" sz="1800" b="1" i="0" u="none" strike="noStrike" noProof="0" dirty="0">
                        <a:solidFill>
                          <a:srgbClr val="FFFFFF"/>
                        </a:solidFill>
                        <a:latin typeface="Calibri"/>
                      </a:endParaRPr>
                    </a:p>
                  </a:txBody>
                  <a:tcPr/>
                </a:tc>
                <a:extLst>
                  <a:ext uri="{0D108BD9-81ED-4DB2-BD59-A6C34878D82A}">
                    <a16:rowId xmlns:a16="http://schemas.microsoft.com/office/drawing/2014/main" val="3635399213"/>
                  </a:ext>
                </a:extLst>
              </a:tr>
              <a:tr h="370840">
                <a:tc>
                  <a:txBody>
                    <a:bodyPr/>
                    <a:lstStyle/>
                    <a:p>
                      <a:r>
                        <a:rPr lang="en-US" err="1"/>
                        <a:t>Dim_Outwards_Policy</a:t>
                      </a:r>
                      <a:endParaRPr lang="en-US"/>
                    </a:p>
                  </a:txBody>
                  <a:tcPr/>
                </a:tc>
                <a:tc>
                  <a:txBody>
                    <a:bodyPr/>
                    <a:lstStyle/>
                    <a:p>
                      <a:r>
                        <a:rPr lang="en-US" dirty="0"/>
                        <a:t>0.4</a:t>
                      </a:r>
                    </a:p>
                  </a:txBody>
                  <a:tcPr/>
                </a:tc>
                <a:tc>
                  <a:txBody>
                    <a:bodyPr/>
                    <a:lstStyle/>
                    <a:p>
                      <a:r>
                        <a:rPr lang="en-US" dirty="0"/>
                        <a:t>0.4</a:t>
                      </a:r>
                    </a:p>
                  </a:txBody>
                  <a:tcPr/>
                </a:tc>
                <a:tc>
                  <a:txBody>
                    <a:bodyPr/>
                    <a:lstStyle/>
                    <a:p>
                      <a:pPr lvl="0">
                        <a:buNone/>
                      </a:pPr>
                      <a:endParaRPr lang="en-US" dirty="0"/>
                    </a:p>
                  </a:txBody>
                  <a:tcPr/>
                </a:tc>
                <a:tc>
                  <a:txBody>
                    <a:bodyPr/>
                    <a:lstStyle/>
                    <a:p>
                      <a:pPr lvl="0">
                        <a:buNone/>
                      </a:pPr>
                      <a:endParaRPr lang="en-US" dirty="0"/>
                    </a:p>
                  </a:txBody>
                  <a:tcPr/>
                </a:tc>
                <a:extLst>
                  <a:ext uri="{0D108BD9-81ED-4DB2-BD59-A6C34878D82A}">
                    <a16:rowId xmlns:a16="http://schemas.microsoft.com/office/drawing/2014/main" val="605466429"/>
                  </a:ext>
                </a:extLst>
              </a:tr>
              <a:tr h="370840">
                <a:tc>
                  <a:txBody>
                    <a:bodyPr/>
                    <a:lstStyle/>
                    <a:p>
                      <a:r>
                        <a:rPr lang="en-US" err="1"/>
                        <a:t>Dim_Bdx</a:t>
                      </a:r>
                      <a:endParaRPr lang="en-US"/>
                    </a:p>
                  </a:txBody>
                  <a:tcPr/>
                </a:tc>
                <a:tc>
                  <a:txBody>
                    <a:bodyPr/>
                    <a:lstStyle/>
                    <a:p>
                      <a:endParaRPr lang="en-US" dirty="0"/>
                    </a:p>
                  </a:txBody>
                  <a:tcPr/>
                </a:tc>
                <a:tc>
                  <a:txBody>
                    <a:bodyPr/>
                    <a:lstStyle/>
                    <a:p>
                      <a:r>
                        <a:rPr lang="en-US" dirty="0"/>
                        <a:t>0.36</a:t>
                      </a:r>
                    </a:p>
                  </a:txBody>
                  <a:tcPr/>
                </a:tc>
                <a:tc>
                  <a:txBody>
                    <a:bodyPr/>
                    <a:lstStyle/>
                    <a:p>
                      <a:pPr lvl="0">
                        <a:buNone/>
                      </a:pPr>
                      <a:endParaRPr lang="en-US" dirty="0"/>
                    </a:p>
                  </a:txBody>
                  <a:tcPr/>
                </a:tc>
                <a:tc>
                  <a:txBody>
                    <a:bodyPr/>
                    <a:lstStyle/>
                    <a:p>
                      <a:pPr lvl="0">
                        <a:buNone/>
                      </a:pPr>
                      <a:endParaRPr lang="en-US" dirty="0"/>
                    </a:p>
                  </a:txBody>
                  <a:tcPr/>
                </a:tc>
                <a:extLst>
                  <a:ext uri="{0D108BD9-81ED-4DB2-BD59-A6C34878D82A}">
                    <a16:rowId xmlns:a16="http://schemas.microsoft.com/office/drawing/2014/main" val="2000820345"/>
                  </a:ext>
                </a:extLst>
              </a:tr>
              <a:tr h="370840">
                <a:tc>
                  <a:txBody>
                    <a:bodyPr/>
                    <a:lstStyle/>
                    <a:p>
                      <a:r>
                        <a:rPr lang="en-US" err="1"/>
                        <a:t>Bridge_Line_Outwards_Policy</a:t>
                      </a:r>
                      <a:endParaRPr lang="en-US"/>
                    </a:p>
                  </a:txBody>
                  <a:tcPr/>
                </a:tc>
                <a:tc>
                  <a:txBody>
                    <a:bodyPr/>
                    <a:lstStyle/>
                    <a:p>
                      <a:r>
                        <a:rPr lang="en-US" dirty="0"/>
                        <a:t>0.42</a:t>
                      </a:r>
                    </a:p>
                  </a:txBody>
                  <a:tcPr/>
                </a:tc>
                <a:tc>
                  <a:txBody>
                    <a:bodyPr/>
                    <a:lstStyle/>
                    <a:p>
                      <a:r>
                        <a:rPr lang="en-US" dirty="0"/>
                        <a:t>0.42</a:t>
                      </a:r>
                    </a:p>
                  </a:txBody>
                  <a:tcPr/>
                </a:tc>
                <a:tc>
                  <a:txBody>
                    <a:bodyPr/>
                    <a:lstStyle/>
                    <a:p>
                      <a:pPr lvl="0">
                        <a:buNone/>
                      </a:pPr>
                      <a:endParaRPr lang="en-US" dirty="0"/>
                    </a:p>
                  </a:txBody>
                  <a:tcPr/>
                </a:tc>
                <a:tc>
                  <a:txBody>
                    <a:bodyPr/>
                    <a:lstStyle/>
                    <a:p>
                      <a:pPr lvl="0">
                        <a:buNone/>
                      </a:pPr>
                      <a:endParaRPr lang="en-US" dirty="0"/>
                    </a:p>
                  </a:txBody>
                  <a:tcPr/>
                </a:tc>
                <a:extLst>
                  <a:ext uri="{0D108BD9-81ED-4DB2-BD59-A6C34878D82A}">
                    <a16:rowId xmlns:a16="http://schemas.microsoft.com/office/drawing/2014/main" val="3884769453"/>
                  </a:ext>
                </a:extLst>
              </a:tr>
              <a:tr h="370840">
                <a:tc>
                  <a:txBody>
                    <a:bodyPr/>
                    <a:lstStyle/>
                    <a:p>
                      <a:r>
                        <a:rPr lang="en-US" err="1"/>
                        <a:t>Fact_Outwards_Settlement</a:t>
                      </a:r>
                      <a:endParaRPr lang="en-US"/>
                    </a:p>
                  </a:txBody>
                  <a:tcPr/>
                </a:tc>
                <a:tc>
                  <a:txBody>
                    <a:bodyPr/>
                    <a:lstStyle/>
                    <a:p>
                      <a:r>
                        <a:rPr lang="en-US" dirty="0"/>
                        <a:t>3.33</a:t>
                      </a:r>
                    </a:p>
                  </a:txBody>
                  <a:tcPr/>
                </a:tc>
                <a:tc>
                  <a:txBody>
                    <a:bodyPr/>
                    <a:lstStyle/>
                    <a:p>
                      <a:r>
                        <a:rPr lang="en-US" baseline="0" dirty="0"/>
                        <a:t>1.8</a:t>
                      </a:r>
                    </a:p>
                  </a:txBody>
                  <a:tcPr/>
                </a:tc>
                <a:tc>
                  <a:txBody>
                    <a:bodyPr/>
                    <a:lstStyle/>
                    <a:p>
                      <a:pPr lvl="0">
                        <a:buNone/>
                      </a:pPr>
                      <a:endParaRPr lang="en-US" baseline="0" dirty="0"/>
                    </a:p>
                  </a:txBody>
                  <a:tcPr/>
                </a:tc>
                <a:tc>
                  <a:txBody>
                    <a:bodyPr/>
                    <a:lstStyle/>
                    <a:p>
                      <a:pPr lvl="0">
                        <a:buNone/>
                      </a:pPr>
                      <a:endParaRPr lang="en-US" baseline="0" dirty="0"/>
                    </a:p>
                  </a:txBody>
                  <a:tcPr/>
                </a:tc>
                <a:extLst>
                  <a:ext uri="{0D108BD9-81ED-4DB2-BD59-A6C34878D82A}">
                    <a16:rowId xmlns:a16="http://schemas.microsoft.com/office/drawing/2014/main" val="571196663"/>
                  </a:ext>
                </a:extLst>
              </a:tr>
              <a:tr h="370840">
                <a:tc>
                  <a:txBody>
                    <a:bodyPr/>
                    <a:lstStyle/>
                    <a:p>
                      <a:r>
                        <a:rPr lang="en-US" dirty="0" err="1"/>
                        <a:t>Fact_Bdx</a:t>
                      </a:r>
                      <a:r>
                        <a:rPr lang="en-US" dirty="0"/>
                        <a:t>_</a:t>
                      </a:r>
                    </a:p>
                  </a:txBody>
                  <a:tcPr/>
                </a:tc>
                <a:tc>
                  <a:txBody>
                    <a:bodyPr/>
                    <a:lstStyle/>
                    <a:p>
                      <a:endParaRPr lang="en-US"/>
                    </a:p>
                  </a:txBody>
                  <a:tcPr/>
                </a:tc>
                <a:tc>
                  <a:txBody>
                    <a:bodyPr/>
                    <a:lstStyle/>
                    <a:p>
                      <a:r>
                        <a:rPr lang="en-US" dirty="0"/>
                        <a:t>60</a:t>
                      </a:r>
                    </a:p>
                  </a:txBody>
                  <a:tcPr/>
                </a:tc>
                <a:tc>
                  <a:txBody>
                    <a:bodyPr/>
                    <a:lstStyle/>
                    <a:p>
                      <a:pPr lvl="0">
                        <a:buNone/>
                      </a:pPr>
                      <a:endParaRPr lang="en-US" dirty="0"/>
                    </a:p>
                  </a:txBody>
                  <a:tcPr/>
                </a:tc>
                <a:tc>
                  <a:txBody>
                    <a:bodyPr/>
                    <a:lstStyle/>
                    <a:p>
                      <a:pPr lvl="0">
                        <a:buNone/>
                      </a:pPr>
                      <a:endParaRPr lang="en-US" dirty="0"/>
                    </a:p>
                  </a:txBody>
                  <a:tcPr/>
                </a:tc>
                <a:extLst>
                  <a:ext uri="{0D108BD9-81ED-4DB2-BD59-A6C34878D82A}">
                    <a16:rowId xmlns:a16="http://schemas.microsoft.com/office/drawing/2014/main" val="2821609645"/>
                  </a:ext>
                </a:extLst>
              </a:tr>
            </a:tbl>
          </a:graphicData>
        </a:graphic>
      </p:graphicFrame>
    </p:spTree>
    <p:extLst>
      <p:ext uri="{BB962C8B-B14F-4D97-AF65-F5344CB8AC3E}">
        <p14:creationId xmlns:p14="http://schemas.microsoft.com/office/powerpoint/2010/main" val="1584490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a:ea typeface="Calibri Light"/>
                <a:cs typeface="Calibri Light"/>
              </a:rPr>
              <a:t>Cost Comparison DB vs Synapse - Chris</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50700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p:txBody>
          <a:bodyPr>
            <a:normAutofit/>
          </a:bodyPr>
          <a:lstStyle/>
          <a:p>
            <a:r>
              <a:rPr lang="en-IN" err="1">
                <a:ea typeface="Calibri Light"/>
                <a:cs typeface="Calibri Light"/>
              </a:rPr>
              <a:t>Concers</a:t>
            </a:r>
            <a:r>
              <a:rPr lang="en-IN">
                <a:ea typeface="Calibri Light"/>
                <a:cs typeface="Calibri Light"/>
              </a:rPr>
              <a:t>/Queries - Chris/KK/Sourav/Nikunj</a:t>
            </a:r>
          </a:p>
        </p:txBody>
      </p:sp>
      <p:sp>
        <p:nvSpPr>
          <p:cNvPr id="3" name="Content Placeholder 2">
            <a:extLst>
              <a:ext uri="{FF2B5EF4-FFF2-40B4-BE49-F238E27FC236}">
                <a16:creationId xmlns:a16="http://schemas.microsoft.com/office/drawing/2014/main" id="{A74DBFD9-490D-6D65-21E7-62FCC90B2B9C}"/>
              </a:ext>
            </a:extLst>
          </p:cNvPr>
          <p:cNvSpPr>
            <a:spLocks noGrp="1"/>
          </p:cNvSpPr>
          <p:nvPr>
            <p:ph idx="1"/>
          </p:nvPr>
        </p:nvSpPr>
        <p:spPr/>
        <p:txBody>
          <a:bodyPr vert="horz" lIns="91440" tIns="45720" rIns="91440" bIns="45720" rtlCol="0" anchor="t">
            <a:normAutofit/>
          </a:bodyPr>
          <a:lstStyle/>
          <a:p>
            <a:r>
              <a:rPr lang="en-US" sz="1800">
                <a:ea typeface="Calibri" panose="020F0502020204030204"/>
                <a:cs typeface="Calibri" panose="020F0502020204030204"/>
              </a:rPr>
              <a:t>HBK, HVL updates across Dims, Bridges and Facts post data copy from synapse</a:t>
            </a:r>
          </a:p>
          <a:p>
            <a:r>
              <a:rPr lang="en-US" sz="1800">
                <a:ea typeface="Calibri" panose="020F0502020204030204"/>
                <a:cs typeface="Calibri" panose="020F0502020204030204"/>
              </a:rPr>
              <a:t>IDs and Original ID updates post data copy from synapse</a:t>
            </a:r>
          </a:p>
          <a:p>
            <a:r>
              <a:rPr lang="en-US" sz="1800">
                <a:ea typeface="Calibri" panose="020F0502020204030204"/>
                <a:cs typeface="Calibri" panose="020F0502020204030204"/>
              </a:rPr>
              <a:t>Division by 0 error in </a:t>
            </a:r>
            <a:r>
              <a:rPr lang="en-US" sz="1800" err="1">
                <a:ea typeface="Calibri" panose="020F0502020204030204"/>
                <a:cs typeface="Calibri" panose="020F0502020204030204"/>
              </a:rPr>
              <a:t>databricks</a:t>
            </a:r>
          </a:p>
        </p:txBody>
      </p:sp>
    </p:spTree>
    <p:extLst>
      <p:ext uri="{BB962C8B-B14F-4D97-AF65-F5344CB8AC3E}">
        <p14:creationId xmlns:p14="http://schemas.microsoft.com/office/powerpoint/2010/main" val="41043402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899B7DB-3BFE-A763-2065-E7BB8A06AFD2}"/>
              </a:ext>
            </a:extLst>
          </p:cNvPr>
          <p:cNvGraphicFramePr>
            <a:graphicFrameLocks noGrp="1"/>
          </p:cNvGraphicFramePr>
          <p:nvPr/>
        </p:nvGraphicFramePr>
        <p:xfrm>
          <a:off x="719327" y="56157"/>
          <a:ext cx="11049885" cy="6461150"/>
        </p:xfrm>
        <a:graphic>
          <a:graphicData uri="http://schemas.openxmlformats.org/drawingml/2006/table">
            <a:tbl>
              <a:tblPr firstRow="1" bandRow="1">
                <a:tableStyleId>{5C22544A-7EE6-4342-B048-85BDC9FD1C3A}</a:tableStyleId>
              </a:tblPr>
              <a:tblGrid>
                <a:gridCol w="5622479">
                  <a:extLst>
                    <a:ext uri="{9D8B030D-6E8A-4147-A177-3AD203B41FA5}">
                      <a16:colId xmlns:a16="http://schemas.microsoft.com/office/drawing/2014/main" val="4266151242"/>
                    </a:ext>
                  </a:extLst>
                </a:gridCol>
                <a:gridCol w="4291781">
                  <a:extLst>
                    <a:ext uri="{9D8B030D-6E8A-4147-A177-3AD203B41FA5}">
                      <a16:colId xmlns:a16="http://schemas.microsoft.com/office/drawing/2014/main" val="348591403"/>
                    </a:ext>
                  </a:extLst>
                </a:gridCol>
                <a:gridCol w="1135625">
                  <a:extLst>
                    <a:ext uri="{9D8B030D-6E8A-4147-A177-3AD203B41FA5}">
                      <a16:colId xmlns:a16="http://schemas.microsoft.com/office/drawing/2014/main" val="3835337589"/>
                    </a:ext>
                  </a:extLst>
                </a:gridCol>
              </a:tblGrid>
              <a:tr h="517550">
                <a:tc>
                  <a:txBody>
                    <a:bodyPr/>
                    <a:lstStyle/>
                    <a:p>
                      <a:pPr algn="ctr"/>
                      <a:r>
                        <a:rPr lang="en-GB" sz="1400"/>
                        <a:t>Concerns / Unknowns</a:t>
                      </a:r>
                    </a:p>
                  </a:txBody>
                  <a:tcPr/>
                </a:tc>
                <a:tc>
                  <a:txBody>
                    <a:bodyPr/>
                    <a:lstStyle/>
                    <a:p>
                      <a:pPr algn="ctr"/>
                      <a:r>
                        <a:rPr lang="en-GB" sz="1400"/>
                        <a:t>Answer</a:t>
                      </a:r>
                    </a:p>
                  </a:txBody>
                  <a:tcPr/>
                </a:tc>
                <a:tc>
                  <a:txBody>
                    <a:bodyPr/>
                    <a:lstStyle/>
                    <a:p>
                      <a:pPr algn="ctr"/>
                      <a:r>
                        <a:rPr lang="en-GB" sz="1400"/>
                        <a:t>Resolved</a:t>
                      </a:r>
                    </a:p>
                  </a:txBody>
                  <a:tcPr/>
                </a:tc>
                <a:extLst>
                  <a:ext uri="{0D108BD9-81ED-4DB2-BD59-A6C34878D82A}">
                    <a16:rowId xmlns:a16="http://schemas.microsoft.com/office/drawing/2014/main" val="2970967563"/>
                  </a:ext>
                </a:extLst>
              </a:tr>
              <a:tr h="517550">
                <a:tc>
                  <a:txBody>
                    <a:bodyPr/>
                    <a:lstStyle/>
                    <a:p>
                      <a:r>
                        <a:rPr lang="en-GB" sz="1400"/>
                        <a:t>Cluster Type – SQL Warehouse? Or do we NEED python – need to think about logging to metadata DB</a:t>
                      </a:r>
                    </a:p>
                  </a:txBody>
                  <a:tcPr/>
                </a:tc>
                <a:tc>
                  <a:txBody>
                    <a:bodyPr/>
                    <a:lstStyle/>
                    <a:p>
                      <a:r>
                        <a:rPr lang="en-GB" sz="1400"/>
                        <a:t>Python clusters</a:t>
                      </a:r>
                    </a:p>
                  </a:txBody>
                  <a:tcPr/>
                </a:tc>
                <a:tc>
                  <a:txBody>
                    <a:bodyPr/>
                    <a:lstStyle/>
                    <a:p>
                      <a:r>
                        <a:rPr lang="en-GB" sz="1400"/>
                        <a:t>Y</a:t>
                      </a:r>
                    </a:p>
                  </a:txBody>
                  <a:tcPr/>
                </a:tc>
                <a:extLst>
                  <a:ext uri="{0D108BD9-81ED-4DB2-BD59-A6C34878D82A}">
                    <a16:rowId xmlns:a16="http://schemas.microsoft.com/office/drawing/2014/main" val="2736955161"/>
                  </a:ext>
                </a:extLst>
              </a:tr>
              <a:tr h="517550">
                <a:tc>
                  <a:txBody>
                    <a:bodyPr/>
                    <a:lstStyle/>
                    <a:p>
                      <a:r>
                        <a:rPr lang="en-GB" sz="1400"/>
                        <a:t>If SQL Warehouse then how do we log to the SQL database – or do we just log to a delta table (high concurrency…)</a:t>
                      </a:r>
                    </a:p>
                  </a:txBody>
                  <a:tcPr/>
                </a:tc>
                <a:tc>
                  <a:txBody>
                    <a:bodyPr/>
                    <a:lstStyle/>
                    <a:p>
                      <a:r>
                        <a:rPr lang="en-GB" sz="1400"/>
                        <a:t>NA</a:t>
                      </a:r>
                    </a:p>
                  </a:txBody>
                  <a:tcPr/>
                </a:tc>
                <a:tc>
                  <a:txBody>
                    <a:bodyPr/>
                    <a:lstStyle/>
                    <a:p>
                      <a:r>
                        <a:rPr lang="en-GB" sz="1400"/>
                        <a:t>Y</a:t>
                      </a:r>
                    </a:p>
                  </a:txBody>
                  <a:tcPr/>
                </a:tc>
                <a:extLst>
                  <a:ext uri="{0D108BD9-81ED-4DB2-BD59-A6C34878D82A}">
                    <a16:rowId xmlns:a16="http://schemas.microsoft.com/office/drawing/2014/main" val="2617805794"/>
                  </a:ext>
                </a:extLst>
              </a:tr>
              <a:tr h="517550">
                <a:tc>
                  <a:txBody>
                    <a:bodyPr/>
                    <a:lstStyle/>
                    <a:p>
                      <a:r>
                        <a:rPr lang="en-GB" sz="1400"/>
                        <a:t>Limit of concurrent connections to </a:t>
                      </a:r>
                      <a:r>
                        <a:rPr lang="en-GB" sz="1400" err="1"/>
                        <a:t>databricks</a:t>
                      </a:r>
                      <a:r>
                        <a:rPr lang="en-GB" sz="1400"/>
                        <a:t> </a:t>
                      </a:r>
                      <a:r>
                        <a:rPr lang="en-GB" sz="1400" err="1"/>
                        <a:t>sql</a:t>
                      </a:r>
                      <a:r>
                        <a:rPr lang="en-GB" sz="1400"/>
                        <a:t> endpoint, 10? (power bi refresh impact) – Distribute tables across end points?</a:t>
                      </a:r>
                    </a:p>
                  </a:txBody>
                  <a:tcPr/>
                </a:tc>
                <a:tc>
                  <a:txBody>
                    <a:bodyPr/>
                    <a:lstStyle/>
                    <a:p>
                      <a:r>
                        <a:rPr lang="en-GB" sz="1400"/>
                        <a:t>This would be controlled by the size of the cluster and the scalability of the number of clusters</a:t>
                      </a:r>
                    </a:p>
                  </a:txBody>
                  <a:tcPr/>
                </a:tc>
                <a:tc>
                  <a:txBody>
                    <a:bodyPr/>
                    <a:lstStyle/>
                    <a:p>
                      <a:r>
                        <a:rPr lang="en-GB" sz="1400"/>
                        <a:t>Y</a:t>
                      </a:r>
                    </a:p>
                  </a:txBody>
                  <a:tcPr/>
                </a:tc>
                <a:extLst>
                  <a:ext uri="{0D108BD9-81ED-4DB2-BD59-A6C34878D82A}">
                    <a16:rowId xmlns:a16="http://schemas.microsoft.com/office/drawing/2014/main" val="3071497566"/>
                  </a:ext>
                </a:extLst>
              </a:tr>
              <a:tr h="517550">
                <a:tc>
                  <a:txBody>
                    <a:bodyPr/>
                    <a:lstStyle/>
                    <a:p>
                      <a:r>
                        <a:rPr lang="en-GB" sz="1400"/>
                        <a:t>Strategy for temp tables. We use a lot during our load of facts (in particular) in synapse dedicated pool. Should we follow the same approach?</a:t>
                      </a:r>
                    </a:p>
                  </a:txBody>
                  <a:tcPr/>
                </a:tc>
                <a:tc>
                  <a:txBody>
                    <a:bodyPr/>
                    <a:lstStyle/>
                    <a:p>
                      <a:r>
                        <a:rPr lang="en-GB" sz="1400"/>
                        <a:t>https://www.databricks.com/discover/pages/optimize-data-workloads-guide#intermediate-results</a:t>
                      </a:r>
                    </a:p>
                  </a:txBody>
                  <a:tcPr/>
                </a:tc>
                <a:tc>
                  <a:txBody>
                    <a:bodyPr/>
                    <a:lstStyle/>
                    <a:p>
                      <a:endParaRPr lang="en-GB" sz="1400"/>
                    </a:p>
                  </a:txBody>
                  <a:tcPr/>
                </a:tc>
                <a:extLst>
                  <a:ext uri="{0D108BD9-81ED-4DB2-BD59-A6C34878D82A}">
                    <a16:rowId xmlns:a16="http://schemas.microsoft.com/office/drawing/2014/main" val="3093155128"/>
                  </a:ext>
                </a:extLst>
              </a:tr>
              <a:tr h="517550">
                <a:tc>
                  <a:txBody>
                    <a:bodyPr/>
                    <a:lstStyle/>
                    <a:p>
                      <a:r>
                        <a:rPr lang="en-GB" sz="1400"/>
                        <a:t>Lots of code we have (and could take advantage of) is in python functions. Moving this over to SQL Functions could be tricky…</a:t>
                      </a:r>
                    </a:p>
                  </a:txBody>
                  <a:tcPr/>
                </a:tc>
                <a:tc>
                  <a:txBody>
                    <a:bodyPr/>
                    <a:lstStyle/>
                    <a:p>
                      <a:r>
                        <a:rPr lang="en-GB" sz="1400"/>
                        <a:t>Identify the functions that are used frequently inline in the SQL code and understand can be moved to SQL Functions. The exact items are still TBD</a:t>
                      </a:r>
                    </a:p>
                  </a:txBody>
                  <a:tcPr/>
                </a:tc>
                <a:tc>
                  <a:txBody>
                    <a:bodyPr/>
                    <a:lstStyle/>
                    <a:p>
                      <a:r>
                        <a:rPr lang="en-GB" sz="1400"/>
                        <a:t>Y</a:t>
                      </a:r>
                    </a:p>
                  </a:txBody>
                  <a:tcPr/>
                </a:tc>
                <a:extLst>
                  <a:ext uri="{0D108BD9-81ED-4DB2-BD59-A6C34878D82A}">
                    <a16:rowId xmlns:a16="http://schemas.microsoft.com/office/drawing/2014/main" val="4207696469"/>
                  </a:ext>
                </a:extLst>
              </a:tr>
              <a:tr h="517550">
                <a:tc>
                  <a:txBody>
                    <a:bodyPr/>
                    <a:lstStyle/>
                    <a:p>
                      <a:r>
                        <a:rPr lang="en-GB" sz="1400"/>
                        <a:t>Identity generation?</a:t>
                      </a:r>
                    </a:p>
                  </a:txBody>
                  <a:tcPr/>
                </a:tc>
                <a:tc>
                  <a:txBody>
                    <a:bodyPr/>
                    <a:lstStyle/>
                    <a:p>
                      <a:r>
                        <a:rPr lang="en-GB" sz="1400"/>
                        <a:t>HBK code can be translated fairly easily.</a:t>
                      </a:r>
                      <a:br>
                        <a:rPr lang="en-GB" sz="1400"/>
                      </a:br>
                      <a:r>
                        <a:rPr lang="en-GB" sz="1400"/>
                        <a:t>Identity generation is -  GENERATED BY DEFAULT AS IDENTITY</a:t>
                      </a:r>
                    </a:p>
                  </a:txBody>
                  <a:tcPr/>
                </a:tc>
                <a:tc>
                  <a:txBody>
                    <a:bodyPr/>
                    <a:lstStyle/>
                    <a:p>
                      <a:r>
                        <a:rPr lang="en-GB" sz="1400"/>
                        <a:t>N</a:t>
                      </a:r>
                    </a:p>
                  </a:txBody>
                  <a:tcPr/>
                </a:tc>
                <a:extLst>
                  <a:ext uri="{0D108BD9-81ED-4DB2-BD59-A6C34878D82A}">
                    <a16:rowId xmlns:a16="http://schemas.microsoft.com/office/drawing/2014/main" val="1723137339"/>
                  </a:ext>
                </a:extLst>
              </a:tr>
              <a:tr h="517549">
                <a:tc>
                  <a:txBody>
                    <a:bodyPr/>
                    <a:lstStyle/>
                    <a:p>
                      <a:pPr lvl="0">
                        <a:buNone/>
                      </a:pPr>
                      <a:r>
                        <a:rPr lang="en-GB" sz="1400" b="0" i="0" u="none" strike="noStrike" noProof="0">
                          <a:solidFill>
                            <a:srgbClr val="000000"/>
                          </a:solidFill>
                          <a:latin typeface="Calibri"/>
                        </a:rPr>
                        <a:t>Re-run of DWH entities- currently there is a different log table in synapse that prevents re-running of proc for same BED, once we bring </a:t>
                      </a:r>
                      <a:r>
                        <a:rPr lang="en-GB" sz="1400" b="0" i="0" u="none" strike="noStrike" noProof="0" err="1">
                          <a:solidFill>
                            <a:srgbClr val="000000"/>
                          </a:solidFill>
                          <a:latin typeface="Calibri"/>
                        </a:rPr>
                        <a:t>dwh</a:t>
                      </a:r>
                      <a:r>
                        <a:rPr lang="en-GB" sz="1400" b="0" i="0" u="none" strike="noStrike" noProof="0">
                          <a:solidFill>
                            <a:srgbClr val="000000"/>
                          </a:solidFill>
                          <a:latin typeface="Calibri"/>
                        </a:rPr>
                        <a:t> to databricks, whether we'll integrate the synapse and databricks log tables or </a:t>
                      </a:r>
                      <a:r>
                        <a:rPr lang="en-GB" sz="1400" b="0" i="0" u="none" strike="noStrike" noProof="0" err="1">
                          <a:solidFill>
                            <a:srgbClr val="000000"/>
                          </a:solidFill>
                          <a:latin typeface="Calibri"/>
                        </a:rPr>
                        <a:t>dwh</a:t>
                      </a:r>
                      <a:r>
                        <a:rPr lang="en-GB" sz="1400" b="0" i="0" u="none" strike="noStrike" noProof="0">
                          <a:solidFill>
                            <a:srgbClr val="000000"/>
                          </a:solidFill>
                          <a:latin typeface="Calibri"/>
                        </a:rPr>
                        <a:t> logging will be different from conformed</a:t>
                      </a:r>
                    </a:p>
                  </a:txBody>
                  <a:tcPr/>
                </a:tc>
                <a:tc>
                  <a:txBody>
                    <a:bodyPr/>
                    <a:lstStyle/>
                    <a:p>
                      <a:pPr lvl="0">
                        <a:buNone/>
                      </a:pPr>
                      <a:r>
                        <a:rPr lang="en-GB" sz="1400" b="0" i="0" u="none" strike="noStrike" noProof="0">
                          <a:solidFill>
                            <a:srgbClr val="000000"/>
                          </a:solidFill>
                          <a:latin typeface="Calibri"/>
                        </a:rPr>
                        <a:t>Canopius/EXL decision</a:t>
                      </a:r>
                    </a:p>
                  </a:txBody>
                  <a:tcPr/>
                </a:tc>
                <a:tc>
                  <a:txBody>
                    <a:bodyPr/>
                    <a:lstStyle/>
                    <a:p>
                      <a:pPr lvl="0">
                        <a:buNone/>
                      </a:pPr>
                      <a:endParaRPr lang="en-GB" sz="1400" b="0" i="0" u="none" strike="noStrike" noProof="0">
                        <a:solidFill>
                          <a:srgbClr val="000000"/>
                        </a:solidFill>
                        <a:latin typeface="Calibri"/>
                      </a:endParaRPr>
                    </a:p>
                  </a:txBody>
                  <a:tcPr/>
                </a:tc>
                <a:extLst>
                  <a:ext uri="{0D108BD9-81ED-4DB2-BD59-A6C34878D82A}">
                    <a16:rowId xmlns:a16="http://schemas.microsoft.com/office/drawing/2014/main" val="1305420574"/>
                  </a:ext>
                </a:extLst>
              </a:tr>
              <a:tr h="517549">
                <a:tc>
                  <a:txBody>
                    <a:bodyPr/>
                    <a:lstStyle/>
                    <a:p>
                      <a:pPr lvl="0">
                        <a:buNone/>
                      </a:pPr>
                      <a:r>
                        <a:rPr lang="en-GB" sz="1400" b="0" i="0" u="none" strike="noStrike" noProof="0">
                          <a:solidFill>
                            <a:srgbClr val="000000"/>
                          </a:solidFill>
                          <a:latin typeface="Calibri"/>
                        </a:rPr>
                        <a:t>Decision – clean and load or migrate data – Keys and ID’s</a:t>
                      </a:r>
                      <a:br>
                        <a:rPr lang="en-GB" sz="1400" b="0" i="0" u="none" strike="noStrike" noProof="0">
                          <a:solidFill>
                            <a:srgbClr val="000000"/>
                          </a:solidFill>
                          <a:latin typeface="Calibri"/>
                        </a:rPr>
                      </a:br>
                      <a:r>
                        <a:rPr lang="en-GB" sz="1400" b="0" i="0" u="none" strike="noStrike" noProof="0">
                          <a:solidFill>
                            <a:srgbClr val="000000"/>
                          </a:solidFill>
                          <a:latin typeface="Calibri"/>
                        </a:rPr>
                        <a:t>HBK, HV and ID should get updated if we are not planning for a truncate load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noProof="0">
                          <a:solidFill>
                            <a:srgbClr val="000000"/>
                          </a:solidFill>
                          <a:latin typeface="+mn-lt"/>
                        </a:rPr>
                        <a:t>Canopius/EXL decision</a:t>
                      </a:r>
                    </a:p>
                  </a:txBody>
                  <a:tcPr/>
                </a:tc>
                <a:tc>
                  <a:txBody>
                    <a:bodyPr/>
                    <a:lstStyle/>
                    <a:p>
                      <a:pPr lvl="0">
                        <a:buNone/>
                      </a:pPr>
                      <a:endParaRPr lang="en-GB" sz="1400" b="0" i="0" u="none" strike="noStrike" noProof="0">
                        <a:solidFill>
                          <a:srgbClr val="000000"/>
                        </a:solidFill>
                        <a:latin typeface="Calibri"/>
                      </a:endParaRPr>
                    </a:p>
                  </a:txBody>
                  <a:tcPr/>
                </a:tc>
                <a:extLst>
                  <a:ext uri="{0D108BD9-81ED-4DB2-BD59-A6C34878D82A}">
                    <a16:rowId xmlns:a16="http://schemas.microsoft.com/office/drawing/2014/main" val="1195333190"/>
                  </a:ext>
                </a:extLst>
              </a:tr>
              <a:tr h="517548">
                <a:tc>
                  <a:txBody>
                    <a:bodyPr/>
                    <a:lstStyle/>
                    <a:p>
                      <a:pPr lvl="0">
                        <a:buNone/>
                      </a:pPr>
                      <a:r>
                        <a:rPr lang="en-GB" sz="1400" b="0" i="0" u="none" strike="noStrike" noProof="0">
                          <a:solidFill>
                            <a:srgbClr val="000000"/>
                          </a:solidFill>
                          <a:latin typeface="Calibri"/>
                        </a:rPr>
                        <a:t>Approach for incremental load should be based on where clause or </a:t>
                      </a:r>
                      <a:r>
                        <a:rPr lang="en-GB" sz="1400" b="0" i="0" u="none" strike="noStrike" noProof="0" err="1">
                          <a:solidFill>
                            <a:srgbClr val="000000"/>
                          </a:solidFill>
                          <a:latin typeface="Calibri"/>
                        </a:rPr>
                        <a:t>tbl_bed_history</a:t>
                      </a:r>
                      <a:r>
                        <a:rPr lang="en-GB" sz="1400" b="0" i="0" u="none" strike="noStrike" noProof="0">
                          <a:solidFill>
                            <a:srgbClr val="000000"/>
                          </a:solidFill>
                          <a:latin typeface="Calibri"/>
                        </a:rPr>
                        <a:t> logic in </a:t>
                      </a:r>
                      <a:r>
                        <a:rPr lang="en-GB" sz="1400" b="0" i="0" u="none" strike="noStrike" noProof="0" err="1">
                          <a:solidFill>
                            <a:srgbClr val="000000"/>
                          </a:solidFill>
                          <a:latin typeface="Calibri"/>
                        </a:rPr>
                        <a:t>dwh</a:t>
                      </a:r>
                      <a:r>
                        <a:rPr lang="en-GB" sz="1400" b="0" i="0" u="none" strike="noStrike" noProof="0">
                          <a:solidFill>
                            <a:srgbClr val="000000"/>
                          </a:solidFill>
                          <a:latin typeface="Calibri"/>
                        </a:rPr>
                        <a:t> tables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b="0" i="0" u="none" strike="noStrike" noProof="0">
                          <a:solidFill>
                            <a:srgbClr val="000000"/>
                          </a:solidFill>
                          <a:latin typeface="+mn-lt"/>
                        </a:rPr>
                        <a:t>Canopius/EXL decision</a:t>
                      </a:r>
                    </a:p>
                  </a:txBody>
                  <a:tcPr/>
                </a:tc>
                <a:tc>
                  <a:txBody>
                    <a:bodyPr/>
                    <a:lstStyle/>
                    <a:p>
                      <a:pPr lvl="0">
                        <a:buNone/>
                      </a:pPr>
                      <a:endParaRPr lang="en-GB" sz="1400" b="0" i="0" u="none" strike="noStrike" noProof="0">
                        <a:solidFill>
                          <a:srgbClr val="000000"/>
                        </a:solidFill>
                        <a:latin typeface="Calibri"/>
                      </a:endParaRPr>
                    </a:p>
                  </a:txBody>
                  <a:tcPr/>
                </a:tc>
                <a:extLst>
                  <a:ext uri="{0D108BD9-81ED-4DB2-BD59-A6C34878D82A}">
                    <a16:rowId xmlns:a16="http://schemas.microsoft.com/office/drawing/2014/main" val="2405072207"/>
                  </a:ext>
                </a:extLst>
              </a:tr>
            </a:tbl>
          </a:graphicData>
        </a:graphic>
      </p:graphicFrame>
    </p:spTree>
    <p:extLst>
      <p:ext uri="{BB962C8B-B14F-4D97-AF65-F5344CB8AC3E}">
        <p14:creationId xmlns:p14="http://schemas.microsoft.com/office/powerpoint/2010/main" val="27651182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BE149BCF-F880-80A2-0808-FBE16CA189E8}"/>
              </a:ext>
            </a:extLst>
          </p:cNvPr>
          <p:cNvGraphicFramePr>
            <a:graphicFrameLocks noGrp="1"/>
          </p:cNvGraphicFramePr>
          <p:nvPr>
            <p:extLst>
              <p:ext uri="{D42A27DB-BD31-4B8C-83A1-F6EECF244321}">
                <p14:modId xmlns:p14="http://schemas.microsoft.com/office/powerpoint/2010/main" val="3680771074"/>
              </p:ext>
            </p:extLst>
          </p:nvPr>
        </p:nvGraphicFramePr>
        <p:xfrm>
          <a:off x="414493" y="355297"/>
          <a:ext cx="11207235" cy="4753657"/>
        </p:xfrm>
        <a:graphic>
          <a:graphicData uri="http://schemas.openxmlformats.org/drawingml/2006/table">
            <a:tbl>
              <a:tblPr firstRow="1" bandRow="1">
                <a:tableStyleId>{5C22544A-7EE6-4342-B048-85BDC9FD1C3A}</a:tableStyleId>
              </a:tblPr>
              <a:tblGrid>
                <a:gridCol w="5049784">
                  <a:extLst>
                    <a:ext uri="{9D8B030D-6E8A-4147-A177-3AD203B41FA5}">
                      <a16:colId xmlns:a16="http://schemas.microsoft.com/office/drawing/2014/main" val="4266151242"/>
                    </a:ext>
                  </a:extLst>
                </a:gridCol>
                <a:gridCol w="5021826">
                  <a:extLst>
                    <a:ext uri="{9D8B030D-6E8A-4147-A177-3AD203B41FA5}">
                      <a16:colId xmlns:a16="http://schemas.microsoft.com/office/drawing/2014/main" val="4065939715"/>
                    </a:ext>
                  </a:extLst>
                </a:gridCol>
                <a:gridCol w="1135625">
                  <a:extLst>
                    <a:ext uri="{9D8B030D-6E8A-4147-A177-3AD203B41FA5}">
                      <a16:colId xmlns:a16="http://schemas.microsoft.com/office/drawing/2014/main" val="1574221332"/>
                    </a:ext>
                  </a:extLst>
                </a:gridCol>
              </a:tblGrid>
              <a:tr h="517549">
                <a:tc>
                  <a:txBody>
                    <a:bodyPr/>
                    <a:lstStyle/>
                    <a:p>
                      <a:pPr algn="ctr"/>
                      <a:r>
                        <a:rPr lang="en-GB" sz="1600"/>
                        <a:t>Known changes</a:t>
                      </a:r>
                    </a:p>
                  </a:txBody>
                  <a:tcPr/>
                </a:tc>
                <a:tc>
                  <a:txBody>
                    <a:bodyPr/>
                    <a:lstStyle/>
                    <a:p>
                      <a:pPr algn="ctr"/>
                      <a:endParaRPr lang="en-GB" sz="1600"/>
                    </a:p>
                  </a:txBody>
                  <a:tcPr/>
                </a:tc>
                <a:tc>
                  <a:txBody>
                    <a:bodyPr/>
                    <a:lstStyle/>
                    <a:p>
                      <a:pPr algn="ctr"/>
                      <a:r>
                        <a:rPr lang="en-GB" sz="1600"/>
                        <a:t>Resolved</a:t>
                      </a:r>
                    </a:p>
                  </a:txBody>
                  <a:tcPr/>
                </a:tc>
                <a:extLst>
                  <a:ext uri="{0D108BD9-81ED-4DB2-BD59-A6C34878D82A}">
                    <a16:rowId xmlns:a16="http://schemas.microsoft.com/office/drawing/2014/main" val="2970967563"/>
                  </a:ext>
                </a:extLst>
              </a:tr>
              <a:tr h="517549">
                <a:tc>
                  <a:txBody>
                    <a:bodyPr/>
                    <a:lstStyle/>
                    <a:p>
                      <a:r>
                        <a:rPr lang="en-GB" sz="1600"/>
                        <a:t>Case sensitivity along with leading/training blanks in </a:t>
                      </a:r>
                      <a:r>
                        <a:rPr lang="en-GB" sz="1600" err="1"/>
                        <a:t>databricks</a:t>
                      </a:r>
                      <a:r>
                        <a:rPr lang="en-GB" sz="1600"/>
                        <a:t> (not in synapse)</a:t>
                      </a:r>
                    </a:p>
                  </a:txBody>
                  <a:tcPr/>
                </a:tc>
                <a:tc>
                  <a:txBody>
                    <a:bodyPr/>
                    <a:lstStyle/>
                    <a:p>
                      <a:r>
                        <a:rPr lang="en-GB" sz="1600"/>
                        <a:t>Canopius/EXL</a:t>
                      </a:r>
                    </a:p>
                  </a:txBody>
                  <a:tcPr/>
                </a:tc>
                <a:tc>
                  <a:txBody>
                    <a:bodyPr/>
                    <a:lstStyle/>
                    <a:p>
                      <a:endParaRPr lang="en-GB" sz="1600"/>
                    </a:p>
                  </a:txBody>
                  <a:tcPr/>
                </a:tc>
                <a:extLst>
                  <a:ext uri="{0D108BD9-81ED-4DB2-BD59-A6C34878D82A}">
                    <a16:rowId xmlns:a16="http://schemas.microsoft.com/office/drawing/2014/main" val="2736955161"/>
                  </a:ext>
                </a:extLst>
              </a:tr>
              <a:tr h="517549">
                <a:tc>
                  <a:txBody>
                    <a:bodyPr/>
                    <a:lstStyle/>
                    <a:p>
                      <a:r>
                        <a:rPr lang="en-GB" sz="1600"/>
                        <a:t>Functions changes -&gt; produce a mapping table with confirmed values being the same, e.g. getdate() -&gt; </a:t>
                      </a:r>
                    </a:p>
                  </a:txBody>
                  <a:tcPr/>
                </a:tc>
                <a:tc>
                  <a:txBody>
                    <a:bodyPr/>
                    <a:lstStyle/>
                    <a:p>
                      <a:endParaRPr lang="en-GB" sz="1600"/>
                    </a:p>
                  </a:txBody>
                  <a:tcPr/>
                </a:tc>
                <a:tc>
                  <a:txBody>
                    <a:bodyPr/>
                    <a:lstStyle/>
                    <a:p>
                      <a:endParaRPr lang="en-GB" sz="1600"/>
                    </a:p>
                  </a:txBody>
                  <a:tcPr/>
                </a:tc>
                <a:extLst>
                  <a:ext uri="{0D108BD9-81ED-4DB2-BD59-A6C34878D82A}">
                    <a16:rowId xmlns:a16="http://schemas.microsoft.com/office/drawing/2014/main" val="2617805794"/>
                  </a:ext>
                </a:extLst>
              </a:tr>
              <a:tr h="517549">
                <a:tc>
                  <a:txBody>
                    <a:bodyPr/>
                    <a:lstStyle/>
                    <a:p>
                      <a:r>
                        <a:rPr lang="en-GB" sz="1600"/>
                        <a:t>Data type changes</a:t>
                      </a:r>
                    </a:p>
                  </a:txBody>
                  <a:tcPr/>
                </a:tc>
                <a:tc>
                  <a:txBody>
                    <a:bodyPr/>
                    <a:lstStyle/>
                    <a:p>
                      <a:r>
                        <a:rPr lang="en-GB" sz="1600"/>
                        <a:t>These are documented in </a:t>
                      </a:r>
                      <a:r>
                        <a:rPr lang="da-DK" sz="1600"/>
                        <a:t>Synapse%20Migration%20Accelerator%20overview.pdf</a:t>
                      </a:r>
                      <a:endParaRPr lang="en-GB" sz="1600"/>
                    </a:p>
                  </a:txBody>
                  <a:tcPr/>
                </a:tc>
                <a:tc>
                  <a:txBody>
                    <a:bodyPr/>
                    <a:lstStyle/>
                    <a:p>
                      <a:r>
                        <a:rPr lang="en-GB" sz="1600"/>
                        <a:t>Y</a:t>
                      </a:r>
                    </a:p>
                  </a:txBody>
                  <a:tcPr/>
                </a:tc>
                <a:extLst>
                  <a:ext uri="{0D108BD9-81ED-4DB2-BD59-A6C34878D82A}">
                    <a16:rowId xmlns:a16="http://schemas.microsoft.com/office/drawing/2014/main" val="3071497566"/>
                  </a:ext>
                </a:extLst>
              </a:tr>
              <a:tr h="517549">
                <a:tc>
                  <a:txBody>
                    <a:bodyPr/>
                    <a:lstStyle/>
                    <a:p>
                      <a:r>
                        <a:rPr lang="en-GB" sz="1600"/>
                        <a:t>Delta table creation – metadata for these tables need to be created in metadata so notebook can create them – not done in synapse currently</a:t>
                      </a:r>
                    </a:p>
                  </a:txBody>
                  <a:tcPr/>
                </a:tc>
                <a:tc>
                  <a:txBody>
                    <a:bodyPr/>
                    <a:lstStyle/>
                    <a:p>
                      <a:r>
                        <a:rPr lang="en-GB" sz="1600"/>
                        <a:t>Canopius/EXL for the metadata – also assisted by the  </a:t>
                      </a:r>
                      <a:br>
                        <a:rPr lang="en-GB" sz="1600"/>
                      </a:br>
                      <a:r>
                        <a:rPr lang="en-GB" sz="1600"/>
                        <a:t>synapse-migration-</a:t>
                      </a:r>
                      <a:r>
                        <a:rPr lang="en-GB" sz="1600" err="1"/>
                        <a:t>accelerator.dbc</a:t>
                      </a:r>
                      <a:r>
                        <a:rPr lang="en-GB" sz="1600"/>
                        <a:t> notebook and</a:t>
                      </a:r>
                      <a:br>
                        <a:rPr lang="en-GB" sz="1600"/>
                      </a:br>
                      <a:r>
                        <a:rPr lang="da-DK" sz="1600"/>
                        <a:t>Synapse%20Migration%20Accelerator%20overview.pdf</a:t>
                      </a:r>
                      <a:endParaRPr lang="en-GB" sz="1600"/>
                    </a:p>
                  </a:txBody>
                  <a:tcPr/>
                </a:tc>
                <a:tc>
                  <a:txBody>
                    <a:bodyPr/>
                    <a:lstStyle/>
                    <a:p>
                      <a:r>
                        <a:rPr lang="en-GB" sz="1600"/>
                        <a:t>Y</a:t>
                      </a:r>
                    </a:p>
                  </a:txBody>
                  <a:tcPr/>
                </a:tc>
                <a:extLst>
                  <a:ext uri="{0D108BD9-81ED-4DB2-BD59-A6C34878D82A}">
                    <a16:rowId xmlns:a16="http://schemas.microsoft.com/office/drawing/2014/main" val="3093155128"/>
                  </a:ext>
                </a:extLst>
              </a:tr>
              <a:tr h="517549">
                <a:tc>
                  <a:txBody>
                    <a:bodyPr/>
                    <a:lstStyle/>
                    <a:p>
                      <a:r>
                        <a:rPr lang="en-GB" sz="1600"/>
                        <a:t>Handling of BED currently up to staging needs to be reimplemented</a:t>
                      </a:r>
                    </a:p>
                  </a:txBody>
                  <a:tcPr/>
                </a:tc>
                <a:tc>
                  <a:txBody>
                    <a:bodyPr/>
                    <a:lstStyle/>
                    <a:p>
                      <a:r>
                        <a:rPr lang="en-GB" sz="1600"/>
                        <a:t>Canopius/EXL</a:t>
                      </a:r>
                    </a:p>
                  </a:txBody>
                  <a:tcPr/>
                </a:tc>
                <a:tc>
                  <a:txBody>
                    <a:bodyPr/>
                    <a:lstStyle/>
                    <a:p>
                      <a:endParaRPr lang="en-GB" sz="1600"/>
                    </a:p>
                  </a:txBody>
                  <a:tcPr/>
                </a:tc>
                <a:extLst>
                  <a:ext uri="{0D108BD9-81ED-4DB2-BD59-A6C34878D82A}">
                    <a16:rowId xmlns:a16="http://schemas.microsoft.com/office/drawing/2014/main" val="1385099991"/>
                  </a:ext>
                </a:extLst>
              </a:tr>
              <a:tr h="517548">
                <a:tc>
                  <a:txBody>
                    <a:bodyPr/>
                    <a:lstStyle/>
                    <a:p>
                      <a:pPr lvl="0">
                        <a:buNone/>
                      </a:pPr>
                      <a:r>
                        <a:rPr lang="en-GB" sz="1600" err="1"/>
                        <a:t>MasterViews</a:t>
                      </a:r>
                      <a:r>
                        <a:rPr lang="en-GB" sz="1600"/>
                        <a:t>, External Parquet, External Staging and Staging layers can be merged as one</a:t>
                      </a:r>
                    </a:p>
                  </a:txBody>
                  <a:tcPr/>
                </a:tc>
                <a:tc>
                  <a:txBody>
                    <a:bodyPr/>
                    <a:lstStyle/>
                    <a:p>
                      <a:pPr lvl="0">
                        <a:buNone/>
                      </a:pPr>
                      <a:r>
                        <a:rPr lang="en-GB" sz="1600"/>
                        <a:t>Canopius/EXL</a:t>
                      </a:r>
                    </a:p>
                  </a:txBody>
                  <a:tcPr/>
                </a:tc>
                <a:tc>
                  <a:txBody>
                    <a:bodyPr/>
                    <a:lstStyle/>
                    <a:p>
                      <a:pPr lvl="0">
                        <a:buNone/>
                      </a:pPr>
                      <a:endParaRPr lang="en-GB" sz="1600"/>
                    </a:p>
                  </a:txBody>
                  <a:tcPr/>
                </a:tc>
                <a:extLst>
                  <a:ext uri="{0D108BD9-81ED-4DB2-BD59-A6C34878D82A}">
                    <a16:rowId xmlns:a16="http://schemas.microsoft.com/office/drawing/2014/main" val="2847746212"/>
                  </a:ext>
                </a:extLst>
              </a:tr>
              <a:tr h="517548">
                <a:tc>
                  <a:txBody>
                    <a:bodyPr/>
                    <a:lstStyle/>
                    <a:p>
                      <a:pPr lvl="0">
                        <a:buNone/>
                      </a:pPr>
                      <a:r>
                        <a:rPr lang="en-GB" sz="1600"/>
                        <a:t>Add source ID as part of HBK in conformed</a:t>
                      </a:r>
                    </a:p>
                  </a:txBody>
                  <a:tcPr/>
                </a:tc>
                <a:tc>
                  <a:txBody>
                    <a:bodyPr/>
                    <a:lstStyle/>
                    <a:p>
                      <a:pPr lvl="0">
                        <a:buNone/>
                      </a:pPr>
                      <a:r>
                        <a:rPr lang="en-GB" sz="1600"/>
                        <a:t>Canopius/EXL </a:t>
                      </a:r>
                    </a:p>
                  </a:txBody>
                  <a:tcPr/>
                </a:tc>
                <a:tc>
                  <a:txBody>
                    <a:bodyPr/>
                    <a:lstStyle/>
                    <a:p>
                      <a:pPr lvl="0">
                        <a:buNone/>
                      </a:pPr>
                      <a:endParaRPr lang="en-GB" sz="1600"/>
                    </a:p>
                  </a:txBody>
                  <a:tcPr/>
                </a:tc>
                <a:extLst>
                  <a:ext uri="{0D108BD9-81ED-4DB2-BD59-A6C34878D82A}">
                    <a16:rowId xmlns:a16="http://schemas.microsoft.com/office/drawing/2014/main" val="3648893207"/>
                  </a:ext>
                </a:extLst>
              </a:tr>
            </a:tbl>
          </a:graphicData>
        </a:graphic>
      </p:graphicFrame>
    </p:spTree>
    <p:extLst>
      <p:ext uri="{BB962C8B-B14F-4D97-AF65-F5344CB8AC3E}">
        <p14:creationId xmlns:p14="http://schemas.microsoft.com/office/powerpoint/2010/main" val="7852335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A3CA8-361E-5BFA-57A9-D60CD29EBD49}"/>
              </a:ext>
            </a:extLst>
          </p:cNvPr>
          <p:cNvSpPr>
            <a:spLocks noGrp="1"/>
          </p:cNvSpPr>
          <p:nvPr>
            <p:ph type="title"/>
          </p:nvPr>
        </p:nvSpPr>
        <p:spPr>
          <a:xfrm>
            <a:off x="838200" y="-20579"/>
            <a:ext cx="10515600" cy="1325563"/>
          </a:xfrm>
        </p:spPr>
        <p:txBody>
          <a:bodyPr>
            <a:normAutofit/>
          </a:bodyPr>
          <a:lstStyle/>
          <a:p>
            <a:r>
              <a:rPr lang="en-IN" dirty="0">
                <a:ea typeface="Calibri Light"/>
                <a:cs typeface="Calibri Light"/>
              </a:rPr>
              <a:t>Next Steps</a:t>
            </a:r>
          </a:p>
        </p:txBody>
      </p:sp>
      <p:graphicFrame>
        <p:nvGraphicFramePr>
          <p:cNvPr id="7" name="Table 6">
            <a:extLst>
              <a:ext uri="{FF2B5EF4-FFF2-40B4-BE49-F238E27FC236}">
                <a16:creationId xmlns:a16="http://schemas.microsoft.com/office/drawing/2014/main" id="{5F5F20F4-73E7-70DE-2603-ED14404E03CA}"/>
              </a:ext>
            </a:extLst>
          </p:cNvPr>
          <p:cNvGraphicFramePr>
            <a:graphicFrameLocks noGrp="1"/>
          </p:cNvGraphicFramePr>
          <p:nvPr>
            <p:extLst>
              <p:ext uri="{D42A27DB-BD31-4B8C-83A1-F6EECF244321}">
                <p14:modId xmlns:p14="http://schemas.microsoft.com/office/powerpoint/2010/main" val="3338606018"/>
              </p:ext>
            </p:extLst>
          </p:nvPr>
        </p:nvGraphicFramePr>
        <p:xfrm>
          <a:off x="573850" y="1063037"/>
          <a:ext cx="11313349" cy="2393668"/>
        </p:xfrm>
        <a:graphic>
          <a:graphicData uri="http://schemas.openxmlformats.org/drawingml/2006/table">
            <a:tbl>
              <a:tblPr firstRow="1" bandRow="1">
                <a:tableStyleId>{5C22544A-7EE6-4342-B048-85BDC9FD1C3A}</a:tableStyleId>
              </a:tblPr>
              <a:tblGrid>
                <a:gridCol w="3514930">
                  <a:extLst>
                    <a:ext uri="{9D8B030D-6E8A-4147-A177-3AD203B41FA5}">
                      <a16:colId xmlns:a16="http://schemas.microsoft.com/office/drawing/2014/main" val="4266151242"/>
                    </a:ext>
                  </a:extLst>
                </a:gridCol>
                <a:gridCol w="7798419">
                  <a:extLst>
                    <a:ext uri="{9D8B030D-6E8A-4147-A177-3AD203B41FA5}">
                      <a16:colId xmlns:a16="http://schemas.microsoft.com/office/drawing/2014/main" val="4065939715"/>
                    </a:ext>
                  </a:extLst>
                </a:gridCol>
              </a:tblGrid>
              <a:tr h="246615">
                <a:tc>
                  <a:txBody>
                    <a:bodyPr/>
                    <a:lstStyle/>
                    <a:p>
                      <a:pPr algn="ctr"/>
                      <a:r>
                        <a:rPr lang="en-GB" sz="1200" dirty="0"/>
                        <a:t>Action Items</a:t>
                      </a:r>
                    </a:p>
                  </a:txBody>
                  <a:tcPr/>
                </a:tc>
                <a:tc>
                  <a:txBody>
                    <a:bodyPr/>
                    <a:lstStyle/>
                    <a:p>
                      <a:pPr algn="ctr"/>
                      <a:r>
                        <a:rPr lang="en-GB" sz="1200"/>
                        <a:t>Queries</a:t>
                      </a:r>
                      <a:endParaRPr lang="en-GB" sz="1200" dirty="0"/>
                    </a:p>
                  </a:txBody>
                  <a:tcPr/>
                </a:tc>
                <a:extLst>
                  <a:ext uri="{0D108BD9-81ED-4DB2-BD59-A6C34878D82A}">
                    <a16:rowId xmlns:a16="http://schemas.microsoft.com/office/drawing/2014/main" val="2970967563"/>
                  </a:ext>
                </a:extLst>
              </a:tr>
              <a:tr h="1059674">
                <a:tc>
                  <a:txBody>
                    <a:bodyPr/>
                    <a:lstStyle/>
                    <a:p>
                      <a:r>
                        <a:rPr lang="en-GB" sz="1400" dirty="0"/>
                        <a:t>Is it the logic or the volume that dramatically increases the run time?</a:t>
                      </a:r>
                    </a:p>
                  </a:txBody>
                  <a:tcPr/>
                </a:tc>
                <a:tc>
                  <a:txBody>
                    <a:bodyPr/>
                    <a:lstStyle/>
                    <a:p>
                      <a:pPr marL="285750" lvl="0" indent="-285750" rtl="0">
                        <a:buFont typeface="Arial"/>
                        <a:buChar char="•"/>
                      </a:pPr>
                      <a:r>
                        <a:rPr lang="en-GB" sz="1400" dirty="0"/>
                        <a:t>Replicate the transactions in the 3 source transaction tables.  These will be also added to the dimension so lookups can work.</a:t>
                      </a:r>
                    </a:p>
                    <a:p>
                      <a:pPr marL="285750" lvl="0" indent="-285750" rtl="0">
                        <a:buFont typeface="Arial"/>
                        <a:buChar char="•"/>
                      </a:pPr>
                      <a:r>
                        <a:rPr lang="en-GB" sz="1400" dirty="0"/>
                        <a:t>We will look to increase the volume by 10 from ~3 million to ~30 million</a:t>
                      </a:r>
                    </a:p>
                  </a:txBody>
                  <a:tcPr/>
                </a:tc>
                <a:extLst>
                  <a:ext uri="{0D108BD9-81ED-4DB2-BD59-A6C34878D82A}">
                    <a16:rowId xmlns:a16="http://schemas.microsoft.com/office/drawing/2014/main" val="1339542451"/>
                  </a:ext>
                </a:extLst>
              </a:tr>
              <a:tr h="1059674">
                <a:tc>
                  <a:txBody>
                    <a:bodyPr/>
                    <a:lstStyle/>
                    <a:p>
                      <a:r>
                        <a:rPr lang="en-GB" sz="1400" dirty="0"/>
                        <a:t>How do the cost change while maintaining the performance when more work is happening in parallel.</a:t>
                      </a:r>
                    </a:p>
                  </a:txBody>
                  <a:tcPr/>
                </a:tc>
                <a:tc>
                  <a:txBody>
                    <a:bodyPr/>
                    <a:lstStyle/>
                    <a:p>
                      <a:pPr marL="285750" lvl="0" indent="-285750" rtl="0">
                        <a:buFont typeface="Arial"/>
                        <a:buChar char="•"/>
                      </a:pPr>
                      <a:r>
                        <a:rPr lang="en-GB" sz="1400" dirty="0"/>
                        <a:t>Using the revised volume of the fact at ~30 million rows – create 10 versions of the transaction source table, target table and the notebooks.</a:t>
                      </a:r>
                    </a:p>
                    <a:p>
                      <a:pPr marL="285750" lvl="0" indent="-285750" rtl="0">
                        <a:buFont typeface="Arial"/>
                        <a:buChar char="•"/>
                      </a:pPr>
                      <a:r>
                        <a:rPr lang="en-GB" sz="1400" dirty="0"/>
                        <a:t>Run the variants in parallel.</a:t>
                      </a:r>
                    </a:p>
                  </a:txBody>
                  <a:tcPr/>
                </a:tc>
                <a:extLst>
                  <a:ext uri="{0D108BD9-81ED-4DB2-BD59-A6C34878D82A}">
                    <a16:rowId xmlns:a16="http://schemas.microsoft.com/office/drawing/2014/main" val="938917168"/>
                  </a:ext>
                </a:extLst>
              </a:tr>
            </a:tbl>
          </a:graphicData>
        </a:graphic>
      </p:graphicFrame>
      <p:graphicFrame>
        <p:nvGraphicFramePr>
          <p:cNvPr id="5" name="Table 4">
            <a:extLst>
              <a:ext uri="{FF2B5EF4-FFF2-40B4-BE49-F238E27FC236}">
                <a16:creationId xmlns:a16="http://schemas.microsoft.com/office/drawing/2014/main" id="{E81C17E4-63B9-12FC-F632-8F4954D28FF3}"/>
              </a:ext>
            </a:extLst>
          </p:cNvPr>
          <p:cNvGraphicFramePr>
            <a:graphicFrameLocks noGrp="1"/>
          </p:cNvGraphicFramePr>
          <p:nvPr>
            <p:extLst>
              <p:ext uri="{D42A27DB-BD31-4B8C-83A1-F6EECF244321}">
                <p14:modId xmlns:p14="http://schemas.microsoft.com/office/powerpoint/2010/main" val="3897509834"/>
              </p:ext>
            </p:extLst>
          </p:nvPr>
        </p:nvGraphicFramePr>
        <p:xfrm>
          <a:off x="573849" y="3601798"/>
          <a:ext cx="11313348" cy="1760988"/>
        </p:xfrm>
        <a:graphic>
          <a:graphicData uri="http://schemas.openxmlformats.org/drawingml/2006/table">
            <a:tbl>
              <a:tblPr firstRow="1" bandRow="1">
                <a:tableStyleId>{5C22544A-7EE6-4342-B048-85BDC9FD1C3A}</a:tableStyleId>
              </a:tblPr>
              <a:tblGrid>
                <a:gridCol w="3678483">
                  <a:extLst>
                    <a:ext uri="{9D8B030D-6E8A-4147-A177-3AD203B41FA5}">
                      <a16:colId xmlns:a16="http://schemas.microsoft.com/office/drawing/2014/main" val="4266151242"/>
                    </a:ext>
                  </a:extLst>
                </a:gridCol>
                <a:gridCol w="1077777">
                  <a:extLst>
                    <a:ext uri="{9D8B030D-6E8A-4147-A177-3AD203B41FA5}">
                      <a16:colId xmlns:a16="http://schemas.microsoft.com/office/drawing/2014/main" val="4065939715"/>
                    </a:ext>
                  </a:extLst>
                </a:gridCol>
                <a:gridCol w="5367628">
                  <a:extLst>
                    <a:ext uri="{9D8B030D-6E8A-4147-A177-3AD203B41FA5}">
                      <a16:colId xmlns:a16="http://schemas.microsoft.com/office/drawing/2014/main" val="1305724069"/>
                    </a:ext>
                  </a:extLst>
                </a:gridCol>
                <a:gridCol w="1189460">
                  <a:extLst>
                    <a:ext uri="{9D8B030D-6E8A-4147-A177-3AD203B41FA5}">
                      <a16:colId xmlns:a16="http://schemas.microsoft.com/office/drawing/2014/main" val="3063103907"/>
                    </a:ext>
                  </a:extLst>
                </a:gridCol>
              </a:tblGrid>
              <a:tr h="210940">
                <a:tc>
                  <a:txBody>
                    <a:bodyPr/>
                    <a:lstStyle/>
                    <a:p>
                      <a:pPr algn="ctr"/>
                      <a:r>
                        <a:rPr lang="en-GB" sz="1200" dirty="0"/>
                        <a:t>Source View</a:t>
                      </a:r>
                    </a:p>
                  </a:txBody>
                  <a:tcPr/>
                </a:tc>
                <a:tc>
                  <a:txBody>
                    <a:bodyPr/>
                    <a:lstStyle/>
                    <a:p>
                      <a:pPr algn="ctr"/>
                      <a:r>
                        <a:rPr lang="en-GB" sz="1200" dirty="0"/>
                        <a:t>Row Count</a:t>
                      </a:r>
                    </a:p>
                  </a:txBody>
                  <a:tcPr/>
                </a:tc>
                <a:tc>
                  <a:txBody>
                    <a:bodyPr/>
                    <a:lstStyle/>
                    <a:p>
                      <a:pPr algn="ctr"/>
                      <a:r>
                        <a:rPr lang="en-GB" sz="1200" dirty="0"/>
                        <a:t>Target Table for testing</a:t>
                      </a:r>
                    </a:p>
                  </a:txBody>
                  <a:tcPr/>
                </a:tc>
                <a:tc>
                  <a:txBody>
                    <a:bodyPr/>
                    <a:lstStyle/>
                    <a:p>
                      <a:pPr algn="ctr"/>
                      <a:r>
                        <a:rPr lang="en-GB" sz="1200" dirty="0"/>
                        <a:t>Row Count</a:t>
                      </a:r>
                    </a:p>
                  </a:txBody>
                  <a:tcPr/>
                </a:tc>
                <a:extLst>
                  <a:ext uri="{0D108BD9-81ED-4DB2-BD59-A6C34878D82A}">
                    <a16:rowId xmlns:a16="http://schemas.microsoft.com/office/drawing/2014/main" val="2970967563"/>
                  </a:ext>
                </a:extLst>
              </a:tr>
              <a:tr h="495556">
                <a:tc>
                  <a:txBody>
                    <a:bodyPr/>
                    <a:lstStyle/>
                    <a:p>
                      <a:r>
                        <a:rPr lang="en-GB" sz="1200" kern="1200" dirty="0">
                          <a:solidFill>
                            <a:schemeClr val="dk1"/>
                          </a:solidFill>
                          <a:latin typeface="+mn-lt"/>
                          <a:ea typeface="+mn-ea"/>
                          <a:cs typeface="+mn-cs"/>
                        </a:rPr>
                        <a:t>insights_dev_001.conformedmasterviews.vwoutwards_settlement_detail</a:t>
                      </a:r>
                    </a:p>
                  </a:txBody>
                  <a:tcPr anchor="ctr"/>
                </a:tc>
                <a:tc>
                  <a:txBody>
                    <a:bodyPr/>
                    <a:lstStyle/>
                    <a:p>
                      <a:r>
                        <a:rPr lang="en-GB" sz="1200" kern="1200" dirty="0">
                          <a:solidFill>
                            <a:schemeClr val="dk1"/>
                          </a:solidFill>
                          <a:latin typeface="+mn-lt"/>
                          <a:ea typeface="+mn-ea"/>
                          <a:cs typeface="+mn-cs"/>
                        </a:rPr>
                        <a:t>5,938,034</a:t>
                      </a:r>
                    </a:p>
                  </a:txBody>
                  <a:tcPr anchor="ctr"/>
                </a:tc>
                <a:tc>
                  <a:txBody>
                    <a:bodyPr/>
                    <a:lstStyle/>
                    <a:p>
                      <a:r>
                        <a:rPr lang="en-GB" sz="1200" kern="1200" dirty="0">
                          <a:solidFill>
                            <a:schemeClr val="dk1"/>
                          </a:solidFill>
                          <a:latin typeface="+mn-lt"/>
                          <a:ea typeface="+mn-ea"/>
                          <a:cs typeface="+mn-cs"/>
                        </a:rPr>
                        <a:t>insights_dev_002.poc_synapse_databricks.conformedmasterviews_vwoutwards_settlement_detail</a:t>
                      </a:r>
                    </a:p>
                  </a:txBody>
                  <a:tcPr anchor="ctr"/>
                </a:tc>
                <a:tc>
                  <a:txBody>
                    <a:bodyPr/>
                    <a:lstStyle/>
                    <a:p>
                      <a:r>
                        <a:rPr lang="en-GB" sz="1200" kern="1200" dirty="0">
                          <a:solidFill>
                            <a:schemeClr val="dk1"/>
                          </a:solidFill>
                          <a:latin typeface="+mn-lt"/>
                          <a:ea typeface="+mn-ea"/>
                          <a:cs typeface="+mn-cs"/>
                        </a:rPr>
                        <a:t>59,380,340</a:t>
                      </a:r>
                    </a:p>
                  </a:txBody>
                  <a:tcPr anchor="ctr"/>
                </a:tc>
                <a:extLst>
                  <a:ext uri="{0D108BD9-81ED-4DB2-BD59-A6C34878D82A}">
                    <a16:rowId xmlns:a16="http://schemas.microsoft.com/office/drawing/2014/main" val="1339542451"/>
                  </a:ext>
                </a:extLst>
              </a:tr>
              <a:tr h="495556">
                <a:tc>
                  <a:txBody>
                    <a:bodyPr/>
                    <a:lstStyle/>
                    <a:p>
                      <a:r>
                        <a:rPr lang="en-GB" sz="1200" kern="1200">
                          <a:solidFill>
                            <a:schemeClr val="dk1"/>
                          </a:solidFill>
                          <a:latin typeface="+mn-lt"/>
                          <a:ea typeface="+mn-ea"/>
                          <a:cs typeface="+mn-cs"/>
                        </a:rPr>
                        <a:t>insights_dev_001.conformedmasterviews.vwoutwards_transaction_link</a:t>
                      </a:r>
                    </a:p>
                  </a:txBody>
                  <a:tcPr anchor="ctr"/>
                </a:tc>
                <a:tc>
                  <a:txBody>
                    <a:bodyPr/>
                    <a:lstStyle/>
                    <a:p>
                      <a:r>
                        <a:rPr lang="en-GB" sz="1200" kern="1200" dirty="0">
                          <a:solidFill>
                            <a:schemeClr val="dk1"/>
                          </a:solidFill>
                          <a:latin typeface="+mn-lt"/>
                          <a:ea typeface="+mn-ea"/>
                          <a:cs typeface="+mn-cs"/>
                        </a:rPr>
                        <a:t>805,426</a:t>
                      </a:r>
                    </a:p>
                  </a:txBody>
                  <a:tcPr anchor="ctr"/>
                </a:tc>
                <a:tc>
                  <a:txBody>
                    <a:bodyPr/>
                    <a:lstStyle/>
                    <a:p>
                      <a:r>
                        <a:rPr lang="en-GB" sz="1200" kern="1200" dirty="0">
                          <a:solidFill>
                            <a:schemeClr val="dk1"/>
                          </a:solidFill>
                          <a:latin typeface="+mn-lt"/>
                          <a:ea typeface="+mn-ea"/>
                          <a:cs typeface="+mn-cs"/>
                        </a:rPr>
                        <a:t>insights_dev_002.poc_synapse_databricks.conformedmasterviews_vwoutwards_transaction_link</a:t>
                      </a:r>
                    </a:p>
                  </a:txBody>
                  <a:tcPr anchor="ctr"/>
                </a:tc>
                <a:tc>
                  <a:txBody>
                    <a:bodyPr/>
                    <a:lstStyle/>
                    <a:p>
                      <a:r>
                        <a:rPr lang="en-GB" sz="1200" kern="1200" dirty="0">
                          <a:solidFill>
                            <a:schemeClr val="dk1"/>
                          </a:solidFill>
                          <a:latin typeface="+mn-lt"/>
                          <a:ea typeface="+mn-ea"/>
                          <a:cs typeface="+mn-cs"/>
                        </a:rPr>
                        <a:t>8,054,260</a:t>
                      </a:r>
                    </a:p>
                  </a:txBody>
                  <a:tcPr anchor="ctr"/>
                </a:tc>
                <a:extLst>
                  <a:ext uri="{0D108BD9-81ED-4DB2-BD59-A6C34878D82A}">
                    <a16:rowId xmlns:a16="http://schemas.microsoft.com/office/drawing/2014/main" val="938917168"/>
                  </a:ext>
                </a:extLst>
              </a:tr>
              <a:tr h="495556">
                <a:tc>
                  <a:txBody>
                    <a:bodyPr/>
                    <a:lstStyle/>
                    <a:p>
                      <a:r>
                        <a:rPr lang="en-GB" sz="1200" kern="1200">
                          <a:solidFill>
                            <a:schemeClr val="dk1"/>
                          </a:solidFill>
                          <a:latin typeface="+mn-lt"/>
                          <a:ea typeface="+mn-ea"/>
                          <a:cs typeface="+mn-cs"/>
                        </a:rPr>
                        <a:t>insights_dev_001.conformedmasterviews.vwoutwards_transaction</a:t>
                      </a:r>
                    </a:p>
                  </a:txBody>
                  <a:tcPr anchor="ctr"/>
                </a:tc>
                <a:tc>
                  <a:txBody>
                    <a:bodyPr/>
                    <a:lstStyle/>
                    <a:p>
                      <a:r>
                        <a:rPr lang="en-GB" sz="1200" kern="1200" dirty="0">
                          <a:solidFill>
                            <a:schemeClr val="dk1"/>
                          </a:solidFill>
                          <a:latin typeface="+mn-lt"/>
                          <a:ea typeface="+mn-ea"/>
                          <a:cs typeface="+mn-cs"/>
                        </a:rPr>
                        <a:t>1,178,200</a:t>
                      </a:r>
                    </a:p>
                  </a:txBody>
                  <a:tcPr anchor="ctr"/>
                </a:tc>
                <a:tc>
                  <a:txBody>
                    <a:bodyPr/>
                    <a:lstStyle/>
                    <a:p>
                      <a:r>
                        <a:rPr lang="en-GB" sz="1200" kern="1200" dirty="0">
                          <a:solidFill>
                            <a:schemeClr val="dk1"/>
                          </a:solidFill>
                          <a:latin typeface="+mn-lt"/>
                          <a:ea typeface="+mn-ea"/>
                          <a:cs typeface="+mn-cs"/>
                        </a:rPr>
                        <a:t>insights_dev_002.poc_synapse_databricks.conformedmasterviews_vwoutwards_transaction</a:t>
                      </a:r>
                    </a:p>
                  </a:txBody>
                  <a:tcPr anchor="ctr"/>
                </a:tc>
                <a:tc>
                  <a:txBody>
                    <a:bodyPr/>
                    <a:lstStyle/>
                    <a:p>
                      <a:r>
                        <a:rPr lang="en-GB" sz="1200" kern="1200" dirty="0">
                          <a:solidFill>
                            <a:schemeClr val="dk1"/>
                          </a:solidFill>
                          <a:latin typeface="+mn-lt"/>
                          <a:ea typeface="+mn-ea"/>
                          <a:cs typeface="+mn-cs"/>
                        </a:rPr>
                        <a:t>1,1782,000</a:t>
                      </a:r>
                    </a:p>
                  </a:txBody>
                  <a:tcPr anchor="ctr"/>
                </a:tc>
                <a:extLst>
                  <a:ext uri="{0D108BD9-81ED-4DB2-BD59-A6C34878D82A}">
                    <a16:rowId xmlns:a16="http://schemas.microsoft.com/office/drawing/2014/main" val="751372824"/>
                  </a:ext>
                </a:extLst>
              </a:tr>
            </a:tbl>
          </a:graphicData>
        </a:graphic>
      </p:graphicFrame>
    </p:spTree>
    <p:extLst>
      <p:ext uri="{BB962C8B-B14F-4D97-AF65-F5344CB8AC3E}">
        <p14:creationId xmlns:p14="http://schemas.microsoft.com/office/powerpoint/2010/main" val="36145819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676895BF7FFF4BB12004E08A7F8030" ma:contentTypeVersion="17" ma:contentTypeDescription="Create a new document." ma:contentTypeScope="" ma:versionID="6ccba9e78a7d7aff60f7d655e50dbd5b">
  <xsd:schema xmlns:xsd="http://www.w3.org/2001/XMLSchema" xmlns:xs="http://www.w3.org/2001/XMLSchema" xmlns:p="http://schemas.microsoft.com/office/2006/metadata/properties" xmlns:ns2="c2e88ccc-cbbe-46fe-a823-a677cb74174f" xmlns:ns3="a0e77d89-447a-4ff5-aee4-b0e5ec8cd825" targetNamespace="http://schemas.microsoft.com/office/2006/metadata/properties" ma:root="true" ma:fieldsID="23f9ff10cec6b293fd39c677f179d298" ns2:_="" ns3:_="">
    <xsd:import namespace="c2e88ccc-cbbe-46fe-a823-a677cb74174f"/>
    <xsd:import namespace="a0e77d89-447a-4ff5-aee4-b0e5ec8cd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e88ccc-cbbe-46fe-a823-a677cb7417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b1f1a22-d11f-4f8a-804a-f9df9b68866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0e77d89-447a-4ff5-aee4-b0e5ec8cd825"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37087cc7-660c-4a12-9f7f-b66306384599}" ma:internalName="TaxCatchAll" ma:showField="CatchAllData" ma:web="a0e77d89-447a-4ff5-aee4-b0e5ec8cd8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c2e88ccc-cbbe-46fe-a823-a677cb74174f">
      <Terms xmlns="http://schemas.microsoft.com/office/infopath/2007/PartnerControls"/>
    </lcf76f155ced4ddcb4097134ff3c332f>
    <TaxCatchAll xmlns="a0e77d89-447a-4ff5-aee4-b0e5ec8cd825" xsi:nil="true"/>
    <SharedWithUsers xmlns="a0e77d89-447a-4ff5-aee4-b0e5ec8cd825">
      <UserInfo>
        <DisplayName>Christian Bracchi</DisplayName>
        <AccountId>17</AccountId>
        <AccountType/>
      </UserInfo>
      <UserInfo>
        <DisplayName>Adam Tappis</DisplayName>
        <AccountId>49</AccountId>
        <AccountType/>
      </UserInfo>
      <UserInfo>
        <DisplayName>Nikunj Srivastava</DisplayName>
        <AccountId>113</AccountId>
        <AccountType/>
      </UserInfo>
      <UserInfo>
        <DisplayName>Ben van Lierop</DisplayName>
        <AccountId>39</AccountId>
        <AccountType/>
      </UserInfo>
      <UserInfo>
        <DisplayName>Chitransh Srivastava</DisplayName>
        <AccountId>22</AccountId>
        <AccountType/>
      </UserInfo>
    </SharedWithUsers>
  </documentManagement>
</p:properties>
</file>

<file path=customXml/itemProps1.xml><?xml version="1.0" encoding="utf-8"?>
<ds:datastoreItem xmlns:ds="http://schemas.openxmlformats.org/officeDocument/2006/customXml" ds:itemID="{140DC460-AACA-4FF8-BF79-E3723F35A103}">
  <ds:schemaRefs>
    <ds:schemaRef ds:uri="a0e77d89-447a-4ff5-aee4-b0e5ec8cd825"/>
    <ds:schemaRef ds:uri="c2e88ccc-cbbe-46fe-a823-a677cb7417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C3986E2-1E2C-434D-B5EA-0F150F73B5D3}">
  <ds:schemaRefs>
    <ds:schemaRef ds:uri="http://schemas.microsoft.com/sharepoint/v3/contenttype/forms"/>
  </ds:schemaRefs>
</ds:datastoreItem>
</file>

<file path=customXml/itemProps3.xml><?xml version="1.0" encoding="utf-8"?>
<ds:datastoreItem xmlns:ds="http://schemas.openxmlformats.org/officeDocument/2006/customXml" ds:itemID="{501C6715-F0D7-48C8-9A35-895A12F78C8C}">
  <ds:schemaRefs>
    <ds:schemaRef ds:uri="http://schemas.microsoft.com/office/infopath/2007/PartnerControls"/>
    <ds:schemaRef ds:uri="http://purl.org/dc/dcmitype/"/>
    <ds:schemaRef ds:uri="http://schemas.microsoft.com/office/2006/documentManagement/types"/>
    <ds:schemaRef ds:uri="http://schemas.microsoft.com/office/2006/metadata/properties"/>
    <ds:schemaRef ds:uri="a0e77d89-447a-4ff5-aee4-b0e5ec8cd825"/>
    <ds:schemaRef ds:uri="http://purl.org/dc/terms/"/>
    <ds:schemaRef ds:uri="http://www.w3.org/XML/1998/namespace"/>
    <ds:schemaRef ds:uri="http://schemas.openxmlformats.org/package/2006/metadata/core-properties"/>
    <ds:schemaRef ds:uri="c2e88ccc-cbbe-46fe-a823-a677cb74174f"/>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0</TotalTime>
  <Words>1753</Words>
  <Application>Microsoft Office PowerPoint</Application>
  <PresentationFormat>Widescreen</PresentationFormat>
  <Paragraphs>194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Synapse -&gt; Databricks Migration</vt:lpstr>
      <vt:lpstr>PowerPoint Presentation</vt:lpstr>
      <vt:lpstr>Items to be discussed internally</vt:lpstr>
      <vt:lpstr>table creation and data migration from synapse to databricks, hbk updates (Sourav) </vt:lpstr>
      <vt:lpstr>Dim Outwards Policy - nikunj</vt:lpstr>
      <vt:lpstr>Dim BDX - KK</vt:lpstr>
      <vt:lpstr>Bridge Line Outwards Policy - Nikunj</vt:lpstr>
      <vt:lpstr>Fact outwards settlement v1- Nikunj</vt:lpstr>
      <vt:lpstr>Fact outwards settlement v2- Nikunj</vt:lpstr>
      <vt:lpstr>Fact BDX - KK</vt:lpstr>
      <vt:lpstr>Summary Timings KK/Nikunj</vt:lpstr>
      <vt:lpstr>Summary Timings KK/Nikunj</vt:lpstr>
      <vt:lpstr>Cost Comparison DB vs Synapse - Chris</vt:lpstr>
      <vt:lpstr>Concers/Queries - Chris/KK/Sourav/Nikunj</vt:lpstr>
      <vt:lpstr>PowerPoint Presentation</vt:lpstr>
      <vt:lpstr>PowerPoint Presentation</vt:lpstr>
      <vt:lpstr>Next Steps</vt:lpstr>
    </vt:vector>
  </TitlesOfParts>
  <Company>EXL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Synapse -&gt; Databricks Migration</dc:title>
  <dc:creator>Christian Bracchi</dc:creator>
  <cp:lastModifiedBy>Bracchi, Chris</cp:lastModifiedBy>
  <cp:revision>1</cp:revision>
  <dcterms:created xsi:type="dcterms:W3CDTF">2024-05-07T14:39:05Z</dcterms:created>
  <dcterms:modified xsi:type="dcterms:W3CDTF">2024-07-16T13:16:49Z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0x01010061676895BF7FFF4BB12004E08A7F8030</vt:lpwstr>
  </property>
  <property fmtid="{D5CDD505-2E9C-101B-9397-08002B2CF9AE}" pid="3" name="MediaServiceImageTags">
    <vt:lpwstr/>
  </property>
  <property fmtid="{D5CDD505-2E9C-101B-9397-08002B2CF9AE}" pid="4" name="MSIP_Label_5b5832c2-122e-4c56-85a9-bc2fa83b9933_Enabled">
    <vt:lpwstr>true</vt:lpwstr>
  </property>
  <property fmtid="{D5CDD505-2E9C-101B-9397-08002B2CF9AE}" pid="5" name="MSIP_Label_5b5832c2-122e-4c56-85a9-bc2fa83b9933_SetDate">
    <vt:lpwstr>2024-07-03T10:19:09Z</vt:lpwstr>
  </property>
  <property fmtid="{D5CDD505-2E9C-101B-9397-08002B2CF9AE}" pid="6" name="MSIP_Label_5b5832c2-122e-4c56-85a9-bc2fa83b9933_Method">
    <vt:lpwstr>Privileged</vt:lpwstr>
  </property>
  <property fmtid="{D5CDD505-2E9C-101B-9397-08002B2CF9AE}" pid="7" name="MSIP_Label_5b5832c2-122e-4c56-85a9-bc2fa83b9933_Name">
    <vt:lpwstr>General</vt:lpwstr>
  </property>
  <property fmtid="{D5CDD505-2E9C-101B-9397-08002B2CF9AE}" pid="8" name="MSIP_Label_5b5832c2-122e-4c56-85a9-bc2fa83b9933_SiteId">
    <vt:lpwstr>89a64c04-5070-4bae-a1ed-e9639497e1b7</vt:lpwstr>
  </property>
  <property fmtid="{D5CDD505-2E9C-101B-9397-08002B2CF9AE}" pid="9" name="MSIP_Label_5b5832c2-122e-4c56-85a9-bc2fa83b9933_ActionId">
    <vt:lpwstr>2af554c7-047a-4b56-9a7f-c19e19fc3bfa</vt:lpwstr>
  </property>
  <property fmtid="{D5CDD505-2E9C-101B-9397-08002B2CF9AE}" pid="10" name="MSIP_Label_5b5832c2-122e-4c56-85a9-bc2fa83b9933_ContentBits">
    <vt:lpwstr>0</vt:lpwstr>
  </property>
</Properties>
</file>