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4"/>
  </p:notesMasterIdLst>
  <p:sldIdLst>
    <p:sldId id="332" r:id="rId5"/>
    <p:sldId id="335" r:id="rId6"/>
    <p:sldId id="338" r:id="rId7"/>
    <p:sldId id="376" r:id="rId8"/>
    <p:sldId id="442" r:id="rId9"/>
    <p:sldId id="456" r:id="rId10"/>
    <p:sldId id="451" r:id="rId11"/>
    <p:sldId id="379" r:id="rId12"/>
    <p:sldId id="455" r:id="rId13"/>
    <p:sldId id="453" r:id="rId14"/>
    <p:sldId id="434" r:id="rId15"/>
    <p:sldId id="433" r:id="rId16"/>
    <p:sldId id="468" r:id="rId17"/>
    <p:sldId id="458" r:id="rId18"/>
    <p:sldId id="459" r:id="rId19"/>
    <p:sldId id="437" r:id="rId20"/>
    <p:sldId id="438" r:id="rId21"/>
    <p:sldId id="435" r:id="rId22"/>
    <p:sldId id="461" r:id="rId23"/>
    <p:sldId id="462" r:id="rId24"/>
    <p:sldId id="439" r:id="rId25"/>
    <p:sldId id="467" r:id="rId26"/>
    <p:sldId id="440" r:id="rId27"/>
    <p:sldId id="345" r:id="rId28"/>
    <p:sldId id="368" r:id="rId29"/>
    <p:sldId id="465" r:id="rId30"/>
    <p:sldId id="448" r:id="rId31"/>
    <p:sldId id="450" r:id="rId32"/>
    <p:sldId id="443" r:id="rId33"/>
    <p:sldId id="449" r:id="rId34"/>
    <p:sldId id="444" r:id="rId35"/>
    <p:sldId id="452" r:id="rId36"/>
    <p:sldId id="445" r:id="rId37"/>
    <p:sldId id="457" r:id="rId38"/>
    <p:sldId id="464" r:id="rId39"/>
    <p:sldId id="446" r:id="rId40"/>
    <p:sldId id="460" r:id="rId41"/>
    <p:sldId id="447" r:id="rId42"/>
    <p:sldId id="463"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28" userDrawn="1">
          <p15:clr>
            <a:srgbClr val="A4A3A4"/>
          </p15:clr>
        </p15:guide>
        <p15:guide id="5" pos="3840" userDrawn="1">
          <p15:clr>
            <a:srgbClr val="A4A3A4"/>
          </p15:clr>
        </p15:guide>
        <p15:guide id="6" pos="7392" userDrawn="1">
          <p15:clr>
            <a:srgbClr val="A4A3A4"/>
          </p15:clr>
        </p15:guide>
        <p15:guide id="7" pos="288" userDrawn="1">
          <p15:clr>
            <a:srgbClr val="A4A3A4"/>
          </p15:clr>
        </p15:guide>
        <p15:guide id="8" pos="216" userDrawn="1">
          <p15:clr>
            <a:srgbClr val="A4A3A4"/>
          </p15:clr>
        </p15:guide>
        <p15:guide id="9"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4242"/>
    <a:srgbClr val="000000"/>
    <a:srgbClr val="FF906D"/>
    <a:srgbClr val="004EFF"/>
    <a:srgbClr val="FB4E0B"/>
    <a:srgbClr val="FF40FF"/>
    <a:srgbClr val="FFB391"/>
    <a:srgbClr val="818181"/>
    <a:srgbClr val="ABABAB"/>
    <a:srgbClr val="FFCD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5FEA1A-86A8-4DB8-BD00-7FB141884D32}" v="1" dt="2023-01-18T16:57:41.395"/>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918"/>
  </p:normalViewPr>
  <p:slideViewPr>
    <p:cSldViewPr snapToGrid="0" snapToObjects="1">
      <p:cViewPr varScale="1">
        <p:scale>
          <a:sx n="73" d="100"/>
          <a:sy n="73" d="100"/>
        </p:scale>
        <p:origin x="618" y="72"/>
      </p:cViewPr>
      <p:guideLst>
        <p:guide orient="horz" pos="4128"/>
        <p:guide pos="3840"/>
        <p:guide pos="7392"/>
        <p:guide pos="288"/>
        <p:guide pos="216"/>
        <p:guide orient="horz" pos="2160"/>
      </p:guideLst>
    </p:cSldViewPr>
  </p:slideViewPr>
  <p:notesTextViewPr>
    <p:cViewPr>
      <p:scale>
        <a:sx n="1" d="1"/>
        <a:sy n="1" d="1"/>
      </p:scale>
      <p:origin x="0" y="0"/>
    </p:cViewPr>
  </p:notesTextViewPr>
  <p:sorterViewPr>
    <p:cViewPr>
      <p:scale>
        <a:sx n="86" d="100"/>
        <a:sy n="86" d="100"/>
      </p:scale>
      <p:origin x="0" y="0"/>
    </p:cViewPr>
  </p:sorterViewPr>
  <p:notesViewPr>
    <p:cSldViewPr snapToGrid="0" snapToObjects="1">
      <p:cViewPr varScale="1">
        <p:scale>
          <a:sx n="87" d="100"/>
          <a:sy n="87" d="100"/>
        </p:scale>
        <p:origin x="3712"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4D9FB6-F063-5E4C-8E15-DE2BAD5FDB90}" type="datetimeFigureOut">
              <a:rPr lang="en-US" smtClean="0"/>
              <a:t>1/19/2023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41F17-4160-ED44-996C-2E44614DC808}" type="slidenum">
              <a:rPr lang="en-US" smtClean="0"/>
              <a:t>‹#›</a:t>
            </a:fld>
            <a:endParaRPr lang="en-US"/>
          </a:p>
        </p:txBody>
      </p:sp>
    </p:spTree>
    <p:extLst>
      <p:ext uri="{BB962C8B-B14F-4D97-AF65-F5344CB8AC3E}">
        <p14:creationId xmlns:p14="http://schemas.microsoft.com/office/powerpoint/2010/main" val="3309279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ogo Orang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97455533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112244762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Titl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78841678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230833486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Title Whit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404446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Title Orange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Text Placeholder 7">
            <a:extLst>
              <a:ext uri="{FF2B5EF4-FFF2-40B4-BE49-F238E27FC236}">
                <a16:creationId xmlns:a16="http://schemas.microsoft.com/office/drawing/2014/main" id="{1697E121-414A-B041-84FF-D45B6A776BBE}"/>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38975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None/>
              <a:defRPr sz="1600" b="0" i="0">
                <a:solidFill>
                  <a:schemeClr val="tx1"/>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Box 9">
            <a:extLst>
              <a:ext uri="{FF2B5EF4-FFF2-40B4-BE49-F238E27FC236}">
                <a16:creationId xmlns:a16="http://schemas.microsoft.com/office/drawing/2014/main" id="{EA75C81F-C2D7-4910-B46D-EC92D077352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Calibri" panose="020F0502020204030204"/>
                <a:ea typeface="+mn-ea"/>
                <a:cs typeface="+mn-cs"/>
              </a:rPr>
              <a:t>©2021 ExlService Holdings, Inc. All rights reserved.</a:t>
            </a:r>
          </a:p>
        </p:txBody>
      </p:sp>
      <p:sp>
        <p:nvSpPr>
          <p:cNvPr id="11" name="TextBox 10">
            <a:extLst>
              <a:ext uri="{FF2B5EF4-FFF2-40B4-BE49-F238E27FC236}">
                <a16:creationId xmlns:a16="http://schemas.microsoft.com/office/drawing/2014/main" id="{9D81566A-1DAD-49E2-BC82-21F0253CB5D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1"/>
                </a:solidFill>
              </a:rPr>
              <a:t>‹#›</a:t>
            </a:fld>
            <a:endParaRPr lang="en-US" sz="800" dirty="0">
              <a:solidFill>
                <a:schemeClr val="tx1"/>
              </a:solidFill>
            </a:endParaRPr>
          </a:p>
        </p:txBody>
      </p:sp>
    </p:spTree>
    <p:extLst>
      <p:ext uri="{BB962C8B-B14F-4D97-AF65-F5344CB8AC3E}">
        <p14:creationId xmlns:p14="http://schemas.microsoft.com/office/powerpoint/2010/main" val="2961430077"/>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2" name="TextBox 11">
            <a:extLst>
              <a:ext uri="{FF2B5EF4-FFF2-40B4-BE49-F238E27FC236}">
                <a16:creationId xmlns:a16="http://schemas.microsoft.com/office/drawing/2014/main" id="{47D5B062-E019-463E-A9D7-BDD5C9740073}"/>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23" name="TextBox 22">
            <a:extLst>
              <a:ext uri="{FF2B5EF4-FFF2-40B4-BE49-F238E27FC236}">
                <a16:creationId xmlns:a16="http://schemas.microsoft.com/office/drawing/2014/main" id="{E0FA6A89-2F6E-48F8-8181-1A8E7FE1C38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689535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Title Orange Triangl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78208728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Orange Triangles">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4073269"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58633056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itle Orange Equal">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1898373"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9505483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Orange Equal">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9" name="Group 8">
            <a:extLst>
              <a:ext uri="{FF2B5EF4-FFF2-40B4-BE49-F238E27FC236}">
                <a16:creationId xmlns:a16="http://schemas.microsoft.com/office/drawing/2014/main" id="{E24079B7-DED0-A141-996D-10B033A8EF11}"/>
              </a:ext>
            </a:extLst>
          </p:cNvPr>
          <p:cNvGrpSpPr/>
          <p:nvPr userDrawn="1"/>
        </p:nvGrpSpPr>
        <p:grpSpPr>
          <a:xfrm>
            <a:off x="4452728" y="1885950"/>
            <a:ext cx="3276600" cy="3086100"/>
            <a:chOff x="8458200" y="712595"/>
            <a:chExt cx="3276600" cy="3086100"/>
          </a:xfrm>
        </p:grpSpPr>
        <p:sp>
          <p:nvSpPr>
            <p:cNvPr id="10" name="Rectangle 9">
              <a:extLst>
                <a:ext uri="{FF2B5EF4-FFF2-40B4-BE49-F238E27FC236}">
                  <a16:creationId xmlns:a16="http://schemas.microsoft.com/office/drawing/2014/main" id="{4D6097F1-77CB-614C-8D9A-D22DE9EB1D4E}"/>
                </a:ext>
              </a:extLst>
            </p:cNvPr>
            <p:cNvSpPr/>
            <p:nvPr/>
          </p:nvSpPr>
          <p:spPr>
            <a:xfrm>
              <a:off x="8458200" y="7125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93C0F23-DCDB-7346-9A4D-355EC7892B7F}"/>
                </a:ext>
              </a:extLst>
            </p:cNvPr>
            <p:cNvSpPr/>
            <p:nvPr/>
          </p:nvSpPr>
          <p:spPr>
            <a:xfrm>
              <a:off x="8458200" y="2681095"/>
              <a:ext cx="3276600" cy="111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92760924"/>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Title Orange Triang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1269724"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406543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Orange Triangle">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riangle 6">
            <a:extLst>
              <a:ext uri="{FF2B5EF4-FFF2-40B4-BE49-F238E27FC236}">
                <a16:creationId xmlns:a16="http://schemas.microsoft.com/office/drawing/2014/main" id="{72E8C509-1DC7-C148-88B2-FE551A1ED0F9}"/>
              </a:ext>
            </a:extLst>
          </p:cNvPr>
          <p:cNvSpPr/>
          <p:nvPr userDrawn="1"/>
        </p:nvSpPr>
        <p:spPr>
          <a:xfrm>
            <a:off x="4038600" y="1864380"/>
            <a:ext cx="4114800" cy="31623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754303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Title Pictur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dirty="0"/>
              <a:t>Insert Picture</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574595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Orange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11277600" cy="1156792"/>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11277598"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57200"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0">
            <a:extLst>
              <a:ext uri="{FF2B5EF4-FFF2-40B4-BE49-F238E27FC236}">
                <a16:creationId xmlns:a16="http://schemas.microsoft.com/office/drawing/2014/main" id="{AC721370-A066-1746-BA51-66EDC940D61F}"/>
              </a:ext>
            </a:extLst>
          </p:cNvPr>
          <p:cNvSpPr>
            <a:spLocks noGrp="1"/>
          </p:cNvSpPr>
          <p:nvPr>
            <p:ph type="body" sz="quarter" idx="16" hasCustomPrompt="1"/>
          </p:nvPr>
        </p:nvSpPr>
        <p:spPr>
          <a:xfrm>
            <a:off x="4572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8" name="Text Placeholder 10">
            <a:extLst>
              <a:ext uri="{FF2B5EF4-FFF2-40B4-BE49-F238E27FC236}">
                <a16:creationId xmlns:a16="http://schemas.microsoft.com/office/drawing/2014/main" id="{17DBF118-A9A3-6B4A-8D6F-DCD3478E9D94}"/>
              </a:ext>
            </a:extLst>
          </p:cNvPr>
          <p:cNvSpPr>
            <a:spLocks noGrp="1"/>
          </p:cNvSpPr>
          <p:nvPr>
            <p:ph type="body" sz="quarter" idx="17" hasCustomPrompt="1"/>
          </p:nvPr>
        </p:nvSpPr>
        <p:spPr>
          <a:xfrm>
            <a:off x="5689600" y="2795955"/>
            <a:ext cx="4681538"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2" name="Text Placeholder 10">
            <a:extLst>
              <a:ext uri="{FF2B5EF4-FFF2-40B4-BE49-F238E27FC236}">
                <a16:creationId xmlns:a16="http://schemas.microsoft.com/office/drawing/2014/main" id="{8F18C260-6B13-674E-A152-F60D988656D0}"/>
              </a:ext>
            </a:extLst>
          </p:cNvPr>
          <p:cNvSpPr>
            <a:spLocks noGrp="1"/>
          </p:cNvSpPr>
          <p:nvPr>
            <p:ph type="body" sz="quarter" idx="18"/>
          </p:nvPr>
        </p:nvSpPr>
        <p:spPr>
          <a:xfrm>
            <a:off x="5678556" y="3429000"/>
            <a:ext cx="4681538" cy="2703513"/>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95834369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Sil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8F428F49-45F0-DB43-8B02-D7D8003DA045}"/>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115191549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 Sild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610404DB-54A2-CE45-953F-33A259AD37BC}"/>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66B11282-4214-3B44-B17C-9B2CB6A7899D}"/>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3" name="TextBox 12">
            <a:extLst>
              <a:ext uri="{FF2B5EF4-FFF2-40B4-BE49-F238E27FC236}">
                <a16:creationId xmlns:a16="http://schemas.microsoft.com/office/drawing/2014/main" id="{C55C2DA9-D9DA-4FFD-859C-C4DDC0FBD63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4D520528-866D-46A9-9D9E-926FBC830AD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4611582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 Subhead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111742"/>
            <a:ext cx="5075267" cy="382981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02D463CD-9D09-C54A-A67B-EFECE519AD9D}"/>
              </a:ext>
            </a:extLst>
          </p:cNvPr>
          <p:cNvSpPr>
            <a:spLocks noGrp="1"/>
          </p:cNvSpPr>
          <p:nvPr>
            <p:ph type="body" sz="quarter" idx="16" hasCustomPrompt="1"/>
          </p:nvPr>
        </p:nvSpPr>
        <p:spPr>
          <a:xfrm>
            <a:off x="4804229" y="1478697"/>
            <a:ext cx="5075266" cy="556846"/>
          </a:xfrm>
        </p:spPr>
        <p:txBody>
          <a:bodyPr>
            <a:noAutofit/>
          </a:bodyPr>
          <a:lstStyle>
            <a:lvl1pPr marL="0" indent="0">
              <a:buNone/>
              <a:defRPr sz="2000" b="1" i="0">
                <a:solidFill>
                  <a:schemeClr val="tx1"/>
                </a:solidFill>
                <a:latin typeface="Calibri" panose="020F0502020204030204" pitchFamily="34" charset="0"/>
                <a:cs typeface="Calibri" panose="020F0502020204030204" pitchFamily="34" charset="0"/>
              </a:defRPr>
            </a:lvl1pPr>
            <a:lvl2pPr marL="231775" indent="-231775">
              <a:tabLst/>
              <a:defRPr sz="1800"/>
            </a:lvl2pPr>
            <a:lvl3pPr marL="458788" indent="-227013">
              <a:tabLst/>
              <a:defRPr sz="1500"/>
            </a:lvl3pPr>
            <a:lvl4pPr marL="690563" indent="-231775">
              <a:tabLst/>
              <a:defRPr sz="1500"/>
            </a:lvl4pPr>
            <a:lvl5pPr marL="976313" indent="-212725">
              <a:tabLst/>
              <a:defRPr sz="1500"/>
            </a:lvl5pPr>
          </a:lstStyle>
          <a:p>
            <a:r>
              <a:rPr lang="en-US" dirty="0"/>
              <a:t>Click to edit Master subtitle style</a:t>
            </a:r>
          </a:p>
        </p:txBody>
      </p:sp>
      <p:sp>
        <p:nvSpPr>
          <p:cNvPr id="13" name="TextBox 12">
            <a:extLst>
              <a:ext uri="{FF2B5EF4-FFF2-40B4-BE49-F238E27FC236}">
                <a16:creationId xmlns:a16="http://schemas.microsoft.com/office/drawing/2014/main" id="{DFF13E80-427D-4B31-99DC-54B04D87F56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81070FD2-3D71-4DD5-9751-4CEB7E991C14}"/>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559488546"/>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Silde Black">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 Placeholder 10">
            <a:extLst>
              <a:ext uri="{FF2B5EF4-FFF2-40B4-BE49-F238E27FC236}">
                <a16:creationId xmlns:a16="http://schemas.microsoft.com/office/drawing/2014/main" id="{E2DB3808-ED75-B640-8FA2-DE1A46107966}"/>
              </a:ext>
            </a:extLst>
          </p:cNvPr>
          <p:cNvSpPr>
            <a:spLocks noGrp="1"/>
          </p:cNvSpPr>
          <p:nvPr>
            <p:ph type="body" sz="quarter" idx="14"/>
          </p:nvPr>
        </p:nvSpPr>
        <p:spPr>
          <a:xfrm>
            <a:off x="4804228" y="2815032"/>
            <a:ext cx="4433105" cy="3126524"/>
          </a:xfrm>
        </p:spPr>
        <p:txBody>
          <a:bodyPr>
            <a:noAutofit/>
          </a:bodyPr>
          <a:lstStyle>
            <a:lvl1pPr marL="230188" indent="-230188">
              <a:spcBef>
                <a:spcPts val="0"/>
              </a:spcBef>
              <a:spcAft>
                <a:spcPts val="400"/>
              </a:spcAft>
              <a:buFont typeface="System Font Regular"/>
              <a:buChar char="–"/>
              <a:tabLst/>
              <a:defRPr sz="1800">
                <a:latin typeface="+mj-lt"/>
              </a:defRPr>
            </a:lvl1pPr>
            <a:lvl2pPr marL="460375" indent="-223838">
              <a:spcBef>
                <a:spcPts val="0"/>
              </a:spcBef>
              <a:spcAft>
                <a:spcPts val="400"/>
              </a:spcAft>
              <a:tabLst/>
              <a:defRPr sz="18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C0AD505D-C088-41B3-B662-DFCF4530F687}"/>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3A3BA7D2-5A0E-4850-9FAF-97C28889879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6358454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ne Column Silde Orange Pictur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lvl1pPr>
          </a:lstStyle>
          <a:p>
            <a:r>
              <a:rPr lang="en-US" dirty="0"/>
              <a:t>Insert Picture</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spcBef>
                <a:spcPts val="0"/>
              </a:spcBef>
              <a:spcAft>
                <a:spcPts val="400"/>
              </a:spcAft>
              <a:buNone/>
              <a:defRPr sz="1800">
                <a:solidFill>
                  <a:schemeClr val="bg1"/>
                </a:solidFill>
                <a:latin typeface="+mj-lt"/>
              </a:defRPr>
            </a:lvl1pPr>
            <a:lvl2pPr marL="228600" indent="-222250">
              <a:spcBef>
                <a:spcPts val="0"/>
              </a:spcBef>
              <a:spcAft>
                <a:spcPts val="400"/>
              </a:spcAft>
              <a:tabLst/>
              <a:defRPr sz="1800">
                <a:solidFill>
                  <a:schemeClr val="bg1"/>
                </a:solidFill>
                <a:latin typeface="+mj-lt"/>
              </a:defRPr>
            </a:lvl2pPr>
            <a:lvl3pPr marL="519113" indent="-274638">
              <a:spcBef>
                <a:spcPts val="0"/>
              </a:spcBef>
              <a:spcAft>
                <a:spcPts val="400"/>
              </a:spcAft>
              <a:tabLst/>
              <a:defRPr sz="1800">
                <a:solidFill>
                  <a:schemeClr val="bg1"/>
                </a:solidFill>
                <a:latin typeface="+mj-lt"/>
              </a:defRPr>
            </a:lvl3pPr>
            <a:lvl4pPr marL="803275" indent="-238125">
              <a:spcBef>
                <a:spcPts val="0"/>
              </a:spcBef>
              <a:spcAft>
                <a:spcPts val="400"/>
              </a:spcAft>
              <a:tabLst/>
              <a:defRPr sz="1800">
                <a:solidFill>
                  <a:schemeClr val="bg1"/>
                </a:solidFill>
                <a:latin typeface="+mj-lt"/>
              </a:defRPr>
            </a:lvl4pPr>
            <a:lvl5pPr marL="1085850" indent="-276225">
              <a:spcBef>
                <a:spcPts val="0"/>
              </a:spcBef>
              <a:spcAft>
                <a:spcPts val="400"/>
              </a:spcAft>
              <a:tabLst/>
              <a:defRPr sz="1800">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dirty="0">
              <a:solidFill>
                <a:schemeClr val="bg1"/>
              </a:solidFill>
            </a:endParaRPr>
          </a:p>
        </p:txBody>
      </p:sp>
    </p:spTree>
    <p:extLst>
      <p:ext uri="{BB962C8B-B14F-4D97-AF65-F5344CB8AC3E}">
        <p14:creationId xmlns:p14="http://schemas.microsoft.com/office/powerpoint/2010/main" val="3211801618"/>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e Column Silde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679371" cy="445565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457200"/>
            <a:ext cx="7300912" cy="5484813"/>
          </a:xfrm>
          <a:solidFill>
            <a:schemeClr val="bg1"/>
          </a:solidFill>
        </p:spPr>
        <p:txBody>
          <a:bodyPr anchor="ctr" anchorCtr="0"/>
          <a:lstStyle>
            <a:lvl1pPr marL="0" indent="0" algn="ctr">
              <a:buNone/>
              <a:defRPr sz="1600"/>
            </a:lvl1pPr>
          </a:lstStyle>
          <a:p>
            <a:pPr lvl="0"/>
            <a:r>
              <a:rPr lang="en-US" dirty="0"/>
              <a:t>Insert infographics within this area</a:t>
            </a:r>
          </a:p>
        </p:txBody>
      </p:sp>
      <p:sp>
        <p:nvSpPr>
          <p:cNvPr id="10" name="TextBox 9">
            <a:extLst>
              <a:ext uri="{FF2B5EF4-FFF2-40B4-BE49-F238E27FC236}">
                <a16:creationId xmlns:a16="http://schemas.microsoft.com/office/drawing/2014/main" id="{694377F8-0611-4C04-821D-64832E49F22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1" name="TextBox 10">
            <a:extLst>
              <a:ext uri="{FF2B5EF4-FFF2-40B4-BE49-F238E27FC236}">
                <a16:creationId xmlns:a16="http://schemas.microsoft.com/office/drawing/2014/main" id="{C0F1C531-273E-476F-9BC2-B2A988B95F37}"/>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12550834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Column Content">
    <p:bg>
      <p:bgRef idx="1001">
        <a:schemeClr val="bg1"/>
      </p:bgRef>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57200" y="1415144"/>
            <a:ext cx="11277600" cy="4717813"/>
          </a:xfrm>
          <a:noFill/>
        </p:spPr>
        <p:txBody>
          <a:bodyPr anchor="ctr" anchorCtr="0"/>
          <a:lstStyle>
            <a:lvl1pPr marL="0" indent="0" algn="ctr">
              <a:buNone/>
              <a:defRPr sz="1600"/>
            </a:lvl1pPr>
          </a:lstStyle>
          <a:p>
            <a:pPr lvl="0"/>
            <a:r>
              <a:rPr lang="en-US" dirty="0"/>
              <a:t>Insert infographics within this area</a:t>
            </a:r>
          </a:p>
        </p:txBody>
      </p:sp>
      <p:sp>
        <p:nvSpPr>
          <p:cNvPr id="2" name="Title 1"/>
          <p:cNvSpPr>
            <a:spLocks noGrp="1"/>
          </p:cNvSpPr>
          <p:nvPr>
            <p:ph type="ctrTitle"/>
          </p:nvPr>
        </p:nvSpPr>
        <p:spPr>
          <a:xfrm>
            <a:off x="457200" y="456744"/>
            <a:ext cx="11277600" cy="864056"/>
          </a:xfrm>
        </p:spPr>
        <p:txBody>
          <a:bodyPr anchor="t" anchorCtr="0">
            <a:noAutofit/>
          </a:bodyPr>
          <a:lstStyle>
            <a:lvl1pPr algn="l">
              <a:lnSpc>
                <a:spcPct val="80000"/>
              </a:lnSpc>
              <a:defRPr sz="32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696686" y="1626159"/>
            <a:ext cx="5399314" cy="500184"/>
          </a:xfrm>
        </p:spPr>
        <p:txBody>
          <a:bodyPr>
            <a:noAutofit/>
          </a:bodyPr>
          <a:lstStyle>
            <a:lvl1pPr marL="0" indent="0">
              <a:spcBef>
                <a:spcPts val="0"/>
              </a:spcBef>
              <a:buNone/>
              <a:defRPr sz="1400" b="1" i="0">
                <a:solidFill>
                  <a:schemeClr val="tx2"/>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0" name="TextBox 9">
            <a:extLst>
              <a:ext uri="{FF2B5EF4-FFF2-40B4-BE49-F238E27FC236}">
                <a16:creationId xmlns:a16="http://schemas.microsoft.com/office/drawing/2014/main" id="{7828FDC7-555E-42D9-AA02-C5A528DCE45D}"/>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1" name="TextBox 10">
            <a:extLst>
              <a:ext uri="{FF2B5EF4-FFF2-40B4-BE49-F238E27FC236}">
                <a16:creationId xmlns:a16="http://schemas.microsoft.com/office/drawing/2014/main" id="{D25A80C5-9717-4669-8C34-1C395391F192}"/>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897854746"/>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Orange Right">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400FEE-AF2A-4A4C-A689-68AC86084282}"/>
              </a:ext>
            </a:extLst>
          </p:cNvPr>
          <p:cNvSpPr/>
          <p:nvPr userDrawn="1"/>
        </p:nvSpPr>
        <p:spPr>
          <a:xfrm flipH="1">
            <a:off x="4433105" y="0"/>
            <a:ext cx="77588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1" name="Text Placeholder 10">
            <a:extLst>
              <a:ext uri="{FF2B5EF4-FFF2-40B4-BE49-F238E27FC236}">
                <a16:creationId xmlns:a16="http://schemas.microsoft.com/office/drawing/2014/main" id="{FEF931B3-9150-A144-A52C-51AE7E468513}"/>
              </a:ext>
            </a:extLst>
          </p:cNvPr>
          <p:cNvSpPr>
            <a:spLocks noGrp="1"/>
          </p:cNvSpPr>
          <p:nvPr>
            <p:ph type="body" sz="quarter" idx="15"/>
          </p:nvPr>
        </p:nvSpPr>
        <p:spPr>
          <a:xfrm>
            <a:off x="4887045" y="1485900"/>
            <a:ext cx="6847755" cy="4646613"/>
          </a:xfrm>
        </p:spPr>
        <p:txBody>
          <a:bodyPr/>
          <a:lstStyle>
            <a:lvl1pPr marL="0" indent="0">
              <a:spcBef>
                <a:spcPts val="0"/>
              </a:spcBef>
              <a:spcAft>
                <a:spcPts val="600"/>
              </a:spcAft>
              <a:buNone/>
              <a:defRPr>
                <a:solidFill>
                  <a:schemeClr val="bg1"/>
                </a:solidFill>
                <a:latin typeface="+mj-lt"/>
              </a:defRPr>
            </a:lvl1pPr>
            <a:lvl2pPr marL="228600" indent="-222250">
              <a:spcBef>
                <a:spcPts val="0"/>
              </a:spcBef>
              <a:spcAft>
                <a:spcPts val="600"/>
              </a:spcAft>
              <a:tabLst/>
              <a:defRPr>
                <a:solidFill>
                  <a:schemeClr val="bg1"/>
                </a:solidFill>
                <a:latin typeface="+mj-lt"/>
              </a:defRPr>
            </a:lvl2pPr>
            <a:lvl3pPr marL="519113" indent="-266700">
              <a:spcBef>
                <a:spcPts val="0"/>
              </a:spcBef>
              <a:spcAft>
                <a:spcPts val="600"/>
              </a:spcAft>
              <a:tabLst/>
              <a:defRPr>
                <a:solidFill>
                  <a:schemeClr val="bg1"/>
                </a:solidFill>
                <a:latin typeface="+mj-lt"/>
              </a:defRPr>
            </a:lvl3pPr>
            <a:lvl4pPr marL="749300" indent="-238125">
              <a:spcBef>
                <a:spcPts val="0"/>
              </a:spcBef>
              <a:spcAft>
                <a:spcPts val="600"/>
              </a:spcAft>
              <a:tabLst/>
              <a:defRPr>
                <a:solidFill>
                  <a:schemeClr val="bg1"/>
                </a:solidFill>
                <a:latin typeface="+mj-lt"/>
              </a:defRPr>
            </a:lvl4pPr>
            <a:lvl5pPr marL="1031875" indent="-274638">
              <a:spcBef>
                <a:spcPts val="0"/>
              </a:spcBef>
              <a:spcAft>
                <a:spcPts val="600"/>
              </a:spcAft>
              <a:tabLst/>
              <a:defRPr>
                <a:solidFill>
                  <a:schemeClr val="bg1"/>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810C0A52-392D-4946-BCDD-EC07BEBCAAF7}"/>
              </a:ext>
            </a:extLst>
          </p:cNvPr>
          <p:cNvSpPr>
            <a:spLocks noGrp="1"/>
          </p:cNvSpPr>
          <p:nvPr>
            <p:ph type="body" sz="quarter" idx="16"/>
          </p:nvPr>
        </p:nvSpPr>
        <p:spPr>
          <a:xfrm>
            <a:off x="457200" y="3234978"/>
            <a:ext cx="367937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0C2F21F0-7ABC-4AA6-9E11-1888D29FBD91}"/>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84C4076A-4B22-478F-8ABA-597B6DEDAF36}"/>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dirty="0">
              <a:solidFill>
                <a:schemeClr val="bg1"/>
              </a:solidFill>
            </a:endParaRPr>
          </a:p>
        </p:txBody>
      </p:sp>
    </p:spTree>
    <p:extLst>
      <p:ext uri="{BB962C8B-B14F-4D97-AF65-F5344CB8AC3E}">
        <p14:creationId xmlns:p14="http://schemas.microsoft.com/office/powerpoint/2010/main" val="2241439984"/>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ix Infographic Box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2"/>
            <a:ext cx="11277600" cy="1100959"/>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2159000"/>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13" name="TextBox 12">
            <a:extLst>
              <a:ext uri="{FF2B5EF4-FFF2-40B4-BE49-F238E27FC236}">
                <a16:creationId xmlns:a16="http://schemas.microsoft.com/office/drawing/2014/main" id="{D663F792-37B2-40DE-9910-263492A8B1F9}"/>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5" name="TextBox 14">
            <a:extLst>
              <a:ext uri="{FF2B5EF4-FFF2-40B4-BE49-F238E27FC236}">
                <a16:creationId xmlns:a16="http://schemas.microsoft.com/office/drawing/2014/main" id="{79CA41CA-50B8-41C8-9F5D-B95403A7C9CD}"/>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90650050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ix Infographic Boxes w/ heading">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58363"/>
            <a:ext cx="11277600" cy="635000"/>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5638800" cy="401483"/>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A0212F11-0FEC-0D48-98C2-450BD6561319}"/>
              </a:ext>
            </a:extLst>
          </p:cNvPr>
          <p:cNvSpPr>
            <a:spLocks noGrp="1"/>
          </p:cNvSpPr>
          <p:nvPr>
            <p:ph sz="quarter" idx="14" hasCustomPrompt="1"/>
          </p:nvPr>
        </p:nvSpPr>
        <p:spPr>
          <a:xfrm>
            <a:off x="457200"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0" name="Content Placeholder 3">
            <a:extLst>
              <a:ext uri="{FF2B5EF4-FFF2-40B4-BE49-F238E27FC236}">
                <a16:creationId xmlns:a16="http://schemas.microsoft.com/office/drawing/2014/main" id="{742E0F13-9A85-0646-BF08-9D103A90B11B}"/>
              </a:ext>
            </a:extLst>
          </p:cNvPr>
          <p:cNvSpPr>
            <a:spLocks noGrp="1"/>
          </p:cNvSpPr>
          <p:nvPr>
            <p:ph sz="quarter" idx="15" hasCustomPrompt="1"/>
          </p:nvPr>
        </p:nvSpPr>
        <p:spPr>
          <a:xfrm>
            <a:off x="4272322"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1" name="Content Placeholder 3">
            <a:extLst>
              <a:ext uri="{FF2B5EF4-FFF2-40B4-BE49-F238E27FC236}">
                <a16:creationId xmlns:a16="http://schemas.microsoft.com/office/drawing/2014/main" id="{15059411-4DD2-BF4A-B40A-09062DE7428F}"/>
              </a:ext>
            </a:extLst>
          </p:cNvPr>
          <p:cNvSpPr>
            <a:spLocks noGrp="1"/>
          </p:cNvSpPr>
          <p:nvPr>
            <p:ph sz="quarter" idx="16" hasCustomPrompt="1"/>
          </p:nvPr>
        </p:nvSpPr>
        <p:spPr>
          <a:xfrm>
            <a:off x="8087445" y="1948039"/>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2" name="Content Placeholder 3">
            <a:extLst>
              <a:ext uri="{FF2B5EF4-FFF2-40B4-BE49-F238E27FC236}">
                <a16:creationId xmlns:a16="http://schemas.microsoft.com/office/drawing/2014/main" id="{F43E6FA5-304B-6C45-B371-90C06A62E29D}"/>
              </a:ext>
            </a:extLst>
          </p:cNvPr>
          <p:cNvSpPr>
            <a:spLocks noGrp="1"/>
          </p:cNvSpPr>
          <p:nvPr>
            <p:ph sz="quarter" idx="17" hasCustomPrompt="1"/>
          </p:nvPr>
        </p:nvSpPr>
        <p:spPr>
          <a:xfrm>
            <a:off x="457200"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3" name="Content Placeholder 3">
            <a:extLst>
              <a:ext uri="{FF2B5EF4-FFF2-40B4-BE49-F238E27FC236}">
                <a16:creationId xmlns:a16="http://schemas.microsoft.com/office/drawing/2014/main" id="{2679A949-03FB-C84F-8BB4-A59204838C82}"/>
              </a:ext>
            </a:extLst>
          </p:cNvPr>
          <p:cNvSpPr>
            <a:spLocks noGrp="1"/>
          </p:cNvSpPr>
          <p:nvPr>
            <p:ph sz="quarter" idx="18" hasCustomPrompt="1"/>
          </p:nvPr>
        </p:nvSpPr>
        <p:spPr>
          <a:xfrm>
            <a:off x="4272322"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24" name="Content Placeholder 3">
            <a:extLst>
              <a:ext uri="{FF2B5EF4-FFF2-40B4-BE49-F238E27FC236}">
                <a16:creationId xmlns:a16="http://schemas.microsoft.com/office/drawing/2014/main" id="{6617106F-B15C-3C47-9852-86708E908130}"/>
              </a:ext>
            </a:extLst>
          </p:cNvPr>
          <p:cNvSpPr>
            <a:spLocks noGrp="1"/>
          </p:cNvSpPr>
          <p:nvPr>
            <p:ph sz="quarter" idx="19" hasCustomPrompt="1"/>
          </p:nvPr>
        </p:nvSpPr>
        <p:spPr>
          <a:xfrm>
            <a:off x="8087445" y="4195268"/>
            <a:ext cx="3646488" cy="1890713"/>
          </a:xfrm>
          <a:noFill/>
        </p:spPr>
        <p:txBody>
          <a:bodyPr anchor="ctr" anchorCtr="0"/>
          <a:lstStyle>
            <a:lvl1pPr marL="0" indent="0" algn="ctr">
              <a:buNone/>
              <a:defRPr sz="1200"/>
            </a:lvl1pPr>
          </a:lstStyle>
          <a:p>
            <a:pPr lvl="0"/>
            <a:r>
              <a:rPr lang="en-US" dirty="0"/>
              <a:t>Insert infographics within this area</a:t>
            </a:r>
          </a:p>
        </p:txBody>
      </p:sp>
      <p:sp>
        <p:nvSpPr>
          <p:cNvPr id="11" name="Text Placeholder 10">
            <a:extLst>
              <a:ext uri="{FF2B5EF4-FFF2-40B4-BE49-F238E27FC236}">
                <a16:creationId xmlns:a16="http://schemas.microsoft.com/office/drawing/2014/main" id="{3C84ABE0-31CF-D648-940C-63E5DA921106}"/>
              </a:ext>
            </a:extLst>
          </p:cNvPr>
          <p:cNvSpPr>
            <a:spLocks noGrp="1"/>
          </p:cNvSpPr>
          <p:nvPr>
            <p:ph type="body" sz="quarter" idx="20"/>
          </p:nvPr>
        </p:nvSpPr>
        <p:spPr>
          <a:xfrm>
            <a:off x="457201"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10">
            <a:extLst>
              <a:ext uri="{FF2B5EF4-FFF2-40B4-BE49-F238E27FC236}">
                <a16:creationId xmlns:a16="http://schemas.microsoft.com/office/drawing/2014/main" id="{CA55A367-F7E2-A24B-850F-F41F079B4DE0}"/>
              </a:ext>
            </a:extLst>
          </p:cNvPr>
          <p:cNvSpPr>
            <a:spLocks noGrp="1"/>
          </p:cNvSpPr>
          <p:nvPr>
            <p:ph type="body" sz="quarter" idx="21"/>
          </p:nvPr>
        </p:nvSpPr>
        <p:spPr>
          <a:xfrm>
            <a:off x="4272756"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5" name="Text Placeholder 10">
            <a:extLst>
              <a:ext uri="{FF2B5EF4-FFF2-40B4-BE49-F238E27FC236}">
                <a16:creationId xmlns:a16="http://schemas.microsoft.com/office/drawing/2014/main" id="{2A77CC42-5D2C-AD42-A4E0-14DCA9D6AD67}"/>
              </a:ext>
            </a:extLst>
          </p:cNvPr>
          <p:cNvSpPr>
            <a:spLocks noGrp="1"/>
          </p:cNvSpPr>
          <p:nvPr>
            <p:ph type="body" sz="quarter" idx="22"/>
          </p:nvPr>
        </p:nvSpPr>
        <p:spPr>
          <a:xfrm>
            <a:off x="8085339" y="169304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6" name="Text Placeholder 10">
            <a:extLst>
              <a:ext uri="{FF2B5EF4-FFF2-40B4-BE49-F238E27FC236}">
                <a16:creationId xmlns:a16="http://schemas.microsoft.com/office/drawing/2014/main" id="{BCF0045D-2B71-B84E-B96F-7032EFE40BF4}"/>
              </a:ext>
            </a:extLst>
          </p:cNvPr>
          <p:cNvSpPr>
            <a:spLocks noGrp="1"/>
          </p:cNvSpPr>
          <p:nvPr>
            <p:ph type="body" sz="quarter" idx="23"/>
          </p:nvPr>
        </p:nvSpPr>
        <p:spPr>
          <a:xfrm>
            <a:off x="457201"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7" name="Text Placeholder 10">
            <a:extLst>
              <a:ext uri="{FF2B5EF4-FFF2-40B4-BE49-F238E27FC236}">
                <a16:creationId xmlns:a16="http://schemas.microsoft.com/office/drawing/2014/main" id="{82BD4E58-4705-054E-8E5B-494A8A662AAD}"/>
              </a:ext>
            </a:extLst>
          </p:cNvPr>
          <p:cNvSpPr>
            <a:spLocks noGrp="1"/>
          </p:cNvSpPr>
          <p:nvPr>
            <p:ph type="body" sz="quarter" idx="24"/>
          </p:nvPr>
        </p:nvSpPr>
        <p:spPr>
          <a:xfrm>
            <a:off x="4272756"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8" name="Text Placeholder 10">
            <a:extLst>
              <a:ext uri="{FF2B5EF4-FFF2-40B4-BE49-F238E27FC236}">
                <a16:creationId xmlns:a16="http://schemas.microsoft.com/office/drawing/2014/main" id="{0B3D0F63-6E1F-044B-BE7B-F876E84AE8DD}"/>
              </a:ext>
            </a:extLst>
          </p:cNvPr>
          <p:cNvSpPr>
            <a:spLocks noGrp="1"/>
          </p:cNvSpPr>
          <p:nvPr>
            <p:ph type="body" sz="quarter" idx="25"/>
          </p:nvPr>
        </p:nvSpPr>
        <p:spPr>
          <a:xfrm>
            <a:off x="8085339" y="3945463"/>
            <a:ext cx="3646488" cy="241300"/>
          </a:xfrm>
        </p:spPr>
        <p:txBody>
          <a:bodyPr/>
          <a:lstStyle>
            <a:lvl1pPr marL="0" indent="0">
              <a:buNone/>
              <a:defRPr sz="1200" b="1" i="0">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29" name="TextBox 28">
            <a:extLst>
              <a:ext uri="{FF2B5EF4-FFF2-40B4-BE49-F238E27FC236}">
                <a16:creationId xmlns:a16="http://schemas.microsoft.com/office/drawing/2014/main" id="{BA34894E-B79F-463F-BA97-84C5F3367B2E}"/>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30" name="TextBox 29">
            <a:extLst>
              <a:ext uri="{FF2B5EF4-FFF2-40B4-BE49-F238E27FC236}">
                <a16:creationId xmlns:a16="http://schemas.microsoft.com/office/drawing/2014/main" id="{EA53703C-A54A-44E3-8138-DA5F3806C0E6}"/>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349680846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ur Column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045417"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3" name="Text Placeholder 10">
            <a:extLst>
              <a:ext uri="{FF2B5EF4-FFF2-40B4-BE49-F238E27FC236}">
                <a16:creationId xmlns:a16="http://schemas.microsoft.com/office/drawing/2014/main" id="{F03A92C8-4D21-FB40-A217-7D7F8D3397FD}"/>
              </a:ext>
            </a:extLst>
          </p:cNvPr>
          <p:cNvSpPr>
            <a:spLocks noGrp="1"/>
          </p:cNvSpPr>
          <p:nvPr>
            <p:ph type="body" sz="quarter" idx="19"/>
          </p:nvPr>
        </p:nvSpPr>
        <p:spPr>
          <a:xfrm>
            <a:off x="3872856"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0">
            <a:extLst>
              <a:ext uri="{FF2B5EF4-FFF2-40B4-BE49-F238E27FC236}">
                <a16:creationId xmlns:a16="http://schemas.microsoft.com/office/drawing/2014/main" id="{0A07D5EE-B3F8-AA44-8D0B-DEB1CD4DD75F}"/>
              </a:ext>
            </a:extLst>
          </p:cNvPr>
          <p:cNvSpPr>
            <a:spLocks noGrp="1"/>
          </p:cNvSpPr>
          <p:nvPr>
            <p:ph type="body" sz="quarter" idx="22"/>
          </p:nvPr>
        </p:nvSpPr>
        <p:spPr>
          <a:xfrm>
            <a:off x="6556421"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10">
            <a:extLst>
              <a:ext uri="{FF2B5EF4-FFF2-40B4-BE49-F238E27FC236}">
                <a16:creationId xmlns:a16="http://schemas.microsoft.com/office/drawing/2014/main" id="{45864CBC-9FA5-F041-B465-DE00482D6D11}"/>
              </a:ext>
            </a:extLst>
          </p:cNvPr>
          <p:cNvSpPr>
            <a:spLocks noGrp="1"/>
          </p:cNvSpPr>
          <p:nvPr>
            <p:ph type="body" sz="quarter" idx="23"/>
          </p:nvPr>
        </p:nvSpPr>
        <p:spPr>
          <a:xfrm>
            <a:off x="9253238" y="1483669"/>
            <a:ext cx="2481449" cy="4648844"/>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0">
            <a:extLst>
              <a:ext uri="{FF2B5EF4-FFF2-40B4-BE49-F238E27FC236}">
                <a16:creationId xmlns:a16="http://schemas.microsoft.com/office/drawing/2014/main" id="{ECE26F75-3860-3546-85F7-4E09E38C146B}"/>
              </a:ext>
            </a:extLst>
          </p:cNvPr>
          <p:cNvSpPr>
            <a:spLocks noGrp="1"/>
          </p:cNvSpPr>
          <p:nvPr>
            <p:ph type="body" sz="quarter" idx="24"/>
          </p:nvPr>
        </p:nvSpPr>
        <p:spPr>
          <a:xfrm>
            <a:off x="457200" y="3234978"/>
            <a:ext cx="3045417"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1B550B91-2530-453E-B0C0-1C5136AC7099}"/>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2" name="TextBox 11">
            <a:extLst>
              <a:ext uri="{FF2B5EF4-FFF2-40B4-BE49-F238E27FC236}">
                <a16:creationId xmlns:a16="http://schemas.microsoft.com/office/drawing/2014/main" id="{C71AE373-E197-48C8-94BB-A4EE9BCBC9FC}"/>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3270787006"/>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1" y="1485900"/>
            <a:ext cx="3006916"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8"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Text Placeholder 10">
            <a:extLst>
              <a:ext uri="{FF2B5EF4-FFF2-40B4-BE49-F238E27FC236}">
                <a16:creationId xmlns:a16="http://schemas.microsoft.com/office/drawing/2014/main" id="{136AC2DB-B5C2-3A41-A570-78C62820C2A3}"/>
              </a:ext>
            </a:extLst>
          </p:cNvPr>
          <p:cNvSpPr>
            <a:spLocks noGrp="1"/>
          </p:cNvSpPr>
          <p:nvPr>
            <p:ph type="body" sz="quarter" idx="20"/>
          </p:nvPr>
        </p:nvSpPr>
        <p:spPr>
          <a:xfrm>
            <a:off x="3872856" y="1483668"/>
            <a:ext cx="4675989" cy="4648199"/>
          </a:xfrm>
        </p:spPr>
        <p:txBody>
          <a:bodyPr>
            <a:noAutofit/>
          </a:bodyPr>
          <a:lstStyle>
            <a:lvl1pPr marL="230188" indent="-230188">
              <a:spcBef>
                <a:spcPts val="0"/>
              </a:spcBef>
              <a:spcAft>
                <a:spcPts val="400"/>
              </a:spcAft>
              <a:buFont typeface="System Font Regular"/>
              <a:buChar char="–"/>
              <a:tabLst/>
              <a:defRPr sz="1400">
                <a:latin typeface="+mj-lt"/>
              </a:defRPr>
            </a:lvl1pPr>
            <a:lvl2pPr marL="230188" indent="-230188">
              <a:spcBef>
                <a:spcPts val="0"/>
              </a:spcBef>
              <a:spcAft>
                <a:spcPts val="400"/>
              </a:spcAft>
              <a:tabLst/>
              <a:defRPr sz="1400">
                <a:solidFill>
                  <a:schemeClr val="accent3"/>
                </a:solidFill>
                <a:latin typeface="+mj-lt"/>
              </a:defRPr>
            </a:lvl2pPr>
            <a:lvl3pPr marL="460375" indent="-223838">
              <a:spcBef>
                <a:spcPts val="0"/>
              </a:spcBef>
              <a:spcAft>
                <a:spcPts val="400"/>
              </a:spcAft>
              <a:tabLst/>
              <a:defRPr sz="1400">
                <a:solidFill>
                  <a:schemeClr val="accent3"/>
                </a:solidFill>
                <a:latin typeface="+mj-lt"/>
              </a:defRPr>
            </a:lvl3pPr>
            <a:lvl4pPr marL="690563" indent="-230188">
              <a:spcBef>
                <a:spcPts val="0"/>
              </a:spcBef>
              <a:spcAft>
                <a:spcPts val="400"/>
              </a:spcAft>
              <a:tabLst/>
              <a:defRPr sz="1400">
                <a:solidFill>
                  <a:schemeClr val="accent3"/>
                </a:solidFill>
                <a:latin typeface="+mj-lt"/>
              </a:defRPr>
            </a:lvl4pPr>
            <a:lvl5pPr marL="914400" indent="-211138">
              <a:spcBef>
                <a:spcPts val="0"/>
              </a:spcBef>
              <a:spcAft>
                <a:spcPts val="400"/>
              </a:spcAft>
              <a:tabLst/>
              <a:defRPr sz="14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824F38BC-D9BA-9143-A602-F90DC3AFC8FC}"/>
              </a:ext>
            </a:extLst>
          </p:cNvPr>
          <p:cNvSpPr>
            <a:spLocks noGrp="1"/>
          </p:cNvSpPr>
          <p:nvPr>
            <p:ph type="body" sz="quarter" idx="19"/>
          </p:nvPr>
        </p:nvSpPr>
        <p:spPr>
          <a:xfrm>
            <a:off x="457201" y="3234978"/>
            <a:ext cx="3006916"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E8E9B6FA-F86E-4D68-992A-853CE5A56F6A}"/>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2" name="TextBox 11">
            <a:extLst>
              <a:ext uri="{FF2B5EF4-FFF2-40B4-BE49-F238E27FC236}">
                <a16:creationId xmlns:a16="http://schemas.microsoft.com/office/drawing/2014/main" id="{2EA6C07A-D95A-415D-9CA8-7D982B7879C7}"/>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3653565865"/>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Column w/ Pictur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85900"/>
            <a:ext cx="3192651" cy="1649186"/>
          </a:xfrm>
        </p:spPr>
        <p:txBody>
          <a:bodyPr anchor="t" anchorCtr="0">
            <a:noAutofit/>
          </a:bodyPr>
          <a:lstStyle>
            <a:lvl1pPr algn="l">
              <a:lnSpc>
                <a:spcPct val="80000"/>
              </a:lnSpc>
              <a:defRPr sz="440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F4431BF9-4DD4-B741-825E-226AABE970A3}"/>
              </a:ext>
            </a:extLst>
          </p:cNvPr>
          <p:cNvSpPr>
            <a:spLocks noGrp="1"/>
          </p:cNvSpPr>
          <p:nvPr>
            <p:ph sz="quarter" idx="17" hasCustomPrompt="1"/>
          </p:nvPr>
        </p:nvSpPr>
        <p:spPr>
          <a:xfrm>
            <a:off x="8948738" y="1484313"/>
            <a:ext cx="2786062"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cxnSp>
        <p:nvCxnSpPr>
          <p:cNvPr id="10" name="Straight Connector 9">
            <a:extLst>
              <a:ext uri="{FF2B5EF4-FFF2-40B4-BE49-F238E27FC236}">
                <a16:creationId xmlns:a16="http://schemas.microsoft.com/office/drawing/2014/main" id="{7F2620F7-0541-0B45-B341-1E1D12D1390B}"/>
              </a:ext>
            </a:extLst>
          </p:cNvPr>
          <p:cNvCxnSpPr/>
          <p:nvPr userDrawn="1"/>
        </p:nvCxnSpPr>
        <p:spPr>
          <a:xfrm>
            <a:off x="8748793" y="1483669"/>
            <a:ext cx="0" cy="464884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Content Placeholder 3">
            <a:extLst>
              <a:ext uri="{FF2B5EF4-FFF2-40B4-BE49-F238E27FC236}">
                <a16:creationId xmlns:a16="http://schemas.microsoft.com/office/drawing/2014/main" id="{8D6F557C-3C26-B547-B21C-88ADA188DD02}"/>
              </a:ext>
            </a:extLst>
          </p:cNvPr>
          <p:cNvSpPr>
            <a:spLocks noGrp="1"/>
          </p:cNvSpPr>
          <p:nvPr>
            <p:ph sz="quarter" idx="18" hasCustomPrompt="1"/>
          </p:nvPr>
        </p:nvSpPr>
        <p:spPr>
          <a:xfrm>
            <a:off x="3865293" y="1484313"/>
            <a:ext cx="4702140" cy="4648200"/>
          </a:xfrm>
        </p:spPr>
        <p:txBody>
          <a:bodyPr anchor="ctr" anchorCtr="0"/>
          <a:lstStyle>
            <a:lvl1pPr marL="0" indent="0" algn="ctr">
              <a:buNone/>
              <a:defRPr sz="1200"/>
            </a:lvl1pPr>
            <a:lvl2pPr marL="290513" indent="0">
              <a:buNone/>
              <a:defRPr/>
            </a:lvl2pPr>
            <a:lvl3pPr marL="582613" indent="0">
              <a:buNone/>
              <a:defRPr/>
            </a:lvl3pPr>
            <a:lvl4pPr marL="855663" indent="0">
              <a:buNone/>
              <a:defRPr/>
            </a:lvl4pPr>
            <a:lvl5pPr marL="1100138" indent="0">
              <a:buNone/>
              <a:defRPr/>
            </a:lvl5pPr>
          </a:lstStyle>
          <a:p>
            <a:pPr lvl="0"/>
            <a:r>
              <a:rPr lang="en-US" dirty="0"/>
              <a:t>Insert infographics within this area</a:t>
            </a:r>
          </a:p>
        </p:txBody>
      </p:sp>
      <p:sp>
        <p:nvSpPr>
          <p:cNvPr id="12" name="Text Placeholder 10">
            <a:extLst>
              <a:ext uri="{FF2B5EF4-FFF2-40B4-BE49-F238E27FC236}">
                <a16:creationId xmlns:a16="http://schemas.microsoft.com/office/drawing/2014/main" id="{6A6C5533-0E3B-4A43-98F3-7F2AE6EEEA6D}"/>
              </a:ext>
            </a:extLst>
          </p:cNvPr>
          <p:cNvSpPr>
            <a:spLocks noGrp="1"/>
          </p:cNvSpPr>
          <p:nvPr>
            <p:ph type="body" sz="quarter" idx="19"/>
          </p:nvPr>
        </p:nvSpPr>
        <p:spPr>
          <a:xfrm>
            <a:off x="457200" y="3234978"/>
            <a:ext cx="3192651" cy="289753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6C6C721A-E059-4746-AE6B-42D629A56883}"/>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4" name="TextBox 13">
            <a:extLst>
              <a:ext uri="{FF2B5EF4-FFF2-40B4-BE49-F238E27FC236}">
                <a16:creationId xmlns:a16="http://schemas.microsoft.com/office/drawing/2014/main" id="{F281F594-5190-42AB-AD7C-D99FB93A2D28}"/>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541716806"/>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w/ gray top">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1"/>
                </a:solidFill>
              </a:defRPr>
            </a:lvl1pPr>
          </a:lstStyle>
          <a:p>
            <a:r>
              <a:rPr lang="en-US" dirty="0"/>
              <a:t>Click to edit </a:t>
            </a:r>
            <a:br>
              <a:rPr lang="en-US" dirty="0"/>
            </a:br>
            <a:r>
              <a:rPr lang="en-US" dirty="0"/>
              <a:t>Master </a:t>
            </a:r>
            <a:br>
              <a:rPr lang="en-US" dirty="0"/>
            </a:br>
            <a:r>
              <a:rPr lang="en-US" dirty="0"/>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387475"/>
            <a:ext cx="3549650" cy="636534"/>
          </a:xfrm>
        </p:spPr>
        <p:txBody>
          <a:bodyPr/>
          <a:lstStyle>
            <a:lvl1pPr marL="0" indent="0">
              <a:buNone/>
              <a:defRPr sz="4400">
                <a:solidFill>
                  <a:schemeClr val="tx1"/>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085654"/>
            <a:ext cx="3549650" cy="447525"/>
          </a:xfrm>
        </p:spPr>
        <p:txBody>
          <a:bodyPr/>
          <a:lstStyle>
            <a:lvl1pPr marL="0" indent="0">
              <a:spcBef>
                <a:spcPts val="0"/>
              </a:spcBef>
              <a:spcAft>
                <a:spcPts val="0"/>
              </a:spcAft>
              <a:buNone/>
              <a:defRPr sz="1500" b="0" i="0">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54665069"/>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Slide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bg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0" name="Picture 9">
            <a:extLst>
              <a:ext uri="{FF2B5EF4-FFF2-40B4-BE49-F238E27FC236}">
                <a16:creationId xmlns:a16="http://schemas.microsoft.com/office/drawing/2014/main" id="{019F8FE3-FF5A-624D-A591-97864EAB295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Box 10">
            <a:extLst>
              <a:ext uri="{FF2B5EF4-FFF2-40B4-BE49-F238E27FC236}">
                <a16:creationId xmlns:a16="http://schemas.microsoft.com/office/drawing/2014/main" id="{2EA6BAC3-AE5A-4922-A5FE-F7032937A26F}"/>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BBC54CAA-7A11-48BC-8EDA-78F72CD7A8AF}"/>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dirty="0">
              <a:solidFill>
                <a:schemeClr val="bg1"/>
              </a:solidFill>
            </a:endParaRPr>
          </a:p>
        </p:txBody>
      </p:sp>
    </p:spTree>
    <p:extLst>
      <p:ext uri="{BB962C8B-B14F-4D97-AF65-F5344CB8AC3E}">
        <p14:creationId xmlns:p14="http://schemas.microsoft.com/office/powerpoint/2010/main" val="3723896397"/>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232900"/>
            <a:ext cx="11277600" cy="4708656"/>
          </a:xfrm>
        </p:spPr>
        <p:txBody>
          <a:bodyPr anchor="ctr" anchorCtr="0">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9DDEEA63-7DE6-284F-9F05-D9A33CE7D84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Box 6">
            <a:extLst>
              <a:ext uri="{FF2B5EF4-FFF2-40B4-BE49-F238E27FC236}">
                <a16:creationId xmlns:a16="http://schemas.microsoft.com/office/drawing/2014/main" id="{5699775A-B4A8-402C-8B62-11EC3809FD4E}"/>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0" name="TextBox 9">
            <a:extLst>
              <a:ext uri="{FF2B5EF4-FFF2-40B4-BE49-F238E27FC236}">
                <a16:creationId xmlns:a16="http://schemas.microsoft.com/office/drawing/2014/main" id="{204F0CFA-EE8B-45EF-ACB1-2C508059A024}"/>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8074726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ne Column Twe Picture Boxes">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309118" y="1485900"/>
            <a:ext cx="3849205" cy="3572061"/>
          </a:xfrm>
          <a:solidFill>
            <a:schemeClr val="accent6"/>
          </a:solidFill>
        </p:spPr>
        <p:txBody>
          <a:bodyPr anchor="ctr" anchorCtr="0"/>
          <a:lstStyle>
            <a:lvl1pPr marL="0" indent="0" algn="ctr">
              <a:buNone/>
              <a:defRPr sz="1500"/>
            </a:lvl1pPr>
          </a:lstStyle>
          <a:p>
            <a:r>
              <a:rPr lang="en-US" dirty="0"/>
              <a:t>Insert Picture</a:t>
            </a:r>
          </a:p>
        </p:txBody>
      </p:sp>
      <p:sp>
        <p:nvSpPr>
          <p:cNvPr id="2" name="Title 1"/>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308475"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6" y="1485900"/>
            <a:ext cx="3849205" cy="3572061"/>
          </a:xfrm>
          <a:solidFill>
            <a:schemeClr val="accent6"/>
          </a:solidFill>
        </p:spPr>
        <p:txBody>
          <a:bodyPr anchor="ctr" anchorCtr="0"/>
          <a:lstStyle>
            <a:lvl1pPr marL="0" indent="0" algn="ctr">
              <a:buNone/>
              <a:defRPr sz="1500"/>
            </a:lvl1pPr>
          </a:lstStyle>
          <a:p>
            <a:r>
              <a:rPr lang="en-US" dirty="0"/>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170489"/>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5" name="Text Placeholder 10">
            <a:extLst>
              <a:ext uri="{FF2B5EF4-FFF2-40B4-BE49-F238E27FC236}">
                <a16:creationId xmlns:a16="http://schemas.microsoft.com/office/drawing/2014/main" id="{6C2F399F-28D4-9E43-B164-5A6B7AA1442D}"/>
              </a:ext>
            </a:extLst>
          </p:cNvPr>
          <p:cNvSpPr>
            <a:spLocks noGrp="1"/>
          </p:cNvSpPr>
          <p:nvPr>
            <p:ph type="body" sz="quarter" idx="19"/>
          </p:nvPr>
        </p:nvSpPr>
        <p:spPr>
          <a:xfrm>
            <a:off x="457200" y="3234978"/>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230188" indent="-230188">
              <a:spcBef>
                <a:spcPts val="0"/>
              </a:spcBef>
              <a:spcAft>
                <a:spcPts val="400"/>
              </a:spcAft>
              <a:tabLst/>
              <a:defRPr sz="1500">
                <a:solidFill>
                  <a:schemeClr val="accent3"/>
                </a:solidFill>
                <a:latin typeface="+mj-lt"/>
              </a:defRPr>
            </a:lvl2pPr>
            <a:lvl3pPr marL="460375" indent="-223838">
              <a:spcBef>
                <a:spcPts val="0"/>
              </a:spcBef>
              <a:spcAft>
                <a:spcPts val="400"/>
              </a:spcAft>
              <a:tabLst/>
              <a:defRPr sz="1500">
                <a:solidFill>
                  <a:schemeClr val="accent3"/>
                </a:solidFill>
                <a:latin typeface="+mj-lt"/>
              </a:defRPr>
            </a:lvl3pPr>
            <a:lvl4pPr marL="690563" indent="-230188">
              <a:spcBef>
                <a:spcPts val="0"/>
              </a:spcBef>
              <a:spcAft>
                <a:spcPts val="400"/>
              </a:spcAft>
              <a:tabLst/>
              <a:defRPr sz="1500">
                <a:solidFill>
                  <a:schemeClr val="accent3"/>
                </a:solidFill>
                <a:latin typeface="+mj-lt"/>
              </a:defRPr>
            </a:lvl4pPr>
            <a:lvl5pPr marL="914400"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8A1D0406-CCAB-4DC1-A3C0-510BDC9622FF}"/>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7" name="TextBox 16">
            <a:extLst>
              <a:ext uri="{FF2B5EF4-FFF2-40B4-BE49-F238E27FC236}">
                <a16:creationId xmlns:a16="http://schemas.microsoft.com/office/drawing/2014/main" id="{BA7FAE1C-267D-48D6-A326-B3BD8504622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04814806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ne Column Infographic Box">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485900"/>
            <a:ext cx="7300912" cy="4456113"/>
          </a:xfrm>
          <a:noFill/>
        </p:spPr>
        <p:txBody>
          <a:bodyPr anchor="ctr" anchorCtr="0"/>
          <a:lstStyle>
            <a:lvl1pPr marL="0" indent="0" algn="ctr">
              <a:buNone/>
              <a:defRPr sz="1600"/>
            </a:lvl1pPr>
          </a:lstStyle>
          <a:p>
            <a:pPr lvl="0"/>
            <a:r>
              <a:rPr lang="en-US" dirty="0"/>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485900"/>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3234978"/>
            <a:ext cx="3667742" cy="1822983"/>
          </a:xfrm>
        </p:spPr>
        <p:txBody>
          <a:bodyPr>
            <a:noAutofit/>
          </a:bodyPr>
          <a:lstStyle>
            <a:lvl1pPr marL="230188" indent="-230188">
              <a:spcBef>
                <a:spcPts val="0"/>
              </a:spcBef>
              <a:spcAft>
                <a:spcPts val="400"/>
              </a:spcAft>
              <a:buFont typeface="System Font Regular"/>
              <a:buChar char="–"/>
              <a:tabLst/>
              <a:defRPr sz="1500">
                <a:latin typeface="+mj-lt"/>
              </a:defRPr>
            </a:lvl1pPr>
            <a:lvl2pPr marL="460375" indent="-223838">
              <a:spcBef>
                <a:spcPts val="0"/>
              </a:spcBef>
              <a:spcAft>
                <a:spcPts val="400"/>
              </a:spcAft>
              <a:tabLst/>
              <a:defRPr sz="1500">
                <a:solidFill>
                  <a:schemeClr val="accent3"/>
                </a:solidFill>
                <a:latin typeface="+mj-lt"/>
              </a:defRPr>
            </a:lvl2pPr>
            <a:lvl3pPr marL="690563" indent="-223838">
              <a:spcBef>
                <a:spcPts val="0"/>
              </a:spcBef>
              <a:spcAft>
                <a:spcPts val="400"/>
              </a:spcAft>
              <a:tabLst/>
              <a:defRPr sz="1500">
                <a:solidFill>
                  <a:schemeClr val="accent3"/>
                </a:solidFill>
                <a:latin typeface="+mj-lt"/>
              </a:defRPr>
            </a:lvl3pPr>
            <a:lvl4pPr marL="914400" indent="-230188">
              <a:spcBef>
                <a:spcPts val="0"/>
              </a:spcBef>
              <a:spcAft>
                <a:spcPts val="400"/>
              </a:spcAft>
              <a:tabLst/>
              <a:defRPr sz="1500">
                <a:solidFill>
                  <a:schemeClr val="accent3"/>
                </a:solidFill>
                <a:latin typeface="+mj-lt"/>
              </a:defRPr>
            </a:lvl4pPr>
            <a:lvl5pPr marL="1144588" indent="-211138">
              <a:spcBef>
                <a:spcPts val="0"/>
              </a:spcBef>
              <a:spcAft>
                <a:spcPts val="400"/>
              </a:spcAft>
              <a:tabLst/>
              <a:defRPr sz="1500">
                <a:solidFill>
                  <a:schemeClr val="accent3"/>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9665918"/>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Picture Boxes Slide">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57200" y="2214542"/>
            <a:ext cx="7701124" cy="3488834"/>
          </a:xfrm>
          <a:solidFill>
            <a:schemeClr val="accent6"/>
          </a:solidFill>
        </p:spPr>
        <p:txBody>
          <a:bodyPr anchor="ctr" anchorCtr="0"/>
          <a:lstStyle>
            <a:lvl1pPr marL="0" indent="0" algn="ctr">
              <a:buNone/>
              <a:defRPr sz="1500"/>
            </a:lvl1pPr>
          </a:lstStyle>
          <a:p>
            <a:r>
              <a:rPr lang="en-US" dirty="0"/>
              <a:t>Insert Picture</a:t>
            </a:r>
          </a:p>
        </p:txBody>
      </p:sp>
      <p:sp>
        <p:nvSpPr>
          <p:cNvPr id="2" name="Title 1"/>
          <p:cNvSpPr>
            <a:spLocks noGrp="1"/>
          </p:cNvSpPr>
          <p:nvPr>
            <p:ph type="ctrTitle"/>
          </p:nvPr>
        </p:nvSpPr>
        <p:spPr>
          <a:xfrm>
            <a:off x="457199" y="1485900"/>
            <a:ext cx="7700963" cy="728642"/>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spcBef>
                <a:spcPts val="0"/>
              </a:spcBef>
              <a:buNone/>
              <a:defRPr sz="1400" b="1" i="0">
                <a:solidFill>
                  <a:schemeClr val="tx1"/>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2" name="Picture 11">
            <a:extLst>
              <a:ext uri="{FF2B5EF4-FFF2-40B4-BE49-F238E27FC236}">
                <a16:creationId xmlns:a16="http://schemas.microsoft.com/office/drawing/2014/main" id="{82DC73AC-0C8F-B04D-AA36-CBBE938369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7" name="Text Placeholder 6">
            <a:extLst>
              <a:ext uri="{FF2B5EF4-FFF2-40B4-BE49-F238E27FC236}">
                <a16:creationId xmlns:a16="http://schemas.microsoft.com/office/drawing/2014/main" id="{755F2D2C-2732-3F46-8B67-8714402C7FF4}"/>
              </a:ext>
            </a:extLst>
          </p:cNvPr>
          <p:cNvSpPr>
            <a:spLocks noGrp="1"/>
          </p:cNvSpPr>
          <p:nvPr>
            <p:ph type="body" sz="quarter" idx="16"/>
          </p:nvPr>
        </p:nvSpPr>
        <p:spPr>
          <a:xfrm>
            <a:off x="457200" y="5841830"/>
            <a:ext cx="7700963"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3" name="Picture Placeholder 3">
            <a:extLst>
              <a:ext uri="{FF2B5EF4-FFF2-40B4-BE49-F238E27FC236}">
                <a16:creationId xmlns:a16="http://schemas.microsoft.com/office/drawing/2014/main" id="{B04BC302-BF6F-9F4A-B866-30F63178BDC2}"/>
              </a:ext>
            </a:extLst>
          </p:cNvPr>
          <p:cNvSpPr>
            <a:spLocks noGrp="1"/>
          </p:cNvSpPr>
          <p:nvPr>
            <p:ph type="pic" sz="quarter" idx="17" hasCustomPrompt="1"/>
          </p:nvPr>
        </p:nvSpPr>
        <p:spPr>
          <a:xfrm>
            <a:off x="8341856" y="2214542"/>
            <a:ext cx="3849205" cy="3488834"/>
          </a:xfrm>
          <a:solidFill>
            <a:schemeClr val="accent6"/>
          </a:solidFill>
        </p:spPr>
        <p:txBody>
          <a:bodyPr anchor="ctr" anchorCtr="0"/>
          <a:lstStyle>
            <a:lvl1pPr marL="0" indent="0" algn="ctr">
              <a:buNone/>
              <a:defRPr sz="1500"/>
            </a:lvl1pPr>
          </a:lstStyle>
          <a:p>
            <a:r>
              <a:rPr lang="en-US" dirty="0"/>
              <a:t>Insert Picture</a:t>
            </a:r>
          </a:p>
        </p:txBody>
      </p:sp>
      <p:sp>
        <p:nvSpPr>
          <p:cNvPr id="14" name="Text Placeholder 6">
            <a:extLst>
              <a:ext uri="{FF2B5EF4-FFF2-40B4-BE49-F238E27FC236}">
                <a16:creationId xmlns:a16="http://schemas.microsoft.com/office/drawing/2014/main" id="{862EB926-2F74-D64F-A4CD-EC5E10070E64}"/>
              </a:ext>
            </a:extLst>
          </p:cNvPr>
          <p:cNvSpPr>
            <a:spLocks noGrp="1"/>
          </p:cNvSpPr>
          <p:nvPr>
            <p:ph type="body" sz="quarter" idx="18"/>
          </p:nvPr>
        </p:nvSpPr>
        <p:spPr>
          <a:xfrm>
            <a:off x="8341213" y="5841830"/>
            <a:ext cx="3849688" cy="245574"/>
          </a:xfrm>
        </p:spPr>
        <p:txBody>
          <a:bodyPr/>
          <a:lstStyle>
            <a:lvl1pPr marL="0" indent="0">
              <a:buNone/>
              <a:defRPr sz="1200" b="0" i="0">
                <a:latin typeface="+mj-lt"/>
                <a:cs typeface="Calibri" panose="020F0502020204030204" pitchFamily="34" charset="0"/>
              </a:defRPr>
            </a:lvl1pPr>
            <a:lvl2pPr marL="290513" indent="0">
              <a:buNone/>
              <a:defRPr sz="1200"/>
            </a:lvl2pPr>
            <a:lvl3pPr marL="582613" indent="0">
              <a:buNone/>
              <a:defRPr sz="1200"/>
            </a:lvl3pPr>
            <a:lvl4pPr marL="855663" indent="0">
              <a:buNone/>
              <a:defRPr sz="1200"/>
            </a:lvl4pPr>
            <a:lvl5pPr marL="1100138" indent="0">
              <a:buNone/>
              <a:defRPr sz="1200"/>
            </a:lvl5pPr>
          </a:lstStyle>
          <a:p>
            <a:pPr lvl="0"/>
            <a:r>
              <a:rPr lang="en-US"/>
              <a:t>Edit Master text styles</a:t>
            </a:r>
          </a:p>
        </p:txBody>
      </p:sp>
      <p:sp>
        <p:nvSpPr>
          <p:cNvPr id="16" name="Text Placeholder 15">
            <a:extLst>
              <a:ext uri="{FF2B5EF4-FFF2-40B4-BE49-F238E27FC236}">
                <a16:creationId xmlns:a16="http://schemas.microsoft.com/office/drawing/2014/main" id="{C3C935CB-FC55-5340-B422-F68ABAB4969C}"/>
              </a:ext>
            </a:extLst>
          </p:cNvPr>
          <p:cNvSpPr>
            <a:spLocks noGrp="1"/>
          </p:cNvSpPr>
          <p:nvPr>
            <p:ph type="body" sz="quarter" idx="19"/>
          </p:nvPr>
        </p:nvSpPr>
        <p:spPr>
          <a:xfrm>
            <a:off x="8340725" y="1485900"/>
            <a:ext cx="3394075" cy="614363"/>
          </a:xfrm>
        </p:spPr>
        <p:txBody>
          <a:bodyPr/>
          <a:lstStyle>
            <a:lvl1pPr marL="0" indent="0">
              <a:spcBef>
                <a:spcPts val="0"/>
              </a:spcBef>
              <a:buNone/>
              <a:defRPr sz="1500">
                <a:latin typeface="+mj-lt"/>
              </a:defRPr>
            </a:lvl1pPr>
            <a:lvl2pPr marL="290513" indent="0">
              <a:spcBef>
                <a:spcPts val="0"/>
              </a:spcBef>
              <a:buNone/>
              <a:defRPr sz="1500">
                <a:latin typeface="+mj-lt"/>
              </a:defRPr>
            </a:lvl2pPr>
            <a:lvl3pPr marL="582613" indent="0">
              <a:spcBef>
                <a:spcPts val="0"/>
              </a:spcBef>
              <a:buNone/>
              <a:defRPr sz="1500">
                <a:latin typeface="+mj-lt"/>
              </a:defRPr>
            </a:lvl3pPr>
            <a:lvl4pPr marL="855663" indent="0">
              <a:spcBef>
                <a:spcPts val="0"/>
              </a:spcBef>
              <a:buNone/>
              <a:defRPr sz="1500">
                <a:latin typeface="+mj-lt"/>
              </a:defRPr>
            </a:lvl4pPr>
            <a:lvl5pPr marL="1100138" indent="0">
              <a:spcBef>
                <a:spcPts val="0"/>
              </a:spcBef>
              <a:buNone/>
              <a:defRPr sz="1500">
                <a:latin typeface="+mj-lt"/>
              </a:defRPr>
            </a:lvl5pPr>
          </a:lstStyle>
          <a:p>
            <a:pPr lvl="0"/>
            <a:r>
              <a:rPr lang="en-US"/>
              <a:t>Edit Master text styles</a:t>
            </a:r>
          </a:p>
        </p:txBody>
      </p:sp>
      <p:sp>
        <p:nvSpPr>
          <p:cNvPr id="15" name="TextBox 14">
            <a:extLst>
              <a:ext uri="{FF2B5EF4-FFF2-40B4-BE49-F238E27FC236}">
                <a16:creationId xmlns:a16="http://schemas.microsoft.com/office/drawing/2014/main" id="{E455CA8D-D85C-4F87-A72B-E505E8448094}"/>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©2021 ExlService Holdings, Inc. All rights reserved.</a:t>
            </a:r>
          </a:p>
        </p:txBody>
      </p:sp>
      <p:sp>
        <p:nvSpPr>
          <p:cNvPr id="17" name="TextBox 16">
            <a:extLst>
              <a:ext uri="{FF2B5EF4-FFF2-40B4-BE49-F238E27FC236}">
                <a16:creationId xmlns:a16="http://schemas.microsoft.com/office/drawing/2014/main" id="{C917C56B-37CB-4D76-AF28-BE94C7A1A020}"/>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86073174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nd Slide Oran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6"/>
            <a:ext cx="11277600" cy="3447288"/>
          </a:xfrm>
        </p:spPr>
        <p:txBody>
          <a:bodyPr anchor="ctr" anchorCtr="0">
            <a:noAutofit/>
          </a:bodyPr>
          <a:lstStyle>
            <a:lvl1pPr algn="l">
              <a:lnSpc>
                <a:spcPct val="80000"/>
              </a:lnSpc>
              <a:defRPr sz="8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821754888"/>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nd Slide Whit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05356"/>
            <a:ext cx="11277600" cy="3447288"/>
          </a:xfrm>
        </p:spPr>
        <p:txBody>
          <a:bodyPr anchor="ctr" anchorCtr="0">
            <a:noAutofit/>
          </a:bodyPr>
          <a:lstStyle>
            <a:lvl1pPr algn="l">
              <a:lnSpc>
                <a:spcPct val="80000"/>
              </a:lnSpc>
              <a:defRPr sz="8800">
                <a:solidFill>
                  <a:schemeClr val="tx2"/>
                </a:solidFill>
              </a:defRPr>
            </a:lvl1pPr>
          </a:lstStyle>
          <a:p>
            <a:r>
              <a:rPr lang="en-US"/>
              <a:t>Click to edit Master title style</a:t>
            </a:r>
            <a:endParaRPr lang="en-US" dirty="0"/>
          </a:p>
        </p:txBody>
      </p:sp>
      <p:pic>
        <p:nvPicPr>
          <p:cNvPr id="4" name="Picture 3">
            <a:extLst>
              <a:ext uri="{FF2B5EF4-FFF2-40B4-BE49-F238E27FC236}">
                <a16:creationId xmlns:a16="http://schemas.microsoft.com/office/drawing/2014/main" id="{3134B387-8E5D-BC42-B9C5-15885C27AF8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9873797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157351471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act Slide Orang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23782669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1/19/2023</a:t>
            </a:fld>
            <a:endParaRPr lang="en-US" dirty="0"/>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dirty="0"/>
              <a:t>©2021 ExlService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253740380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61" r:id="rId3"/>
    <p:sldLayoutId id="2147483675"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717" r:id="rId15"/>
    <p:sldLayoutId id="2147483688" r:id="rId16"/>
    <p:sldLayoutId id="2147483689" r:id="rId17"/>
    <p:sldLayoutId id="2147483690" r:id="rId18"/>
    <p:sldLayoutId id="2147483700" r:id="rId19"/>
    <p:sldLayoutId id="2147483718" r:id="rId20"/>
    <p:sldLayoutId id="2147483701" r:id="rId21"/>
    <p:sldLayoutId id="2147483691" r:id="rId22"/>
    <p:sldLayoutId id="2147483692" r:id="rId23"/>
    <p:sldLayoutId id="2147483693" r:id="rId24"/>
    <p:sldLayoutId id="2147483694" r:id="rId25"/>
    <p:sldLayoutId id="2147483695" r:id="rId26"/>
    <p:sldLayoutId id="2147483696" r:id="rId27"/>
    <p:sldLayoutId id="2147483697" r:id="rId28"/>
    <p:sldLayoutId id="2147483698" r:id="rId29"/>
    <p:sldLayoutId id="2147483699" r:id="rId30"/>
    <p:sldLayoutId id="2147483702" r:id="rId31"/>
    <p:sldLayoutId id="2147483703" r:id="rId32"/>
    <p:sldLayoutId id="2147483704" r:id="rId33"/>
    <p:sldLayoutId id="2147483705" r:id="rId34"/>
    <p:sldLayoutId id="2147483706" r:id="rId35"/>
    <p:sldLayoutId id="2147483707" r:id="rId36"/>
    <p:sldLayoutId id="2147483708" r:id="rId37"/>
    <p:sldLayoutId id="2147483709" r:id="rId38"/>
    <p:sldLayoutId id="2147483710" r:id="rId39"/>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1"/>
        </a:buClr>
        <a:buFont typeface="System Font Regular"/>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88" userDrawn="1">
          <p15:clr>
            <a:srgbClr val="F26B43"/>
          </p15:clr>
        </p15:guide>
        <p15:guide id="4" pos="7392" userDrawn="1">
          <p15:clr>
            <a:srgbClr val="F26B43"/>
          </p15:clr>
        </p15:guide>
        <p15:guide id="5" orient="horz" pos="4128" userDrawn="1">
          <p15:clr>
            <a:srgbClr val="F26B43"/>
          </p15:clr>
        </p15:guide>
        <p15:guide id="6"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hyperlink" Target="https://adb-331598745517831.11.azuredatabricks.net/?o=331598745517831#notebook/1026024532125696" TargetMode="Externa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8.xml"/><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8.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hyperlink" Target="https://adb-331598745517831.11.azuredatabricks.net/?o=331598745517831#notebook/1026024532125696" TargetMode="Externa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8.xml"/><Relationship Id="rId4" Type="http://schemas.openxmlformats.org/officeDocument/2006/relationships/image" Target="../media/image17.emf"/></Relationships>
</file>

<file path=ppt/slides/_rels/slide1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8.xml"/><Relationship Id="rId4" Type="http://schemas.openxmlformats.org/officeDocument/2006/relationships/image" Target="../media/image20.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hyperlink" Target="https://adb-331598745517831.11.azuredatabricks.net/?o=331598745517831#notebook/1026024532125696" TargetMode="Externa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8.xml"/><Relationship Id="rId4" Type="http://schemas.openxmlformats.org/officeDocument/2006/relationships/image" Target="../media/image21.emf"/></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8.xml"/><Relationship Id="rId4" Type="http://schemas.openxmlformats.org/officeDocument/2006/relationships/image" Target="../media/image22.emf"/></Relationships>
</file>

<file path=ppt/slides/_rels/slide21.xml.rels><?xml version="1.0" encoding="UTF-8" standalone="yes"?>
<Relationships xmlns="http://schemas.openxmlformats.org/package/2006/relationships"><Relationship Id="rId2" Type="http://schemas.openxmlformats.org/officeDocument/2006/relationships/hyperlink" Target="https://adb-331598745517831.11.azuredatabricks.net/?o=331598745517831#notebook/4235278528037155" TargetMode="Externa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hyperlink" Target="https://adb-331598745517831.11.azuredatabricks.net/?o=331598745517831#notebook/4235278528037155" TargetMode="Externa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8.xml"/><Relationship Id="rId6" Type="http://schemas.microsoft.com/office/2007/relationships/hdphoto" Target="../media/hdphoto2.wdp"/><Relationship Id="rId5" Type="http://schemas.openxmlformats.org/officeDocument/2006/relationships/image" Target="../media/image30.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8.xml"/><Relationship Id="rId6" Type="http://schemas.microsoft.com/office/2007/relationships/hdphoto" Target="../media/hdphoto2.wdp"/><Relationship Id="rId11" Type="http://schemas.microsoft.com/office/2007/relationships/hdphoto" Target="../media/hdphoto5.wdp"/><Relationship Id="rId5" Type="http://schemas.openxmlformats.org/officeDocument/2006/relationships/image" Target="../media/image30.png"/><Relationship Id="rId10" Type="http://schemas.openxmlformats.org/officeDocument/2006/relationships/image" Target="../media/image35.png"/><Relationship Id="rId4" Type="http://schemas.microsoft.com/office/2007/relationships/hdphoto" Target="../media/hdphoto1.wdp"/><Relationship Id="rId9" Type="http://schemas.microsoft.com/office/2007/relationships/hdphoto" Target="../media/hdphoto4.wdp"/></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8" Type="http://schemas.openxmlformats.org/officeDocument/2006/relationships/image" Target="../media/image37.png"/><Relationship Id="rId13" Type="http://schemas.microsoft.com/office/2007/relationships/hdphoto" Target="../media/hdphoto4.wdp"/><Relationship Id="rId3" Type="http://schemas.openxmlformats.org/officeDocument/2006/relationships/image" Target="../media/image29.png"/><Relationship Id="rId7" Type="http://schemas.openxmlformats.org/officeDocument/2006/relationships/image" Target="../media/image34.png"/><Relationship Id="rId12"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8.xml"/><Relationship Id="rId6" Type="http://schemas.microsoft.com/office/2007/relationships/hdphoto" Target="../media/hdphoto2.wdp"/><Relationship Id="rId11" Type="http://schemas.microsoft.com/office/2007/relationships/hdphoto" Target="../media/hdphoto5.wdp"/><Relationship Id="rId5" Type="http://schemas.openxmlformats.org/officeDocument/2006/relationships/image" Target="../media/image30.png"/><Relationship Id="rId10" Type="http://schemas.openxmlformats.org/officeDocument/2006/relationships/image" Target="../media/image35.png"/><Relationship Id="rId4" Type="http://schemas.microsoft.com/office/2007/relationships/hdphoto" Target="../media/hdphoto1.wdp"/><Relationship Id="rId9" Type="http://schemas.microsoft.com/office/2007/relationships/hdphoto" Target="../media/hdphoto6.wdp"/></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8.xml"/><Relationship Id="rId6" Type="http://schemas.microsoft.com/office/2007/relationships/hdphoto" Target="../media/hdphoto2.wdp"/><Relationship Id="rId11" Type="http://schemas.microsoft.com/office/2007/relationships/hdphoto" Target="../media/hdphoto8.wdp"/><Relationship Id="rId5" Type="http://schemas.openxmlformats.org/officeDocument/2006/relationships/image" Target="../media/image30.png"/><Relationship Id="rId10" Type="http://schemas.openxmlformats.org/officeDocument/2006/relationships/image" Target="../media/image39.png"/><Relationship Id="rId4" Type="http://schemas.microsoft.com/office/2007/relationships/hdphoto" Target="../media/hdphoto1.wdp"/><Relationship Id="rId9" Type="http://schemas.microsoft.com/office/2007/relationships/hdphoto" Target="../media/hdphoto5.wdp"/></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8.xml"/><Relationship Id="rId6" Type="http://schemas.microsoft.com/office/2007/relationships/hdphoto" Target="../media/hdphoto2.wdp"/><Relationship Id="rId5" Type="http://schemas.openxmlformats.org/officeDocument/2006/relationships/image" Target="../media/image30.png"/><Relationship Id="rId4" Type="http://schemas.microsoft.com/office/2007/relationships/hdphoto" Target="../media/hdphoto1.wdp"/><Relationship Id="rId9" Type="http://schemas.microsoft.com/office/2007/relationships/hdphoto" Target="../media/hdphoto8.wdp"/></Relationships>
</file>

<file path=ppt/slides/_rels/slide39.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0.png"/><Relationship Id="rId1" Type="http://schemas.openxmlformats.org/officeDocument/2006/relationships/slideLayout" Target="../slideLayouts/slideLayout8.xml"/><Relationship Id="rId5" Type="http://schemas.microsoft.com/office/2007/relationships/hdphoto" Target="../media/hdphoto10.wdp"/><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9060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19F6B331-513F-6C46-85CC-00DAE6DCC306}"/>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a:ext>
            </a:extLst>
          </a:blip>
          <a:srcRect/>
          <a:stretch/>
        </p:blipFill>
        <p:spPr/>
      </p:pic>
      <p:sp>
        <p:nvSpPr>
          <p:cNvPr id="3" name="Title 2">
            <a:extLst>
              <a:ext uri="{FF2B5EF4-FFF2-40B4-BE49-F238E27FC236}">
                <a16:creationId xmlns:a16="http://schemas.microsoft.com/office/drawing/2014/main" id="{D4D04EFA-2126-5843-8F9D-03A85E7EAA8A}"/>
              </a:ext>
            </a:extLst>
          </p:cNvPr>
          <p:cNvSpPr>
            <a:spLocks noGrp="1"/>
          </p:cNvSpPr>
          <p:nvPr>
            <p:ph type="ctrTitle"/>
          </p:nvPr>
        </p:nvSpPr>
        <p:spPr>
          <a:xfrm>
            <a:off x="457200" y="457200"/>
            <a:ext cx="11277600" cy="4260702"/>
          </a:xfrm>
        </p:spPr>
        <p:txBody>
          <a:bodyPr/>
          <a:lstStyle/>
          <a:p>
            <a:r>
              <a:rPr lang="en-US">
                <a:solidFill>
                  <a:schemeClr val="tx1"/>
                </a:solidFill>
              </a:rPr>
              <a:t>Platform</a:t>
            </a:r>
            <a:br>
              <a:rPr lang="en-US">
                <a:solidFill>
                  <a:schemeClr val="tx1"/>
                </a:solidFill>
              </a:rPr>
            </a:br>
            <a:r>
              <a:rPr lang="en-US">
                <a:solidFill>
                  <a:schemeClr val="tx1"/>
                </a:solidFill>
              </a:rPr>
              <a:t>Process</a:t>
            </a:r>
            <a:endParaRPr lang="en-US" dirty="0">
              <a:solidFill>
                <a:schemeClr val="tx1"/>
              </a:solidFill>
            </a:endParaRPr>
          </a:p>
        </p:txBody>
      </p:sp>
      <p:sp>
        <p:nvSpPr>
          <p:cNvPr id="4" name="Subtitle 3">
            <a:extLst>
              <a:ext uri="{FF2B5EF4-FFF2-40B4-BE49-F238E27FC236}">
                <a16:creationId xmlns:a16="http://schemas.microsoft.com/office/drawing/2014/main" id="{2E46B3F7-CB01-444A-87CF-2B2283A98B3D}"/>
              </a:ext>
            </a:extLst>
          </p:cNvPr>
          <p:cNvSpPr>
            <a:spLocks noGrp="1"/>
          </p:cNvSpPr>
          <p:nvPr>
            <p:ph type="subTitle" idx="1"/>
          </p:nvPr>
        </p:nvSpPr>
        <p:spPr>
          <a:xfrm>
            <a:off x="457199" y="4812009"/>
            <a:ext cx="11277599" cy="583688"/>
          </a:xfrm>
        </p:spPr>
        <p:txBody>
          <a:bodyPr/>
          <a:lstStyle/>
          <a:p>
            <a:r>
              <a:rPr lang="en-US" dirty="0"/>
              <a:t>Chitransh Srivastava</a:t>
            </a:r>
          </a:p>
          <a:p>
            <a:r>
              <a:rPr lang="en-US" dirty="0"/>
              <a:t>02/Jun/2022</a:t>
            </a:r>
          </a:p>
        </p:txBody>
      </p:sp>
      <p:sp>
        <p:nvSpPr>
          <p:cNvPr id="8" name="Text Placeholder 7">
            <a:extLst>
              <a:ext uri="{FF2B5EF4-FFF2-40B4-BE49-F238E27FC236}">
                <a16:creationId xmlns:a16="http://schemas.microsoft.com/office/drawing/2014/main" id="{AC4545B4-80D4-C843-8020-34132F2ABF39}"/>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126146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FA03-9FF1-4A48-A014-255ED368AC35}"/>
              </a:ext>
            </a:extLst>
          </p:cNvPr>
          <p:cNvSpPr>
            <a:spLocks noGrp="1"/>
          </p:cNvSpPr>
          <p:nvPr>
            <p:ph type="ctrTitle"/>
          </p:nvPr>
        </p:nvSpPr>
        <p:spPr>
          <a:xfrm>
            <a:off x="457200" y="448158"/>
            <a:ext cx="11277600" cy="636059"/>
          </a:xfrm>
        </p:spPr>
        <p:txBody>
          <a:bodyPr/>
          <a:lstStyle/>
          <a:p>
            <a:r>
              <a:rPr lang="en-US" b="1" dirty="0"/>
              <a:t>Agenda</a:t>
            </a:r>
          </a:p>
        </p:txBody>
      </p:sp>
      <p:sp>
        <p:nvSpPr>
          <p:cNvPr id="3" name="Subtitle 2">
            <a:extLst>
              <a:ext uri="{FF2B5EF4-FFF2-40B4-BE49-F238E27FC236}">
                <a16:creationId xmlns:a16="http://schemas.microsoft.com/office/drawing/2014/main" id="{7A442DD2-3BFE-5E40-BB93-999D3BC3B3D8}"/>
              </a:ext>
            </a:extLst>
          </p:cNvPr>
          <p:cNvSpPr>
            <a:spLocks noGrp="1"/>
          </p:cNvSpPr>
          <p:nvPr>
            <p:ph type="subTitle" idx="1"/>
          </p:nvPr>
        </p:nvSpPr>
        <p:spPr>
          <a:xfrm>
            <a:off x="1293222" y="1439817"/>
            <a:ext cx="4127864" cy="5156926"/>
          </a:xfrm>
        </p:spPr>
        <p:txBody>
          <a:bodyPr/>
          <a:lstStyle/>
          <a:p>
            <a:pPr indent="-342900">
              <a:lnSpc>
                <a:spcPct val="100000"/>
              </a:lnSpc>
              <a:spcAft>
                <a:spcPts val="0"/>
              </a:spcAft>
              <a:buFont typeface="+mj-lt"/>
              <a:buAutoNum type="arabicPeriod"/>
            </a:pPr>
            <a:r>
              <a:rPr lang="en-US" dirty="0"/>
              <a:t>Introduction to Data Flow </a:t>
            </a:r>
          </a:p>
          <a:p>
            <a:pPr indent="-342900">
              <a:lnSpc>
                <a:spcPct val="100000"/>
              </a:lnSpc>
              <a:spcAft>
                <a:spcPts val="0"/>
              </a:spcAft>
              <a:buFont typeface="+mj-lt"/>
              <a:buAutoNum type="arabicPeriod"/>
            </a:pPr>
            <a:r>
              <a:rPr lang="en-IN" dirty="0"/>
              <a:t>Metadata Usage and Task Overlap</a:t>
            </a:r>
          </a:p>
          <a:p>
            <a:pPr indent="-342900">
              <a:lnSpc>
                <a:spcPct val="100000"/>
              </a:lnSpc>
              <a:spcAft>
                <a:spcPts val="0"/>
              </a:spcAft>
              <a:buFont typeface="+mj-lt"/>
              <a:buAutoNum type="arabicPeriod"/>
            </a:pPr>
            <a:r>
              <a:rPr lang="en-IN" dirty="0"/>
              <a:t>High Level Orchestration</a:t>
            </a:r>
            <a:endParaRPr lang="en-US" dirty="0"/>
          </a:p>
          <a:p>
            <a:pPr indent="-342900">
              <a:lnSpc>
                <a:spcPct val="100000"/>
              </a:lnSpc>
              <a:spcAft>
                <a:spcPts val="0"/>
              </a:spcAft>
              <a:buFont typeface="+mj-lt"/>
              <a:buAutoNum type="arabicPeriod"/>
            </a:pPr>
            <a:r>
              <a:rPr lang="en-IN" dirty="0"/>
              <a:t>Source to Raw </a:t>
            </a: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Processing</a:t>
            </a: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Orchestration</a:t>
            </a:r>
            <a:endParaRPr lang="en-US" dirty="0">
              <a:latin typeface="+mn-lt"/>
              <a:cs typeface="Calibri" panose="020F0502020204030204" pitchFamily="34" charset="0"/>
            </a:endParaRP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Data</a:t>
            </a:r>
            <a:endParaRPr lang="en-US" dirty="0">
              <a:latin typeface="+mn-lt"/>
              <a:cs typeface="Calibri" panose="020F0502020204030204" pitchFamily="34" charset="0"/>
            </a:endParaRP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Reconciliation</a:t>
            </a:r>
          </a:p>
          <a:p>
            <a:pPr indent="-342900">
              <a:lnSpc>
                <a:spcPct val="100000"/>
              </a:lnSpc>
              <a:spcAft>
                <a:spcPts val="0"/>
              </a:spcAft>
              <a:buFont typeface="+mj-lt"/>
              <a:buAutoNum type="arabicPeriod"/>
            </a:pPr>
            <a:r>
              <a:rPr lang="en-US" dirty="0"/>
              <a:t>Raw to Standardised</a:t>
            </a:r>
            <a:r>
              <a:rPr lang="en-IN" dirty="0"/>
              <a:t> </a:t>
            </a: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Processing</a:t>
            </a: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Orchestration</a:t>
            </a:r>
            <a:endParaRPr lang="en-US" dirty="0">
              <a:latin typeface="+mn-lt"/>
              <a:cs typeface="Calibri" panose="020F0502020204030204" pitchFamily="34" charset="0"/>
            </a:endParaRP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Data</a:t>
            </a: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Merge</a:t>
            </a:r>
            <a:endParaRPr lang="en-US" dirty="0">
              <a:latin typeface="+mn-lt"/>
              <a:cs typeface="Calibri" panose="020F0502020204030204" pitchFamily="34" charset="0"/>
            </a:endParaRPr>
          </a:p>
          <a:p>
            <a:pPr marL="914400" lvl="3" indent="-514350" algn="l">
              <a:lnSpc>
                <a:spcPct val="100000"/>
              </a:lnSpc>
              <a:spcBef>
                <a:spcPts val="0"/>
              </a:spcBef>
              <a:buFont typeface="+mj-lt"/>
              <a:buAutoNum type="romanLcPeriod"/>
            </a:pPr>
            <a:r>
              <a:rPr lang="en-IN" dirty="0">
                <a:latin typeface="+mn-lt"/>
                <a:cs typeface="Calibri" panose="020F0502020204030204" pitchFamily="34" charset="0"/>
              </a:rPr>
              <a:t>Reconciliation</a:t>
            </a:r>
          </a:p>
          <a:p>
            <a:pPr indent="-342900">
              <a:spcAft>
                <a:spcPts val="0"/>
              </a:spcAft>
              <a:buFont typeface="+mj-lt"/>
              <a:buAutoNum type="arabicPeriod" startAt="6"/>
            </a:pPr>
            <a:r>
              <a:rPr lang="en-US" dirty="0"/>
              <a:t>Standardised</a:t>
            </a:r>
            <a:r>
              <a:rPr lang="en-IN" dirty="0"/>
              <a:t> to Conformed</a:t>
            </a:r>
          </a:p>
          <a:p>
            <a:pPr marL="914400" lvl="3" indent="-514350" algn="l">
              <a:spcBef>
                <a:spcPts val="0"/>
              </a:spcBef>
              <a:buFont typeface="+mj-lt"/>
              <a:buAutoNum type="romanLcPeriod"/>
            </a:pPr>
            <a:r>
              <a:rPr lang="en-IN" dirty="0">
                <a:latin typeface="+mn-lt"/>
                <a:cs typeface="Calibri" panose="020F0502020204030204" pitchFamily="34" charset="0"/>
              </a:rPr>
              <a:t>Processing</a:t>
            </a:r>
          </a:p>
          <a:p>
            <a:pPr marL="914400" lvl="3" indent="-514350" algn="l">
              <a:spcBef>
                <a:spcPts val="0"/>
              </a:spcBef>
              <a:buFont typeface="+mj-lt"/>
              <a:buAutoNum type="romanLcPeriod"/>
            </a:pPr>
            <a:r>
              <a:rPr lang="en-IN" dirty="0">
                <a:latin typeface="+mn-lt"/>
                <a:cs typeface="Calibri" panose="020F0502020204030204" pitchFamily="34" charset="0"/>
              </a:rPr>
              <a:t>Orchestration</a:t>
            </a:r>
          </a:p>
          <a:p>
            <a:pPr marL="914400" lvl="3" indent="-514350" algn="l">
              <a:spcBef>
                <a:spcPts val="0"/>
              </a:spcBef>
              <a:buFont typeface="+mj-lt"/>
              <a:buAutoNum type="romanLcPeriod"/>
            </a:pPr>
            <a:r>
              <a:rPr lang="en-IN" dirty="0">
                <a:latin typeface="+mn-lt"/>
                <a:cs typeface="Calibri" panose="020F0502020204030204" pitchFamily="34" charset="0"/>
              </a:rPr>
              <a:t>BED</a:t>
            </a:r>
            <a:endParaRPr lang="en-US" dirty="0">
              <a:latin typeface="+mn-lt"/>
              <a:cs typeface="Calibri" panose="020F0502020204030204" pitchFamily="34" charset="0"/>
            </a:endParaRPr>
          </a:p>
          <a:p>
            <a:pPr marL="914400" lvl="3" indent="-514350" algn="l">
              <a:spcBef>
                <a:spcPts val="0"/>
              </a:spcBef>
              <a:buFont typeface="+mj-lt"/>
              <a:buAutoNum type="romanLcPeriod"/>
            </a:pPr>
            <a:r>
              <a:rPr lang="en-IN" dirty="0">
                <a:latin typeface="+mn-lt"/>
                <a:cs typeface="Calibri" panose="020F0502020204030204" pitchFamily="34" charset="0"/>
              </a:rPr>
              <a:t>Data</a:t>
            </a:r>
          </a:p>
          <a:p>
            <a:pPr marL="914400" lvl="3" indent="-514350" algn="l">
              <a:spcBef>
                <a:spcPts val="0"/>
              </a:spcBef>
              <a:buFont typeface="+mj-lt"/>
              <a:buAutoNum type="romanLcPeriod"/>
            </a:pPr>
            <a:r>
              <a:rPr lang="en-IN" dirty="0">
                <a:latin typeface="+mn-lt"/>
                <a:cs typeface="Calibri" panose="020F0502020204030204" pitchFamily="34" charset="0"/>
              </a:rPr>
              <a:t>Merge</a:t>
            </a:r>
            <a:endParaRPr lang="en-US" dirty="0">
              <a:latin typeface="+mn-lt"/>
              <a:cs typeface="Calibri" panose="020F0502020204030204" pitchFamily="34" charset="0"/>
            </a:endParaRPr>
          </a:p>
          <a:p>
            <a:pPr marL="914400" lvl="3" indent="-514350" algn="l">
              <a:spcBef>
                <a:spcPts val="0"/>
              </a:spcBef>
              <a:buFont typeface="+mj-lt"/>
              <a:buAutoNum type="romanLcPeriod"/>
            </a:pPr>
            <a:r>
              <a:rPr lang="en-IN" dirty="0">
                <a:latin typeface="+mn-lt"/>
                <a:cs typeface="Calibri" panose="020F0502020204030204" pitchFamily="34" charset="0"/>
              </a:rPr>
              <a:t>Reconciliation</a:t>
            </a:r>
            <a:endParaRPr lang="en-US" dirty="0">
              <a:latin typeface="+mn-lt"/>
            </a:endParaRPr>
          </a:p>
        </p:txBody>
      </p:sp>
      <p:sp>
        <p:nvSpPr>
          <p:cNvPr id="4" name="Subtitle 2">
            <a:extLst>
              <a:ext uri="{FF2B5EF4-FFF2-40B4-BE49-F238E27FC236}">
                <a16:creationId xmlns:a16="http://schemas.microsoft.com/office/drawing/2014/main" id="{7A442DD2-3BFE-5E40-BB93-999D3BC3B3D8}"/>
              </a:ext>
            </a:extLst>
          </p:cNvPr>
          <p:cNvSpPr txBox="1">
            <a:spLocks/>
          </p:cNvSpPr>
          <p:nvPr/>
        </p:nvSpPr>
        <p:spPr>
          <a:xfrm>
            <a:off x="6814455" y="1439817"/>
            <a:ext cx="4127864" cy="4725852"/>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spcAft>
                <a:spcPts val="0"/>
              </a:spcAft>
              <a:buFont typeface="+mj-lt"/>
              <a:buAutoNum type="arabicPeriod" startAt="6"/>
            </a:pPr>
            <a:r>
              <a:rPr lang="en-IN" dirty="0"/>
              <a:t>Conformed to Staging</a:t>
            </a:r>
          </a:p>
          <a:p>
            <a:pPr marL="914400" lvl="3" indent="-514350" algn="l">
              <a:spcBef>
                <a:spcPts val="0"/>
              </a:spcBef>
              <a:buFont typeface="+mj-lt"/>
              <a:buAutoNum type="romanLcPeriod"/>
            </a:pPr>
            <a:r>
              <a:rPr lang="en-IN" dirty="0">
                <a:latin typeface="+mn-lt"/>
                <a:cs typeface="Calibri" panose="020F0502020204030204" pitchFamily="34" charset="0"/>
              </a:rPr>
              <a:t>Processing</a:t>
            </a:r>
          </a:p>
          <a:p>
            <a:pPr marL="914400" lvl="3" indent="-514350" algn="l">
              <a:spcBef>
                <a:spcPts val="0"/>
              </a:spcBef>
              <a:buFont typeface="+mj-lt"/>
              <a:buAutoNum type="romanLcPeriod"/>
            </a:pPr>
            <a:r>
              <a:rPr lang="en-IN" dirty="0">
                <a:latin typeface="+mn-lt"/>
                <a:cs typeface="Calibri" panose="020F0502020204030204" pitchFamily="34" charset="0"/>
              </a:rPr>
              <a:t>Orchestration</a:t>
            </a:r>
            <a:endParaRPr lang="en-US" dirty="0">
              <a:latin typeface="+mn-lt"/>
              <a:cs typeface="Calibri" panose="020F0502020204030204" pitchFamily="34" charset="0"/>
            </a:endParaRPr>
          </a:p>
          <a:p>
            <a:pPr marL="914400" lvl="3" indent="-514350" algn="l">
              <a:spcBef>
                <a:spcPts val="0"/>
              </a:spcBef>
              <a:buFont typeface="+mj-lt"/>
              <a:buAutoNum type="romanLcPeriod"/>
            </a:pPr>
            <a:r>
              <a:rPr lang="en-IN" dirty="0">
                <a:latin typeface="+mn-lt"/>
                <a:cs typeface="Calibri" panose="020F0502020204030204" pitchFamily="34" charset="0"/>
              </a:rPr>
              <a:t>Data</a:t>
            </a:r>
          </a:p>
          <a:p>
            <a:pPr marL="914400" lvl="3" indent="-514350" algn="l">
              <a:spcBef>
                <a:spcPts val="0"/>
              </a:spcBef>
              <a:buFont typeface="+mj-lt"/>
              <a:buAutoNum type="romanLcPeriod"/>
            </a:pPr>
            <a:r>
              <a:rPr lang="en-IN" dirty="0">
                <a:latin typeface="+mn-lt"/>
                <a:cs typeface="Calibri" panose="020F0502020204030204" pitchFamily="34" charset="0"/>
              </a:rPr>
              <a:t>Reconciliation</a:t>
            </a:r>
            <a:endParaRPr lang="en-US" dirty="0">
              <a:latin typeface="+mn-lt"/>
            </a:endParaRPr>
          </a:p>
          <a:p>
            <a:pPr indent="-342900">
              <a:spcAft>
                <a:spcPts val="0"/>
              </a:spcAft>
              <a:buFont typeface="+mj-lt"/>
              <a:buAutoNum type="arabicPeriod" startAt="6"/>
            </a:pPr>
            <a:r>
              <a:rPr lang="en-IN" dirty="0"/>
              <a:t>Staging to DW</a:t>
            </a:r>
          </a:p>
          <a:p>
            <a:pPr marL="914400" lvl="3" indent="-514350" algn="l">
              <a:spcBef>
                <a:spcPts val="0"/>
              </a:spcBef>
              <a:buFont typeface="+mj-lt"/>
              <a:buAutoNum type="romanLcPeriod"/>
            </a:pPr>
            <a:r>
              <a:rPr lang="en-IN" dirty="0">
                <a:latin typeface="+mn-lt"/>
                <a:cs typeface="Calibri" panose="020F0502020204030204" pitchFamily="34" charset="0"/>
              </a:rPr>
              <a:t>Processing</a:t>
            </a:r>
          </a:p>
          <a:p>
            <a:pPr marL="914400" lvl="3" indent="-514350" algn="l">
              <a:spcBef>
                <a:spcPts val="0"/>
              </a:spcBef>
              <a:buFont typeface="+mj-lt"/>
              <a:buAutoNum type="romanLcPeriod"/>
            </a:pPr>
            <a:r>
              <a:rPr lang="en-IN" dirty="0">
                <a:latin typeface="+mn-lt"/>
                <a:cs typeface="Calibri" panose="020F0502020204030204" pitchFamily="34" charset="0"/>
              </a:rPr>
              <a:t>Orchestration</a:t>
            </a:r>
            <a:endParaRPr lang="en-US" dirty="0">
              <a:latin typeface="+mn-lt"/>
              <a:cs typeface="Calibri" panose="020F0502020204030204" pitchFamily="34" charset="0"/>
            </a:endParaRPr>
          </a:p>
          <a:p>
            <a:pPr marL="914400" lvl="3" indent="-514350" algn="l">
              <a:spcBef>
                <a:spcPts val="0"/>
              </a:spcBef>
              <a:buFont typeface="+mj-lt"/>
              <a:buAutoNum type="romanLcPeriod"/>
            </a:pPr>
            <a:r>
              <a:rPr lang="en-IN" dirty="0">
                <a:latin typeface="+mn-lt"/>
                <a:cs typeface="Calibri" panose="020F0502020204030204" pitchFamily="34" charset="0"/>
              </a:rPr>
              <a:t>Data</a:t>
            </a:r>
          </a:p>
          <a:p>
            <a:pPr marL="914400" lvl="3" indent="-514350" algn="l">
              <a:spcBef>
                <a:spcPts val="0"/>
              </a:spcBef>
              <a:buFont typeface="+mj-lt"/>
              <a:buAutoNum type="romanLcPeriod"/>
            </a:pPr>
            <a:r>
              <a:rPr lang="en-IN" dirty="0">
                <a:latin typeface="+mn-lt"/>
                <a:cs typeface="Calibri" panose="020F0502020204030204" pitchFamily="34" charset="0"/>
              </a:rPr>
              <a:t>Reconciliation</a:t>
            </a:r>
            <a:endParaRPr lang="en-US" dirty="0">
              <a:latin typeface="+mn-lt"/>
            </a:endParaRPr>
          </a:p>
        </p:txBody>
      </p:sp>
    </p:spTree>
    <p:extLst>
      <p:ext uri="{BB962C8B-B14F-4D97-AF65-F5344CB8AC3E}">
        <p14:creationId xmlns:p14="http://schemas.microsoft.com/office/powerpoint/2010/main" val="1268028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5141"/>
            <a:ext cx="11277600" cy="936386"/>
          </a:xfrm>
        </p:spPr>
        <p:txBody>
          <a:bodyPr/>
          <a:lstStyle/>
          <a:p>
            <a:r>
              <a:rPr lang="en-US" b="1" dirty="0"/>
              <a:t>Introduction</a:t>
            </a:r>
          </a:p>
        </p:txBody>
      </p:sp>
      <p:grpSp>
        <p:nvGrpSpPr>
          <p:cNvPr id="3" name="Group 2">
            <a:extLst>
              <a:ext uri="{FF2B5EF4-FFF2-40B4-BE49-F238E27FC236}">
                <a16:creationId xmlns:a16="http://schemas.microsoft.com/office/drawing/2014/main" id="{C4F6E641-8EBB-F453-D829-7753EBF41CE6}"/>
              </a:ext>
            </a:extLst>
          </p:cNvPr>
          <p:cNvGrpSpPr/>
          <p:nvPr/>
        </p:nvGrpSpPr>
        <p:grpSpPr>
          <a:xfrm>
            <a:off x="674719" y="1139630"/>
            <a:ext cx="10842562" cy="5286570"/>
            <a:chOff x="674719" y="1139630"/>
            <a:chExt cx="10842562" cy="5286570"/>
          </a:xfrm>
        </p:grpSpPr>
        <p:grpSp>
          <p:nvGrpSpPr>
            <p:cNvPr id="125" name="Group 124"/>
            <p:cNvGrpSpPr/>
            <p:nvPr/>
          </p:nvGrpSpPr>
          <p:grpSpPr>
            <a:xfrm>
              <a:off x="674719" y="1139630"/>
              <a:ext cx="10842562" cy="2205138"/>
              <a:chOff x="674719" y="1419030"/>
              <a:chExt cx="10842562" cy="2205138"/>
            </a:xfrm>
          </p:grpSpPr>
          <p:grpSp>
            <p:nvGrpSpPr>
              <p:cNvPr id="18" name="Group 17"/>
              <p:cNvGrpSpPr/>
              <p:nvPr/>
            </p:nvGrpSpPr>
            <p:grpSpPr>
              <a:xfrm>
                <a:off x="674719" y="1419034"/>
                <a:ext cx="1071157" cy="2187766"/>
                <a:chOff x="470259" y="1914334"/>
                <a:chExt cx="1071157" cy="2294629"/>
              </a:xfrm>
              <a:solidFill>
                <a:schemeClr val="accent4">
                  <a:lumMod val="20000"/>
                  <a:lumOff val="80000"/>
                </a:schemeClr>
              </a:solidFill>
            </p:grpSpPr>
            <p:sp>
              <p:nvSpPr>
                <p:cNvPr id="12" name="Rounded Rectangle 11"/>
                <p:cNvSpPr/>
                <p:nvPr/>
              </p:nvSpPr>
              <p:spPr>
                <a:xfrm>
                  <a:off x="470259" y="1914334"/>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TextBox 15"/>
                <p:cNvSpPr txBox="1"/>
                <p:nvPr/>
              </p:nvSpPr>
              <p:spPr>
                <a:xfrm>
                  <a:off x="555169" y="2291191"/>
                  <a:ext cx="892056" cy="346916"/>
                </a:xfrm>
                <a:prstGeom prst="rect">
                  <a:avLst/>
                </a:prstGeom>
                <a:grpFill/>
              </p:spPr>
              <p:txBody>
                <a:bodyPr wrap="square" rtlCol="0">
                  <a:spAutoFit/>
                </a:bodyPr>
                <a:lstStyle/>
                <a:p>
                  <a:pPr algn="ctr"/>
                  <a:r>
                    <a:rPr lang="en-IN" sz="1200" b="1" dirty="0"/>
                    <a:t>Subscribe</a:t>
                  </a:r>
                </a:p>
              </p:txBody>
            </p:sp>
            <p:sp>
              <p:nvSpPr>
                <p:cNvPr id="17" name="TextBox 16"/>
                <p:cNvSpPr txBox="1"/>
                <p:nvPr/>
              </p:nvSpPr>
              <p:spPr>
                <a:xfrm>
                  <a:off x="555169" y="3560673"/>
                  <a:ext cx="892056" cy="290529"/>
                </a:xfrm>
                <a:prstGeom prst="rect">
                  <a:avLst/>
                </a:prstGeom>
                <a:grpFill/>
              </p:spPr>
              <p:txBody>
                <a:bodyPr wrap="square" rtlCol="0">
                  <a:spAutoFit/>
                </a:bodyPr>
                <a:lstStyle/>
                <a:p>
                  <a:pPr algn="ctr"/>
                  <a:r>
                    <a:rPr lang="en-IN" sz="1200" b="1" dirty="0"/>
                    <a:t>MDS</a:t>
                  </a:r>
                </a:p>
              </p:txBody>
            </p:sp>
          </p:grpSp>
          <p:grpSp>
            <p:nvGrpSpPr>
              <p:cNvPr id="19" name="Group 18"/>
              <p:cNvGrpSpPr/>
              <p:nvPr/>
            </p:nvGrpSpPr>
            <p:grpSpPr>
              <a:xfrm>
                <a:off x="2644240" y="1436402"/>
                <a:ext cx="1071157" cy="2187766"/>
                <a:chOff x="470259" y="1914334"/>
                <a:chExt cx="1071157" cy="2294629"/>
              </a:xfrm>
              <a:solidFill>
                <a:schemeClr val="accent6"/>
              </a:solidFill>
            </p:grpSpPr>
            <p:sp>
              <p:nvSpPr>
                <p:cNvPr id="20" name="Rounded Rectangle 19"/>
                <p:cNvSpPr/>
                <p:nvPr/>
              </p:nvSpPr>
              <p:spPr>
                <a:xfrm>
                  <a:off x="470259" y="1914334"/>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TextBox 20"/>
                <p:cNvSpPr txBox="1"/>
                <p:nvPr/>
              </p:nvSpPr>
              <p:spPr>
                <a:xfrm>
                  <a:off x="555169" y="2906956"/>
                  <a:ext cx="892056" cy="276999"/>
                </a:xfrm>
                <a:prstGeom prst="rect">
                  <a:avLst/>
                </a:prstGeom>
                <a:grpFill/>
              </p:spPr>
              <p:txBody>
                <a:bodyPr wrap="square" rtlCol="0">
                  <a:spAutoFit/>
                </a:bodyPr>
                <a:lstStyle/>
                <a:p>
                  <a:pPr algn="ctr"/>
                  <a:r>
                    <a:rPr lang="en-IN" sz="1200" dirty="0"/>
                    <a:t>Raw</a:t>
                  </a:r>
                </a:p>
              </p:txBody>
            </p:sp>
          </p:grpSp>
          <p:grpSp>
            <p:nvGrpSpPr>
              <p:cNvPr id="43" name="Group 42"/>
              <p:cNvGrpSpPr/>
              <p:nvPr/>
            </p:nvGrpSpPr>
            <p:grpSpPr>
              <a:xfrm>
                <a:off x="4613761" y="1419032"/>
                <a:ext cx="1071157" cy="2187766"/>
                <a:chOff x="4345442" y="1914331"/>
                <a:chExt cx="1071157" cy="2294629"/>
              </a:xfrm>
              <a:solidFill>
                <a:schemeClr val="accent6"/>
              </a:solidFill>
            </p:grpSpPr>
            <p:sp>
              <p:nvSpPr>
                <p:cNvPr id="23" name="Rounded Rectangle 22"/>
                <p:cNvSpPr/>
                <p:nvPr/>
              </p:nvSpPr>
              <p:spPr>
                <a:xfrm>
                  <a:off x="4345442" y="1914331"/>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7" name="TextBox 26"/>
                <p:cNvSpPr txBox="1"/>
                <p:nvPr/>
              </p:nvSpPr>
              <p:spPr>
                <a:xfrm>
                  <a:off x="4381501" y="2906954"/>
                  <a:ext cx="995362" cy="290529"/>
                </a:xfrm>
                <a:prstGeom prst="rect">
                  <a:avLst/>
                </a:prstGeom>
                <a:grpFill/>
              </p:spPr>
              <p:txBody>
                <a:bodyPr wrap="square" rtlCol="0">
                  <a:spAutoFit/>
                </a:bodyPr>
                <a:lstStyle/>
                <a:p>
                  <a:pPr algn="ctr"/>
                  <a:r>
                    <a:rPr lang="en-IN" sz="1200" dirty="0"/>
                    <a:t>Standardised</a:t>
                  </a:r>
                </a:p>
              </p:txBody>
            </p:sp>
          </p:grpSp>
          <p:grpSp>
            <p:nvGrpSpPr>
              <p:cNvPr id="44" name="Group 43"/>
              <p:cNvGrpSpPr/>
              <p:nvPr/>
            </p:nvGrpSpPr>
            <p:grpSpPr>
              <a:xfrm>
                <a:off x="6557882" y="1419031"/>
                <a:ext cx="1071157" cy="2187766"/>
                <a:chOff x="6289563" y="1914330"/>
                <a:chExt cx="1071157" cy="2294629"/>
              </a:xfrm>
              <a:solidFill>
                <a:schemeClr val="accent6"/>
              </a:solidFill>
            </p:grpSpPr>
            <p:sp>
              <p:nvSpPr>
                <p:cNvPr id="24" name="Rounded Rectangle 23"/>
                <p:cNvSpPr/>
                <p:nvPr/>
              </p:nvSpPr>
              <p:spPr>
                <a:xfrm>
                  <a:off x="6289563" y="1914330"/>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8" name="TextBox 27"/>
                <p:cNvSpPr txBox="1"/>
                <p:nvPr/>
              </p:nvSpPr>
              <p:spPr>
                <a:xfrm>
                  <a:off x="6379113" y="2913846"/>
                  <a:ext cx="892056" cy="276999"/>
                </a:xfrm>
                <a:prstGeom prst="rect">
                  <a:avLst/>
                </a:prstGeom>
                <a:grpFill/>
              </p:spPr>
              <p:txBody>
                <a:bodyPr wrap="square" rtlCol="0">
                  <a:spAutoFit/>
                </a:bodyPr>
                <a:lstStyle/>
                <a:p>
                  <a:pPr algn="ctr"/>
                  <a:r>
                    <a:rPr lang="en-IN" sz="1200" dirty="0"/>
                    <a:t>Conformed</a:t>
                  </a:r>
                </a:p>
              </p:txBody>
            </p:sp>
          </p:grpSp>
          <p:grpSp>
            <p:nvGrpSpPr>
              <p:cNvPr id="45" name="Group 44"/>
              <p:cNvGrpSpPr/>
              <p:nvPr/>
            </p:nvGrpSpPr>
            <p:grpSpPr>
              <a:xfrm>
                <a:off x="8502003" y="1419030"/>
                <a:ext cx="1071157" cy="2187766"/>
                <a:chOff x="8233684" y="1914329"/>
                <a:chExt cx="1071157" cy="2294629"/>
              </a:xfrm>
              <a:solidFill>
                <a:schemeClr val="accent6"/>
              </a:solidFill>
            </p:grpSpPr>
            <p:sp>
              <p:nvSpPr>
                <p:cNvPr id="25" name="Rounded Rectangle 24"/>
                <p:cNvSpPr/>
                <p:nvPr/>
              </p:nvSpPr>
              <p:spPr>
                <a:xfrm>
                  <a:off x="8233684" y="1914329"/>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9" name="TextBox 28"/>
                <p:cNvSpPr txBox="1"/>
                <p:nvPr/>
              </p:nvSpPr>
              <p:spPr>
                <a:xfrm>
                  <a:off x="8334459" y="2906956"/>
                  <a:ext cx="892056" cy="276999"/>
                </a:xfrm>
                <a:prstGeom prst="rect">
                  <a:avLst/>
                </a:prstGeom>
                <a:grpFill/>
              </p:spPr>
              <p:txBody>
                <a:bodyPr wrap="square" rtlCol="0">
                  <a:spAutoFit/>
                </a:bodyPr>
                <a:lstStyle/>
                <a:p>
                  <a:pPr algn="ctr"/>
                  <a:r>
                    <a:rPr lang="en-IN" sz="1200" dirty="0"/>
                    <a:t>Staging</a:t>
                  </a:r>
                </a:p>
              </p:txBody>
            </p:sp>
          </p:grpSp>
          <p:grpSp>
            <p:nvGrpSpPr>
              <p:cNvPr id="46" name="Group 45"/>
              <p:cNvGrpSpPr/>
              <p:nvPr/>
            </p:nvGrpSpPr>
            <p:grpSpPr>
              <a:xfrm>
                <a:off x="10446124" y="1419034"/>
                <a:ext cx="1071157" cy="2187766"/>
                <a:chOff x="10177805" y="1914333"/>
                <a:chExt cx="1071157" cy="2294629"/>
              </a:xfrm>
              <a:solidFill>
                <a:schemeClr val="accent6"/>
              </a:solidFill>
            </p:grpSpPr>
            <p:sp>
              <p:nvSpPr>
                <p:cNvPr id="26" name="Rounded Rectangle 25"/>
                <p:cNvSpPr/>
                <p:nvPr/>
              </p:nvSpPr>
              <p:spPr>
                <a:xfrm>
                  <a:off x="10177805" y="1914333"/>
                  <a:ext cx="1071157" cy="2294629"/>
                </a:xfrm>
                <a:prstGeom prst="roundRect">
                  <a:avLst>
                    <a:gd name="adj" fmla="val 10000"/>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0" name="TextBox 29"/>
                <p:cNvSpPr txBox="1"/>
                <p:nvPr/>
              </p:nvSpPr>
              <p:spPr>
                <a:xfrm>
                  <a:off x="10267355" y="2793843"/>
                  <a:ext cx="892056" cy="461665"/>
                </a:xfrm>
                <a:prstGeom prst="rect">
                  <a:avLst/>
                </a:prstGeom>
                <a:grpFill/>
              </p:spPr>
              <p:txBody>
                <a:bodyPr wrap="square" rtlCol="0">
                  <a:spAutoFit/>
                </a:bodyPr>
                <a:lstStyle/>
                <a:p>
                  <a:pPr algn="ctr"/>
                  <a:r>
                    <a:rPr lang="en-IN" sz="1200" dirty="0"/>
                    <a:t>DW (Fact/Dim)</a:t>
                  </a:r>
                </a:p>
              </p:txBody>
            </p:sp>
          </p:grpSp>
          <p:sp>
            <p:nvSpPr>
              <p:cNvPr id="47" name="Right Arrow 46"/>
              <p:cNvSpPr/>
              <p:nvPr/>
            </p:nvSpPr>
            <p:spPr>
              <a:xfrm>
                <a:off x="1920659"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accent1"/>
                    </a:solidFill>
                  </a:rPr>
                  <a:t>CDC</a:t>
                </a:r>
                <a:endParaRPr lang="en-US" sz="1200" dirty="0">
                  <a:solidFill>
                    <a:schemeClr val="accent1"/>
                  </a:solidFill>
                </a:endParaRPr>
              </a:p>
            </p:txBody>
          </p:sp>
          <p:sp>
            <p:nvSpPr>
              <p:cNvPr id="48" name="Right Arrow 47"/>
              <p:cNvSpPr/>
              <p:nvPr/>
            </p:nvSpPr>
            <p:spPr>
              <a:xfrm>
                <a:off x="3854893"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ight Arrow 48"/>
              <p:cNvSpPr/>
              <p:nvPr/>
            </p:nvSpPr>
            <p:spPr>
              <a:xfrm>
                <a:off x="5802675"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ight Arrow 49"/>
              <p:cNvSpPr/>
              <p:nvPr/>
            </p:nvSpPr>
            <p:spPr>
              <a:xfrm>
                <a:off x="7751632"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accent1"/>
                    </a:solidFill>
                  </a:rPr>
                  <a:t>Ext</a:t>
                </a:r>
                <a:endParaRPr lang="en-US" sz="1200" dirty="0">
                  <a:solidFill>
                    <a:schemeClr val="accent1"/>
                  </a:solidFill>
                </a:endParaRPr>
              </a:p>
            </p:txBody>
          </p:sp>
          <p:sp>
            <p:nvSpPr>
              <p:cNvPr id="51" name="Right Arrow 50"/>
              <p:cNvSpPr/>
              <p:nvPr/>
            </p:nvSpPr>
            <p:spPr>
              <a:xfrm>
                <a:off x="9686081" y="2281878"/>
                <a:ext cx="670492" cy="462061"/>
              </a:xfrm>
              <a:prstGeom prst="rightArrow">
                <a:avLst/>
              </a:prstGeom>
              <a:solidFill>
                <a:schemeClr val="accent6">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7" name="Group 116"/>
            <p:cNvGrpSpPr/>
            <p:nvPr/>
          </p:nvGrpSpPr>
          <p:grpSpPr>
            <a:xfrm>
              <a:off x="1212788" y="4009884"/>
              <a:ext cx="1648087" cy="2416316"/>
              <a:chOff x="955413" y="3360916"/>
              <a:chExt cx="1900646" cy="1739893"/>
            </a:xfrm>
          </p:grpSpPr>
          <p:sp>
            <p:nvSpPr>
              <p:cNvPr id="62" name="Freeform 61"/>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Full data extraction</a:t>
                </a:r>
                <a:endParaRPr lang="en-US" sz="1300" kern="1200" dirty="0">
                  <a:solidFill>
                    <a:schemeClr val="tx2">
                      <a:lumMod val="75000"/>
                      <a:lumOff val="25000"/>
                    </a:schemeClr>
                  </a:solidFill>
                </a:endParaRPr>
              </a:p>
            </p:txBody>
          </p:sp>
          <p:sp>
            <p:nvSpPr>
              <p:cNvPr id="65" name="Freeform 64"/>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Each time, raw table gets truncated &amp; loaded</a:t>
                </a:r>
              </a:p>
            </p:txBody>
          </p:sp>
          <p:sp>
            <p:nvSpPr>
              <p:cNvPr id="67" name="Freeform 66"/>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CDC is not yet implemented</a:t>
                </a:r>
              </a:p>
            </p:txBody>
          </p:sp>
          <p:sp>
            <p:nvSpPr>
              <p:cNvPr id="69" name="Freeform 68"/>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1:1 column level mapping, no change in PK</a:t>
                </a:r>
              </a:p>
            </p:txBody>
          </p:sp>
        </p:grpSp>
        <p:sp>
          <p:nvSpPr>
            <p:cNvPr id="68" name="5-Point Star 67"/>
            <p:cNvSpPr/>
            <p:nvPr/>
          </p:nvSpPr>
          <p:spPr>
            <a:xfrm>
              <a:off x="1044911"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118" name="Group 117"/>
            <p:cNvGrpSpPr/>
            <p:nvPr/>
          </p:nvGrpSpPr>
          <p:grpSpPr>
            <a:xfrm>
              <a:off x="3182174" y="4009884"/>
              <a:ext cx="1648087" cy="2416316"/>
              <a:chOff x="955413" y="3360916"/>
              <a:chExt cx="1900646" cy="1739893"/>
            </a:xfrm>
          </p:grpSpPr>
          <p:sp>
            <p:nvSpPr>
              <p:cNvPr id="119" name="Freeform 118"/>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Full data extraction</a:t>
                </a:r>
                <a:endParaRPr lang="en-US" sz="1300" kern="1200" dirty="0">
                  <a:solidFill>
                    <a:schemeClr val="tx2">
                      <a:lumMod val="75000"/>
                      <a:lumOff val="25000"/>
                    </a:schemeClr>
                  </a:solidFill>
                </a:endParaRPr>
              </a:p>
            </p:txBody>
          </p:sp>
          <p:sp>
            <p:nvSpPr>
              <p:cNvPr id="120" name="Freeform 119"/>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History maintenance via SCD Type 2</a:t>
                </a:r>
              </a:p>
            </p:txBody>
          </p:sp>
          <p:sp>
            <p:nvSpPr>
              <p:cNvPr id="121" name="Freeform 120"/>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Soft Deletion of deleted records</a:t>
                </a:r>
              </a:p>
            </p:txBody>
          </p:sp>
          <p:sp>
            <p:nvSpPr>
              <p:cNvPr id="122" name="Freeform 121"/>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1:1 column level mapping, no change in PK </a:t>
                </a:r>
              </a:p>
            </p:txBody>
          </p:sp>
        </p:grpSp>
        <p:sp>
          <p:nvSpPr>
            <p:cNvPr id="123" name="5-Point Star 122"/>
            <p:cNvSpPr/>
            <p:nvPr/>
          </p:nvSpPr>
          <p:spPr>
            <a:xfrm>
              <a:off x="3014432"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126" name="Group 125"/>
            <p:cNvGrpSpPr/>
            <p:nvPr/>
          </p:nvGrpSpPr>
          <p:grpSpPr>
            <a:xfrm>
              <a:off x="5180066" y="4009884"/>
              <a:ext cx="1648087" cy="2416316"/>
              <a:chOff x="955413" y="3360916"/>
              <a:chExt cx="1900646" cy="1739893"/>
            </a:xfrm>
          </p:grpSpPr>
          <p:sp>
            <p:nvSpPr>
              <p:cNvPr id="127" name="Freeform 126"/>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Data extraction based on Batch Effective Date</a:t>
                </a:r>
                <a:endParaRPr lang="en-US" sz="1300" kern="1200" dirty="0">
                  <a:solidFill>
                    <a:schemeClr val="tx2">
                      <a:lumMod val="75000"/>
                      <a:lumOff val="25000"/>
                    </a:schemeClr>
                  </a:solidFill>
                </a:endParaRPr>
              </a:p>
            </p:txBody>
          </p:sp>
          <p:sp>
            <p:nvSpPr>
              <p:cNvPr id="128" name="Freeform 127"/>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History maintenance via SCD Type 2</a:t>
                </a:r>
              </a:p>
            </p:txBody>
          </p:sp>
          <p:sp>
            <p:nvSpPr>
              <p:cNvPr id="129" name="Freeform 128"/>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Soft Deletion of deleted records</a:t>
                </a:r>
              </a:p>
            </p:txBody>
          </p:sp>
          <p:sp>
            <p:nvSpPr>
              <p:cNvPr id="130" name="Freeform 129"/>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High level data transformation</a:t>
                </a:r>
              </a:p>
            </p:txBody>
          </p:sp>
        </p:grpSp>
        <p:sp>
          <p:nvSpPr>
            <p:cNvPr id="131" name="5-Point Star 130"/>
            <p:cNvSpPr/>
            <p:nvPr/>
          </p:nvSpPr>
          <p:spPr>
            <a:xfrm>
              <a:off x="5012324"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132" name="Group 131"/>
            <p:cNvGrpSpPr/>
            <p:nvPr/>
          </p:nvGrpSpPr>
          <p:grpSpPr>
            <a:xfrm>
              <a:off x="7177958" y="4009884"/>
              <a:ext cx="1648087" cy="2416316"/>
              <a:chOff x="955413" y="3360916"/>
              <a:chExt cx="1900646" cy="1739893"/>
            </a:xfrm>
          </p:grpSpPr>
          <p:sp>
            <p:nvSpPr>
              <p:cNvPr id="133" name="Freeform 132"/>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Incremental data extraction</a:t>
                </a:r>
                <a:endParaRPr lang="en-US" sz="1300" kern="1200" dirty="0">
                  <a:solidFill>
                    <a:schemeClr val="tx2">
                      <a:lumMod val="75000"/>
                      <a:lumOff val="25000"/>
                    </a:schemeClr>
                  </a:solidFill>
                </a:endParaRPr>
              </a:p>
            </p:txBody>
          </p:sp>
          <p:sp>
            <p:nvSpPr>
              <p:cNvPr id="134" name="Freeform 133"/>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History maintenance via SCD Type 2</a:t>
                </a:r>
              </a:p>
            </p:txBody>
          </p:sp>
          <p:sp>
            <p:nvSpPr>
              <p:cNvPr id="135" name="Freeform 134"/>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Soft Deletion of deleted records</a:t>
                </a:r>
              </a:p>
            </p:txBody>
          </p:sp>
          <p:sp>
            <p:nvSpPr>
              <p:cNvPr id="136" name="Freeform 135"/>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1:1 column level mapping</a:t>
                </a:r>
              </a:p>
            </p:txBody>
          </p:sp>
        </p:grpSp>
        <p:sp>
          <p:nvSpPr>
            <p:cNvPr id="137" name="5-Point Star 136"/>
            <p:cNvSpPr/>
            <p:nvPr/>
          </p:nvSpPr>
          <p:spPr>
            <a:xfrm>
              <a:off x="7010216"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138" name="Group 137"/>
            <p:cNvGrpSpPr/>
            <p:nvPr/>
          </p:nvGrpSpPr>
          <p:grpSpPr>
            <a:xfrm>
              <a:off x="9147344" y="4009884"/>
              <a:ext cx="1648087" cy="2416316"/>
              <a:chOff x="955413" y="3360916"/>
              <a:chExt cx="1900646" cy="1739893"/>
            </a:xfrm>
          </p:grpSpPr>
          <p:sp>
            <p:nvSpPr>
              <p:cNvPr id="139" name="Freeform 138"/>
              <p:cNvSpPr/>
              <p:nvPr/>
            </p:nvSpPr>
            <p:spPr>
              <a:xfrm>
                <a:off x="955415" y="336091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Data extraction based on Batch Effective Date</a:t>
                </a:r>
                <a:endParaRPr lang="en-US" sz="1300" dirty="0">
                  <a:solidFill>
                    <a:schemeClr val="tx2">
                      <a:lumMod val="75000"/>
                      <a:lumOff val="25000"/>
                    </a:schemeClr>
                  </a:solidFill>
                </a:endParaRPr>
              </a:p>
            </p:txBody>
          </p:sp>
          <p:sp>
            <p:nvSpPr>
              <p:cNvPr id="140" name="Freeform 139"/>
              <p:cNvSpPr/>
              <p:nvPr/>
            </p:nvSpPr>
            <p:spPr>
              <a:xfrm>
                <a:off x="955415" y="3805606"/>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History maintenance via SCD Type 2</a:t>
                </a:r>
              </a:p>
            </p:txBody>
          </p:sp>
          <p:sp>
            <p:nvSpPr>
              <p:cNvPr id="141" name="Freeform 140"/>
              <p:cNvSpPr/>
              <p:nvPr/>
            </p:nvSpPr>
            <p:spPr>
              <a:xfrm>
                <a:off x="955415" y="4241709"/>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Inactivation of deleted records</a:t>
                </a:r>
              </a:p>
            </p:txBody>
          </p:sp>
          <p:sp>
            <p:nvSpPr>
              <p:cNvPr id="142" name="Freeform 141"/>
              <p:cNvSpPr/>
              <p:nvPr/>
            </p:nvSpPr>
            <p:spPr>
              <a:xfrm>
                <a:off x="955413" y="4680776"/>
                <a:ext cx="1900645"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Business specific transformation, PK is not same</a:t>
                </a:r>
              </a:p>
            </p:txBody>
          </p:sp>
        </p:grpSp>
        <p:sp>
          <p:nvSpPr>
            <p:cNvPr id="143" name="5-Point Star 142"/>
            <p:cNvSpPr/>
            <p:nvPr/>
          </p:nvSpPr>
          <p:spPr>
            <a:xfrm>
              <a:off x="8979602" y="38735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45" name="Left-Right Arrow 144"/>
            <p:cNvSpPr/>
            <p:nvPr/>
          </p:nvSpPr>
          <p:spPr>
            <a:xfrm>
              <a:off x="2222501" y="3426642"/>
              <a:ext cx="5864378" cy="344249"/>
            </a:xfrm>
            <a:prstGeom prst="leftRightArrow">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algn="ctr"/>
              <a:r>
                <a:rPr lang="en-IN" sz="1200" dirty="0">
                  <a:solidFill>
                    <a:srgbClr val="424242"/>
                  </a:solidFill>
                </a:rPr>
                <a:t>Ingestion (ADF + ADB + ADLS)</a:t>
              </a:r>
              <a:endParaRPr lang="en-US" sz="1200" dirty="0">
                <a:solidFill>
                  <a:srgbClr val="424242"/>
                </a:solidFill>
              </a:endParaRPr>
            </a:p>
          </p:txBody>
        </p:sp>
        <p:sp>
          <p:nvSpPr>
            <p:cNvPr id="146" name="Left-Right Arrow 145"/>
            <p:cNvSpPr/>
            <p:nvPr/>
          </p:nvSpPr>
          <p:spPr>
            <a:xfrm>
              <a:off x="8086879" y="3425337"/>
              <a:ext cx="3430402" cy="344249"/>
            </a:xfrm>
            <a:prstGeom prst="leftRightArrow">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algn="ctr"/>
              <a:r>
                <a:rPr lang="en-IN" sz="1200" dirty="0">
                  <a:solidFill>
                    <a:srgbClr val="424242"/>
                  </a:solidFill>
                </a:rPr>
                <a:t>DW (ADF + Synapse)</a:t>
              </a:r>
              <a:endParaRPr lang="en-US" sz="1200" dirty="0">
                <a:solidFill>
                  <a:srgbClr val="424242"/>
                </a:solidFill>
              </a:endParaRPr>
            </a:p>
          </p:txBody>
        </p:sp>
        <p:sp>
          <p:nvSpPr>
            <p:cNvPr id="147" name="Rounded Rectangle 146"/>
            <p:cNvSpPr/>
            <p:nvPr/>
          </p:nvSpPr>
          <p:spPr>
            <a:xfrm>
              <a:off x="6570944" y="2464539"/>
              <a:ext cx="523695" cy="862857"/>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algn="ctr"/>
              <a:r>
                <a:rPr lang="en-IN" sz="1000" dirty="0">
                  <a:solidFill>
                    <a:schemeClr val="tx1"/>
                  </a:solidFill>
                </a:rPr>
                <a:t>Table</a:t>
              </a:r>
              <a:endParaRPr lang="en-US" sz="1000" dirty="0">
                <a:solidFill>
                  <a:schemeClr val="tx1"/>
                </a:solidFill>
              </a:endParaRPr>
            </a:p>
          </p:txBody>
        </p:sp>
        <p:sp>
          <p:nvSpPr>
            <p:cNvPr id="148" name="Rounded Rectangle 147"/>
            <p:cNvSpPr/>
            <p:nvPr/>
          </p:nvSpPr>
          <p:spPr>
            <a:xfrm>
              <a:off x="7094663" y="2461723"/>
              <a:ext cx="523694" cy="862857"/>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rtlCol="0" anchor="ctr"/>
            <a:lstStyle/>
            <a:p>
              <a:pPr algn="ctr"/>
              <a:r>
                <a:rPr lang="en-IN" sz="1000" dirty="0">
                  <a:solidFill>
                    <a:schemeClr val="tx1"/>
                  </a:solidFill>
                </a:rPr>
                <a:t>View</a:t>
              </a:r>
              <a:endParaRPr lang="en-US" sz="1000" dirty="0">
                <a:solidFill>
                  <a:schemeClr val="tx1"/>
                </a:solidFill>
              </a:endParaRPr>
            </a:p>
          </p:txBody>
        </p:sp>
      </p:grpSp>
    </p:spTree>
    <p:extLst>
      <p:ext uri="{BB962C8B-B14F-4D97-AF65-F5344CB8AC3E}">
        <p14:creationId xmlns:p14="http://schemas.microsoft.com/office/powerpoint/2010/main" val="1175467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extLst>
              <p:ext uri="{D42A27DB-BD31-4B8C-83A1-F6EECF244321}">
                <p14:modId xmlns:p14="http://schemas.microsoft.com/office/powerpoint/2010/main" val="208215737"/>
              </p:ext>
            </p:extLst>
          </p:nvPr>
        </p:nvGraphicFramePr>
        <p:xfrm>
          <a:off x="933411" y="1055057"/>
          <a:ext cx="10325179" cy="5244274"/>
        </p:xfrm>
        <a:graphic>
          <a:graphicData uri="http://schemas.openxmlformats.org/drawingml/2006/table">
            <a:tbl>
              <a:tblPr/>
              <a:tblGrid>
                <a:gridCol w="1257796">
                  <a:extLst>
                    <a:ext uri="{9D8B030D-6E8A-4147-A177-3AD203B41FA5}">
                      <a16:colId xmlns:a16="http://schemas.microsoft.com/office/drawing/2014/main" val="913977000"/>
                    </a:ext>
                  </a:extLst>
                </a:gridCol>
                <a:gridCol w="1051291">
                  <a:extLst>
                    <a:ext uri="{9D8B030D-6E8A-4147-A177-3AD203B41FA5}">
                      <a16:colId xmlns:a16="http://schemas.microsoft.com/office/drawing/2014/main" val="1728580465"/>
                    </a:ext>
                  </a:extLst>
                </a:gridCol>
                <a:gridCol w="1145156">
                  <a:extLst>
                    <a:ext uri="{9D8B030D-6E8A-4147-A177-3AD203B41FA5}">
                      <a16:colId xmlns:a16="http://schemas.microsoft.com/office/drawing/2014/main" val="1157789206"/>
                    </a:ext>
                  </a:extLst>
                </a:gridCol>
                <a:gridCol w="1145156">
                  <a:extLst>
                    <a:ext uri="{9D8B030D-6E8A-4147-A177-3AD203B41FA5}">
                      <a16:colId xmlns:a16="http://schemas.microsoft.com/office/drawing/2014/main" val="2759755747"/>
                    </a:ext>
                  </a:extLst>
                </a:gridCol>
                <a:gridCol w="1145156">
                  <a:extLst>
                    <a:ext uri="{9D8B030D-6E8A-4147-A177-3AD203B41FA5}">
                      <a16:colId xmlns:a16="http://schemas.microsoft.com/office/drawing/2014/main" val="592155057"/>
                    </a:ext>
                  </a:extLst>
                </a:gridCol>
                <a:gridCol w="1145156">
                  <a:extLst>
                    <a:ext uri="{9D8B030D-6E8A-4147-A177-3AD203B41FA5}">
                      <a16:colId xmlns:a16="http://schemas.microsoft.com/office/drawing/2014/main" val="1236769932"/>
                    </a:ext>
                  </a:extLst>
                </a:gridCol>
                <a:gridCol w="1145156">
                  <a:extLst>
                    <a:ext uri="{9D8B030D-6E8A-4147-A177-3AD203B41FA5}">
                      <a16:colId xmlns:a16="http://schemas.microsoft.com/office/drawing/2014/main" val="692875497"/>
                    </a:ext>
                  </a:extLst>
                </a:gridCol>
                <a:gridCol w="1145156">
                  <a:extLst>
                    <a:ext uri="{9D8B030D-6E8A-4147-A177-3AD203B41FA5}">
                      <a16:colId xmlns:a16="http://schemas.microsoft.com/office/drawing/2014/main" val="1103466601"/>
                    </a:ext>
                  </a:extLst>
                </a:gridCol>
                <a:gridCol w="1145156">
                  <a:extLst>
                    <a:ext uri="{9D8B030D-6E8A-4147-A177-3AD203B41FA5}">
                      <a16:colId xmlns:a16="http://schemas.microsoft.com/office/drawing/2014/main" val="1293698235"/>
                    </a:ext>
                  </a:extLst>
                </a:gridCol>
              </a:tblGrid>
              <a:tr h="370324">
                <a:tc>
                  <a:txBody>
                    <a:bodyPr/>
                    <a:lstStyle/>
                    <a:p>
                      <a:pPr algn="l" fontAlgn="auto"/>
                      <a:r>
                        <a:rPr lang="en-GB" sz="1000" b="1" i="0" dirty="0">
                          <a:solidFill>
                            <a:srgbClr val="FFFFFF"/>
                          </a:solidFill>
                          <a:effectLst/>
                          <a:latin typeface="Calibri" panose="020F0502020204030204" pitchFamily="34" charset="0"/>
                        </a:rPr>
                        <a:t>​</a:t>
                      </a: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dirty="0">
                          <a:solidFill>
                            <a:srgbClr val="FFFFFF"/>
                          </a:solidFill>
                          <a:effectLst/>
                          <a:latin typeface="Calibri" panose="020F0502020204030204" pitchFamily="34" charset="0"/>
                        </a:rPr>
                        <a:t>Raw​</a:t>
                      </a:r>
                      <a:endParaRPr lang="en-GB" sz="1000" b="1" i="0" dirty="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a:solidFill>
                            <a:srgbClr val="FFFFFF"/>
                          </a:solidFill>
                          <a:effectLst/>
                          <a:latin typeface="Calibri" panose="020F0502020204030204" pitchFamily="34" charset="0"/>
                        </a:rPr>
                        <a:t>Standardised​</a:t>
                      </a:r>
                      <a:endParaRPr lang="en-GB" sz="1000" b="1" i="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dirty="0">
                          <a:solidFill>
                            <a:srgbClr val="FFFFFF"/>
                          </a:solidFill>
                          <a:effectLst/>
                          <a:latin typeface="Calibri" panose="020F0502020204030204" pitchFamily="34" charset="0"/>
                        </a:rPr>
                        <a:t>Conformed Table​</a:t>
                      </a:r>
                      <a:endParaRPr lang="en-GB" sz="1000" b="1" i="0" dirty="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1">
                          <a:solidFill>
                            <a:srgbClr val="FFFFFF"/>
                          </a:solidFill>
                          <a:effectLst/>
                          <a:latin typeface="Calibri" panose="020F0502020204030204" pitchFamily="34" charset="0"/>
                        </a:rPr>
                        <a:t>Conformed View</a:t>
                      </a:r>
                      <a:r>
                        <a:rPr lang="en-GB" sz="1000" b="1" i="0">
                          <a:solidFill>
                            <a:srgbClr val="FFFFFF"/>
                          </a:solidFill>
                          <a:effectLst/>
                          <a:latin typeface="Calibri" panose="020F0502020204030204" pitchFamily="34" charset="0"/>
                        </a:rPr>
                        <a:t>​</a:t>
                      </a:r>
                      <a:endParaRPr lang="en-GB" sz="1000" b="1" i="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dirty="0">
                          <a:solidFill>
                            <a:srgbClr val="FFFFFF"/>
                          </a:solidFill>
                          <a:effectLst/>
                          <a:latin typeface="Calibri" panose="020F0502020204030204" pitchFamily="34" charset="0"/>
                        </a:rPr>
                        <a:t>Incremental Parquet​</a:t>
                      </a:r>
                      <a:endParaRPr lang="en-GB" sz="1000" b="1" i="0" dirty="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1">
                          <a:solidFill>
                            <a:srgbClr val="FFFFFF"/>
                          </a:solidFill>
                          <a:effectLst/>
                          <a:latin typeface="Calibri" panose="020F0502020204030204" pitchFamily="34" charset="0"/>
                        </a:rPr>
                        <a:t>External Table</a:t>
                      </a:r>
                      <a:r>
                        <a:rPr lang="en-GB" sz="1000" b="1" i="0">
                          <a:solidFill>
                            <a:srgbClr val="FFFFFF"/>
                          </a:solidFill>
                          <a:effectLst/>
                          <a:latin typeface="Calibri" panose="020F0502020204030204" pitchFamily="34" charset="0"/>
                        </a:rPr>
                        <a:t>​</a:t>
                      </a:r>
                      <a:endParaRPr lang="en-GB" sz="1000" b="1" i="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dirty="0">
                          <a:solidFill>
                            <a:srgbClr val="FFFFFF"/>
                          </a:solidFill>
                          <a:effectLst/>
                          <a:latin typeface="Calibri" panose="020F0502020204030204" pitchFamily="34" charset="0"/>
                        </a:rPr>
                        <a:t>Staging Table​</a:t>
                      </a:r>
                      <a:endParaRPr lang="en-GB" sz="1000" b="1" i="0" dirty="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tc>
                  <a:txBody>
                    <a:bodyPr/>
                    <a:lstStyle/>
                    <a:p>
                      <a:pPr algn="l" fontAlgn="base"/>
                      <a:r>
                        <a:rPr lang="en-GB" sz="1000" b="1" i="0" dirty="0">
                          <a:solidFill>
                            <a:srgbClr val="FFFFFF"/>
                          </a:solidFill>
                          <a:effectLst/>
                          <a:latin typeface="Calibri" panose="020F0502020204030204" pitchFamily="34" charset="0"/>
                        </a:rPr>
                        <a:t>Dimension/Fact Table​</a:t>
                      </a:r>
                      <a:endParaRPr lang="en-GB" sz="1000" b="1" i="0" dirty="0">
                        <a:solidFill>
                          <a:srgbClr val="FFFFFF"/>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B4E0B"/>
                    </a:solidFill>
                  </a:tcPr>
                </a:tc>
                <a:extLst>
                  <a:ext uri="{0D108BD9-81ED-4DB2-BD59-A6C34878D82A}">
                    <a16:rowId xmlns:a16="http://schemas.microsoft.com/office/drawing/2014/main" val="2067517966"/>
                  </a:ext>
                </a:extLst>
              </a:tr>
              <a:tr h="1063461">
                <a:tc>
                  <a:txBody>
                    <a:bodyPr/>
                    <a:lstStyle/>
                    <a:p>
                      <a:pPr algn="l" fontAlgn="base"/>
                      <a:r>
                        <a:rPr lang="en-GB" sz="1000" b="0" i="0" dirty="0">
                          <a:solidFill>
                            <a:srgbClr val="FB4D0A"/>
                          </a:solidFill>
                          <a:effectLst/>
                          <a:latin typeface="Calibri" panose="020F0502020204030204" pitchFamily="34" charset="0"/>
                        </a:rPr>
                        <a:t>Description​</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Source specific physical table in </a:t>
                      </a:r>
                      <a:r>
                        <a:rPr lang="en-US" sz="1000" b="0" i="0" dirty="0" err="1">
                          <a:solidFill>
                            <a:srgbClr val="FB4D0A"/>
                          </a:solidFill>
                          <a:effectLst/>
                          <a:latin typeface="Calibri" panose="020F0502020204030204" pitchFamily="34" charset="0"/>
                        </a:rPr>
                        <a:t>databricks</a:t>
                      </a:r>
                      <a:r>
                        <a:rPr lang="en-US" sz="1000" b="0" i="0" dirty="0">
                          <a:solidFill>
                            <a:srgbClr val="FB4D0A"/>
                          </a:solidFill>
                          <a:effectLst/>
                          <a:latin typeface="Calibri" panose="020F0502020204030204" pitchFamily="34" charset="0"/>
                        </a:rPr>
                        <a:t> holding latest extract from source​</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Source specific physical table in </a:t>
                      </a:r>
                      <a:r>
                        <a:rPr lang="en-US" sz="1000" b="0" i="0" dirty="0" err="1">
                          <a:solidFill>
                            <a:srgbClr val="FB4D0A"/>
                          </a:solidFill>
                          <a:effectLst/>
                          <a:latin typeface="Calibri" panose="020F0502020204030204" pitchFamily="34" charset="0"/>
                        </a:rPr>
                        <a:t>databricks</a:t>
                      </a:r>
                      <a:r>
                        <a:rPr lang="en-US" sz="1000" b="0" i="0" dirty="0">
                          <a:solidFill>
                            <a:srgbClr val="FB4D0A"/>
                          </a:solidFill>
                          <a:effectLst/>
                          <a:latin typeface="Calibri" panose="020F0502020204030204" pitchFamily="34" charset="0"/>
                        </a:rPr>
                        <a:t> holding all type 2 historical data​</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Source specific physical table in </a:t>
                      </a:r>
                      <a:r>
                        <a:rPr lang="en-US" sz="1000" b="0" i="0" dirty="0" err="1">
                          <a:solidFill>
                            <a:srgbClr val="FB4D0A"/>
                          </a:solidFill>
                          <a:effectLst/>
                          <a:latin typeface="Calibri" panose="020F0502020204030204" pitchFamily="34" charset="0"/>
                        </a:rPr>
                        <a:t>databricks</a:t>
                      </a:r>
                      <a:r>
                        <a:rPr lang="en-US" sz="1000" b="0" i="0" dirty="0">
                          <a:solidFill>
                            <a:srgbClr val="FB4D0A"/>
                          </a:solidFill>
                          <a:effectLst/>
                          <a:latin typeface="Calibri" panose="020F0502020204030204" pitchFamily="34" charset="0"/>
                        </a:rPr>
                        <a:t> holding all type 2historical data that has been conformed across multiple standardised tables​</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a:solidFill>
                            <a:srgbClr val="FB4D0A"/>
                          </a:solidFill>
                          <a:effectLst/>
                          <a:latin typeface="Calibri" panose="020F0502020204030204" pitchFamily="34" charset="0"/>
                        </a:rPr>
                        <a:t>View sitting over source specificconformed tables –should be identicalstructure to warehousestaging table andwarehouse external view​</a:t>
                      </a:r>
                      <a:endParaRPr lang="en-US"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Temporary parquet files​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Transient object over the parquet file directory for the table​</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Full history and effectively a copy of the conformed view contents, but within synapse​</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auto"/>
                      <a:r>
                        <a:rPr lang="en-GB" sz="1000" b="0" i="0" dirty="0">
                          <a:solidFill>
                            <a:srgbClr val="FB4D0A"/>
                          </a:solidFill>
                          <a:effectLst/>
                          <a:latin typeface="Calibri" panose="020F0502020204030204" pitchFamily="34" charset="0"/>
                        </a:rPr>
                        <a:t>​</a:t>
                      </a: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796606399"/>
                  </a:ext>
                </a:extLst>
              </a:tr>
              <a:tr h="495335">
                <a:tc>
                  <a:txBody>
                    <a:bodyPr/>
                    <a:lstStyle/>
                    <a:p>
                      <a:pPr algn="l" fontAlgn="base"/>
                      <a:r>
                        <a:rPr lang="en-GB" sz="1000" b="0" i="0">
                          <a:solidFill>
                            <a:srgbClr val="FB4D0A"/>
                          </a:solidFill>
                          <a:effectLst/>
                          <a:latin typeface="Calibri" panose="020F0502020204030204" pitchFamily="34" charset="0"/>
                        </a:rPr>
                        <a:t>Modelled in ERWIN​</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279792456"/>
                  </a:ext>
                </a:extLst>
              </a:tr>
              <a:tr h="281846">
                <a:tc>
                  <a:txBody>
                    <a:bodyPr/>
                    <a:lstStyle/>
                    <a:p>
                      <a:pPr algn="l" fontAlgn="base"/>
                      <a:r>
                        <a:rPr lang="en-GB" sz="1000" b="0" i="0">
                          <a:solidFill>
                            <a:srgbClr val="FB4D0A"/>
                          </a:solidFill>
                          <a:effectLst/>
                          <a:latin typeface="Calibri" panose="020F0502020204030204" pitchFamily="34" charset="0"/>
                        </a:rPr>
                        <a:t>Creates HBK​</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US" sz="1000" b="0" i="0" dirty="0">
                          <a:solidFill>
                            <a:srgbClr val="FB4D0A"/>
                          </a:solidFill>
                          <a:effectLst/>
                          <a:latin typeface="Calibri" panose="020F0502020204030204" pitchFamily="34" charset="0"/>
                        </a:rPr>
                        <a:t>Yes</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1582718861"/>
                  </a:ext>
                </a:extLst>
              </a:tr>
              <a:tr h="380346">
                <a:tc>
                  <a:txBody>
                    <a:bodyPr/>
                    <a:lstStyle/>
                    <a:p>
                      <a:pPr algn="l" fontAlgn="base"/>
                      <a:r>
                        <a:rPr lang="en-GB" sz="1000" b="0" i="0" dirty="0">
                          <a:solidFill>
                            <a:srgbClr val="FB4D0A"/>
                          </a:solidFill>
                          <a:effectLst/>
                          <a:latin typeface="Calibri" panose="020F0502020204030204" pitchFamily="34" charset="0"/>
                        </a:rPr>
                        <a:t>Metadata Object defined (table/view)​</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2546433532"/>
                  </a:ext>
                </a:extLst>
              </a:tr>
              <a:tr h="451869">
                <a:tc>
                  <a:txBody>
                    <a:bodyPr/>
                    <a:lstStyle/>
                    <a:p>
                      <a:pPr algn="l" fontAlgn="base"/>
                      <a:r>
                        <a:rPr lang="en-GB" sz="1000" b="0" i="0" dirty="0">
                          <a:solidFill>
                            <a:srgbClr val="FB4D0A"/>
                          </a:solidFill>
                          <a:effectLst/>
                          <a:latin typeface="Calibri" panose="020F0502020204030204" pitchFamily="34" charset="0"/>
                        </a:rPr>
                        <a:t>Metadata Object definition defined (columns)​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4225460564"/>
                  </a:ext>
                </a:extLst>
              </a:tr>
              <a:tr h="451869">
                <a:tc>
                  <a:txBody>
                    <a:bodyPr/>
                    <a:lstStyle/>
                    <a:p>
                      <a:pPr algn="l" fontAlgn="base"/>
                      <a:r>
                        <a:rPr lang="en-US" sz="1000" b="0" i="0" dirty="0">
                          <a:solidFill>
                            <a:srgbClr val="FB4D0A"/>
                          </a:solidFill>
                          <a:effectLst/>
                          <a:latin typeface="Calibri" panose="020F0502020204030204" pitchFamily="34" charset="0"/>
                        </a:rPr>
                        <a:t>Metadata Object Primary Key</a:t>
                      </a:r>
                      <a:endParaRPr lang="en-US"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3159593520"/>
                  </a:ext>
                </a:extLst>
              </a:tr>
              <a:tr h="380346">
                <a:tc>
                  <a:txBody>
                    <a:bodyPr/>
                    <a:lstStyle/>
                    <a:p>
                      <a:pPr algn="l" fontAlgn="base"/>
                      <a:r>
                        <a:rPr lang="en-GB" sz="1000" b="0" i="0" dirty="0">
                          <a:solidFill>
                            <a:srgbClr val="FB4D0A"/>
                          </a:solidFill>
                          <a:effectLst/>
                          <a:latin typeface="Calibri" panose="020F0502020204030204" pitchFamily="34" charset="0"/>
                        </a:rPr>
                        <a:t>Metadata column to column level mapping​</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extLst>
                  <a:ext uri="{0D108BD9-81ED-4DB2-BD59-A6C34878D82A}">
                    <a16:rowId xmlns:a16="http://schemas.microsoft.com/office/drawing/2014/main" val="2545378010"/>
                  </a:ext>
                </a:extLst>
              </a:tr>
              <a:tr h="380346">
                <a:tc>
                  <a:txBody>
                    <a:bodyPr/>
                    <a:lstStyle/>
                    <a:p>
                      <a:pPr algn="l" fontAlgn="base"/>
                      <a:r>
                        <a:rPr lang="en-GB" sz="1000" b="0" i="0" dirty="0">
                          <a:solidFill>
                            <a:srgbClr val="FB4D0A"/>
                          </a:solidFill>
                          <a:effectLst/>
                          <a:latin typeface="Calibri" panose="020F0502020204030204" pitchFamily="34" charset="0"/>
                        </a:rPr>
                        <a:t>Metadata type 2 columns defined​</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gridSpan="3">
                  <a:txBody>
                    <a:bodyPr/>
                    <a:lstStyle/>
                    <a:p>
                      <a:pPr algn="l" fontAlgn="base"/>
                      <a:r>
                        <a:rPr lang="en-GB" sz="1000" b="0" i="0" dirty="0">
                          <a:solidFill>
                            <a:srgbClr val="FB4D0A"/>
                          </a:solidFill>
                          <a:effectLst/>
                          <a:latin typeface="Calibri" panose="020F0502020204030204" pitchFamily="34" charset="0"/>
                        </a:rPr>
                        <a:t>No​</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tc hMerge="1">
                  <a:txBody>
                    <a:bodyPr/>
                    <a:lstStyle/>
                    <a:p>
                      <a:endParaRPr lang="en-US"/>
                    </a:p>
                  </a:txBody>
                  <a:tcPr/>
                </a:tc>
                <a:tc hMerge="1">
                  <a:txBody>
                    <a:bodyPr/>
                    <a:lstStyle/>
                    <a:p>
                      <a:endParaRPr lang="en-US"/>
                    </a:p>
                  </a:txBody>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3054356423"/>
                  </a:ext>
                </a:extLst>
              </a:tr>
              <a:tr h="255374">
                <a:tc>
                  <a:txBody>
                    <a:bodyPr/>
                    <a:lstStyle/>
                    <a:p>
                      <a:pPr algn="l" fontAlgn="base"/>
                      <a:r>
                        <a:rPr lang="en-GB" sz="1000" b="0" i="0" dirty="0">
                          <a:solidFill>
                            <a:srgbClr val="FB4D0A"/>
                          </a:solidFill>
                          <a:effectLst/>
                          <a:latin typeface="Calibri" panose="020F0502020204030204" pitchFamily="34" charset="0"/>
                        </a:rPr>
                        <a:t>Metadata task​</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Yes​</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a:txBody>
                    <a:bodyPr/>
                    <a:lstStyle/>
                    <a:p>
                      <a:pPr algn="l" fontAlgn="base"/>
                      <a:r>
                        <a:rPr lang="en-GB" sz="1000" b="0" i="0">
                          <a:solidFill>
                            <a:srgbClr val="FB4D0A"/>
                          </a:solidFill>
                          <a:effectLst/>
                          <a:latin typeface="Calibri" panose="020F0502020204030204" pitchFamily="34" charset="0"/>
                        </a:rPr>
                        <a:t>No​</a:t>
                      </a:r>
                      <a:endParaRPr lang="en-GB" sz="1000" b="0" i="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gridSpan="3">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DD0CC"/>
                    </a:solidFill>
                  </a:tcPr>
                </a:tc>
                <a:tc hMerge="1">
                  <a:txBody>
                    <a:bodyPr/>
                    <a:lstStyle/>
                    <a:p>
                      <a:endParaRPr lang="en-US"/>
                    </a:p>
                  </a:txBody>
                  <a:tcPr/>
                </a:tc>
                <a:tc hMerge="1">
                  <a:txBody>
                    <a:bodyPr/>
                    <a:lstStyle/>
                    <a:p>
                      <a:endParaRPr lang="en-US"/>
                    </a:p>
                  </a:txBody>
                  <a:tcPr/>
                </a:tc>
                <a:tc>
                  <a:txBody>
                    <a:bodyPr/>
                    <a:lstStyle/>
                    <a:p>
                      <a:pPr algn="l" fontAlgn="base"/>
                      <a:r>
                        <a:rPr lang="en-GB" sz="1000" b="0" i="0" dirty="0">
                          <a:solidFill>
                            <a:srgbClr val="FB4D0A"/>
                          </a:solidFill>
                          <a:effectLst/>
                          <a:latin typeface="Calibri" panose="020F0502020204030204" pitchFamily="34" charset="0"/>
                        </a:rPr>
                        <a:t>Yes​</a:t>
                      </a:r>
                      <a:endParaRPr lang="en-GB" sz="1000" b="0" i="0" dirty="0">
                        <a:solidFill>
                          <a:srgbClr val="FB4D0A"/>
                        </a:solidFill>
                        <a:effectLst/>
                      </a:endParaRPr>
                    </a:p>
                  </a:txBody>
                  <a:tcPr marL="63478" marR="63478" marT="31739" marB="31739">
                    <a:lnL w="12192" cap="flat" cmpd="sng" algn="ctr">
                      <a:solidFill>
                        <a:srgbClr val="FFFFFF"/>
                      </a:solidFill>
                      <a:prstDash val="solid"/>
                      <a:round/>
                      <a:headEnd type="none" w="med" len="med"/>
                      <a:tailEnd type="none" w="med" len="med"/>
                    </a:lnL>
                    <a:lnR w="12192" cap="flat" cmpd="sng" algn="ctr">
                      <a:solidFill>
                        <a:srgbClr val="FFFFFF"/>
                      </a:solidFill>
                      <a:prstDash val="solid"/>
                      <a:round/>
                      <a:headEnd type="none" w="med" len="med"/>
                      <a:tailEnd type="none" w="med" len="med"/>
                    </a:lnR>
                    <a:lnT w="12192" cap="flat" cmpd="sng" algn="ctr">
                      <a:solidFill>
                        <a:srgbClr val="FFFFFF"/>
                      </a:solidFill>
                      <a:prstDash val="solid"/>
                      <a:round/>
                      <a:headEnd type="none" w="med" len="med"/>
                      <a:tailEnd type="none" w="med" len="med"/>
                    </a:lnT>
                    <a:lnB w="12192" cap="flat" cmpd="sng" algn="ctr">
                      <a:solidFill>
                        <a:srgbClr val="FFFFFF"/>
                      </a:solidFill>
                      <a:prstDash val="solid"/>
                      <a:round/>
                      <a:headEnd type="none" w="med" len="med"/>
                      <a:tailEnd type="none" w="med" len="med"/>
                    </a:lnB>
                    <a:solidFill>
                      <a:srgbClr val="FEE9E7"/>
                    </a:solidFill>
                  </a:tcPr>
                </a:tc>
                <a:extLst>
                  <a:ext uri="{0D108BD9-81ED-4DB2-BD59-A6C34878D82A}">
                    <a16:rowId xmlns:a16="http://schemas.microsoft.com/office/drawing/2014/main" val="1847342944"/>
                  </a:ext>
                </a:extLst>
              </a:tr>
            </a:tbl>
          </a:graphicData>
        </a:graphic>
      </p:graphicFrame>
      <p:sp>
        <p:nvSpPr>
          <p:cNvPr id="16" name="Title 1"/>
          <p:cNvSpPr>
            <a:spLocks noGrp="1"/>
          </p:cNvSpPr>
          <p:nvPr>
            <p:ph type="ctrTitle"/>
          </p:nvPr>
        </p:nvSpPr>
        <p:spPr>
          <a:xfrm>
            <a:off x="457200" y="385141"/>
            <a:ext cx="11277600" cy="936386"/>
          </a:xfrm>
        </p:spPr>
        <p:txBody>
          <a:bodyPr/>
          <a:lstStyle/>
          <a:p>
            <a:r>
              <a:rPr lang="en-US" b="1" dirty="0"/>
              <a:t>Metadata usage and task overlap​</a:t>
            </a:r>
          </a:p>
        </p:txBody>
      </p:sp>
    </p:spTree>
    <p:extLst>
      <p:ext uri="{BB962C8B-B14F-4D97-AF65-F5344CB8AC3E}">
        <p14:creationId xmlns:p14="http://schemas.microsoft.com/office/powerpoint/2010/main" val="2455433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Source To Raw</a:t>
            </a:r>
            <a:r>
              <a:rPr lang="en-US" sz="4200" b="1" dirty="0"/>
              <a:t> (Data)</a:t>
            </a:r>
          </a:p>
        </p:txBody>
      </p:sp>
      <p:sp>
        <p:nvSpPr>
          <p:cNvPr id="3" name="Subtitle 2"/>
          <p:cNvSpPr>
            <a:spLocks noGrp="1"/>
          </p:cNvSpPr>
          <p:nvPr>
            <p:ph type="subTitle" idx="1"/>
          </p:nvPr>
        </p:nvSpPr>
        <p:spPr>
          <a:xfrm>
            <a:off x="457200" y="2714011"/>
            <a:ext cx="10339387" cy="317500"/>
          </a:xfrm>
        </p:spPr>
        <p:txBody>
          <a:bodyPr/>
          <a:lstStyle/>
          <a:p>
            <a:r>
              <a:rPr lang="en-US" b="1" dirty="0"/>
              <a:t>Sample Data in raw (Day 1):</a:t>
            </a:r>
          </a:p>
        </p:txBody>
      </p:sp>
      <p:graphicFrame>
        <p:nvGraphicFramePr>
          <p:cNvPr id="7" name="Table 6"/>
          <p:cNvGraphicFramePr>
            <a:graphicFrameLocks noGrp="1"/>
          </p:cNvGraphicFramePr>
          <p:nvPr>
            <p:extLst>
              <p:ext uri="{D42A27DB-BD31-4B8C-83A1-F6EECF244321}">
                <p14:modId xmlns:p14="http://schemas.microsoft.com/office/powerpoint/2010/main" val="86176882"/>
              </p:ext>
            </p:extLst>
          </p:nvPr>
        </p:nvGraphicFramePr>
        <p:xfrm>
          <a:off x="1395412" y="3031511"/>
          <a:ext cx="8209651" cy="807085"/>
        </p:xfrm>
        <a:graphic>
          <a:graphicData uri="http://schemas.openxmlformats.org/drawingml/2006/table">
            <a:tbl>
              <a:tblPr firstRow="1" bandRow="1"/>
              <a:tblGrid>
                <a:gridCol w="454041">
                  <a:extLst>
                    <a:ext uri="{9D8B030D-6E8A-4147-A177-3AD203B41FA5}">
                      <a16:colId xmlns:a16="http://schemas.microsoft.com/office/drawing/2014/main" val="513196883"/>
                    </a:ext>
                  </a:extLst>
                </a:gridCol>
                <a:gridCol w="1259586">
                  <a:extLst>
                    <a:ext uri="{9D8B030D-6E8A-4147-A177-3AD203B41FA5}">
                      <a16:colId xmlns:a16="http://schemas.microsoft.com/office/drawing/2014/main" val="1717096419"/>
                    </a:ext>
                  </a:extLst>
                </a:gridCol>
                <a:gridCol w="1479994">
                  <a:extLst>
                    <a:ext uri="{9D8B030D-6E8A-4147-A177-3AD203B41FA5}">
                      <a16:colId xmlns:a16="http://schemas.microsoft.com/office/drawing/2014/main" val="2945889926"/>
                    </a:ext>
                  </a:extLst>
                </a:gridCol>
                <a:gridCol w="923925">
                  <a:extLst>
                    <a:ext uri="{9D8B030D-6E8A-4147-A177-3AD203B41FA5}">
                      <a16:colId xmlns:a16="http://schemas.microsoft.com/office/drawing/2014/main" val="2729230828"/>
                    </a:ext>
                  </a:extLst>
                </a:gridCol>
                <a:gridCol w="621094">
                  <a:extLst>
                    <a:ext uri="{9D8B030D-6E8A-4147-A177-3AD203B41FA5}">
                      <a16:colId xmlns:a16="http://schemas.microsoft.com/office/drawing/2014/main" val="1952082620"/>
                    </a:ext>
                  </a:extLst>
                </a:gridCol>
                <a:gridCol w="3471011">
                  <a:extLst>
                    <a:ext uri="{9D8B030D-6E8A-4147-A177-3AD203B41FA5}">
                      <a16:colId xmlns:a16="http://schemas.microsoft.com/office/drawing/2014/main" val="2395678691"/>
                    </a:ext>
                  </a:extLst>
                </a:gridCol>
              </a:tblGrid>
              <a:tr h="370840">
                <a:tc rowSpan="2">
                  <a:txBody>
                    <a:bodyPr/>
                    <a:lstStyle/>
                    <a:p>
                      <a:pPr algn="ctr" fontAlgn="b"/>
                      <a:r>
                        <a:rPr lang="en-IN" sz="1400" u="none" strike="noStrike" kern="1200" dirty="0">
                          <a:solidFill>
                            <a:schemeClr val="bg1"/>
                          </a:solidFill>
                          <a:effectLst/>
                        </a:rPr>
                        <a:t>Day 1</a:t>
                      </a:r>
                      <a:endParaRPr lang="en-US" sz="1400" u="none" strike="noStrike" kern="1200" dirty="0">
                        <a:solidFill>
                          <a:schemeClr val="bg1"/>
                        </a:solidFill>
                        <a:effectLst/>
                        <a:latin typeface="+mn-lt"/>
                        <a:ea typeface="+mn-ea"/>
                        <a:cs typeface="+mn-cs"/>
                      </a:endParaRPr>
                    </a:p>
                  </a:txBody>
                  <a:tcPr marL="9525" marR="9525" marT="9525" marB="0" anchor="ctr">
                    <a:solidFill>
                      <a:schemeClr val="accent6">
                        <a:lumMod val="75000"/>
                      </a:schemeClr>
                    </a:solidFill>
                  </a:tcPr>
                </a:tc>
                <a:tc>
                  <a:txBody>
                    <a:bodyPr/>
                    <a:lstStyle/>
                    <a:p>
                      <a:pPr algn="ctr" fontAlgn="b"/>
                      <a:r>
                        <a:rPr lang="en-US" sz="1400" u="none" strike="noStrike" dirty="0" err="1">
                          <a:solidFill>
                            <a:schemeClr val="bg1"/>
                          </a:solidFill>
                          <a:effectLst/>
                        </a:rPr>
                        <a:t>lakeCreatedDate</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a:solidFill>
                            <a:schemeClr val="bg1"/>
                          </a:solidFill>
                          <a:effectLst/>
                        </a:rPr>
                        <a:t>lakeCreatedBatchID</a:t>
                      </a:r>
                      <a:endParaRPr lang="en-US" sz="1400" b="1" i="0" u="none" strike="noStrike">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dirty="0" err="1">
                          <a:solidFill>
                            <a:schemeClr val="bg1"/>
                          </a:solidFill>
                          <a:effectLst/>
                        </a:rPr>
                        <a:t>PolId</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dirty="0" err="1">
                          <a:solidFill>
                            <a:schemeClr val="bg1"/>
                          </a:solidFill>
                          <a:effectLst/>
                        </a:rPr>
                        <a:t>UnitPsu</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dirty="0" err="1">
                          <a:solidFill>
                            <a:schemeClr val="bg1"/>
                          </a:solidFill>
                          <a:effectLst/>
                        </a:rPr>
                        <a:t>Nt</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extLst>
                  <a:ext uri="{0D108BD9-81ED-4DB2-BD59-A6C34878D82A}">
                    <a16:rowId xmlns:a16="http://schemas.microsoft.com/office/drawing/2014/main" val="2536845172"/>
                  </a:ext>
                </a:extLst>
              </a:tr>
              <a:tr h="370840">
                <a:tc vMerge="1">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20220610</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366</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A09857AAA</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CAN</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UPDATED N0101 OK KIT BUT NOT TEH BEST OPW. QUOTED MONTHS AGO - VERY</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2291682617"/>
                  </a:ext>
                </a:extLst>
              </a:tr>
            </a:tbl>
          </a:graphicData>
        </a:graphic>
      </p:graphicFrame>
      <p:sp>
        <p:nvSpPr>
          <p:cNvPr id="12" name="Subtitle 2"/>
          <p:cNvSpPr txBox="1">
            <a:spLocks/>
          </p:cNvSpPr>
          <p:nvPr/>
        </p:nvSpPr>
        <p:spPr>
          <a:xfrm>
            <a:off x="457200" y="4270865"/>
            <a:ext cx="10339387"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raw table (Day 1):</a:t>
            </a:r>
          </a:p>
        </p:txBody>
      </p:sp>
      <p:sp>
        <p:nvSpPr>
          <p:cNvPr id="9" name="Subtitle 2"/>
          <p:cNvSpPr txBox="1">
            <a:spLocks/>
          </p:cNvSpPr>
          <p:nvPr/>
        </p:nvSpPr>
        <p:spPr>
          <a:xfrm>
            <a:off x="457200" y="1840902"/>
            <a:ext cx="10339387"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source (Day 1):</a:t>
            </a:r>
          </a:p>
        </p:txBody>
      </p:sp>
      <p:sp>
        <p:nvSpPr>
          <p:cNvPr id="5" name="Rectangle 4"/>
          <p:cNvSpPr/>
          <p:nvPr/>
        </p:nvSpPr>
        <p:spPr>
          <a:xfrm>
            <a:off x="1395412" y="2050307"/>
            <a:ext cx="1157625" cy="338554"/>
          </a:xfrm>
          <a:prstGeom prst="rect">
            <a:avLst/>
          </a:prstGeom>
        </p:spPr>
        <p:txBody>
          <a:bodyPr wrap="none">
            <a:spAutoFit/>
          </a:bodyPr>
          <a:lstStyle/>
          <a:p>
            <a:r>
              <a:rPr lang="en-US" sz="1600" dirty="0">
                <a:solidFill>
                  <a:schemeClr val="tx2"/>
                </a:solidFill>
                <a:cs typeface="Calibri" panose="020F0502020204030204" pitchFamily="34" charset="0"/>
              </a:rPr>
              <a:t>Full Refresh</a:t>
            </a:r>
          </a:p>
        </p:txBody>
      </p:sp>
      <p:pic>
        <p:nvPicPr>
          <p:cNvPr id="14" name="Picture 13"/>
          <p:cNvPicPr>
            <a:picLocks noChangeAspect="1"/>
          </p:cNvPicPr>
          <p:nvPr/>
        </p:nvPicPr>
        <p:blipFill>
          <a:blip r:embed="rId2"/>
          <a:stretch>
            <a:fillRect/>
          </a:stretch>
        </p:blipFill>
        <p:spPr>
          <a:xfrm>
            <a:off x="1395412" y="4588364"/>
            <a:ext cx="9401175" cy="489585"/>
          </a:xfrm>
          <a:prstGeom prst="rect">
            <a:avLst/>
          </a:prstGeom>
        </p:spPr>
      </p:pic>
    </p:spTree>
    <p:extLst>
      <p:ext uri="{BB962C8B-B14F-4D97-AF65-F5344CB8AC3E}">
        <p14:creationId xmlns:p14="http://schemas.microsoft.com/office/powerpoint/2010/main" val="1273472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Source To Raw</a:t>
            </a:r>
            <a:r>
              <a:rPr lang="en-US" sz="4200" b="1" dirty="0"/>
              <a:t> (Data)</a:t>
            </a:r>
          </a:p>
        </p:txBody>
      </p:sp>
      <p:sp>
        <p:nvSpPr>
          <p:cNvPr id="3" name="Subtitle 2"/>
          <p:cNvSpPr>
            <a:spLocks noGrp="1"/>
          </p:cNvSpPr>
          <p:nvPr>
            <p:ph type="subTitle" idx="1"/>
          </p:nvPr>
        </p:nvSpPr>
        <p:spPr>
          <a:xfrm>
            <a:off x="457200" y="2714010"/>
            <a:ext cx="10339387" cy="317500"/>
          </a:xfrm>
        </p:spPr>
        <p:txBody>
          <a:bodyPr/>
          <a:lstStyle/>
          <a:p>
            <a:r>
              <a:rPr lang="en-US" b="1" dirty="0"/>
              <a:t>Sample Data in raw (Day 2):</a:t>
            </a:r>
          </a:p>
        </p:txBody>
      </p:sp>
      <p:graphicFrame>
        <p:nvGraphicFramePr>
          <p:cNvPr id="8" name="Table 7"/>
          <p:cNvGraphicFramePr>
            <a:graphicFrameLocks noGrp="1"/>
          </p:cNvGraphicFramePr>
          <p:nvPr>
            <p:extLst>
              <p:ext uri="{D42A27DB-BD31-4B8C-83A1-F6EECF244321}">
                <p14:modId xmlns:p14="http://schemas.microsoft.com/office/powerpoint/2010/main" val="3834508408"/>
              </p:ext>
            </p:extLst>
          </p:nvPr>
        </p:nvGraphicFramePr>
        <p:xfrm>
          <a:off x="1395412" y="3031510"/>
          <a:ext cx="8219664" cy="807085"/>
        </p:xfrm>
        <a:graphic>
          <a:graphicData uri="http://schemas.openxmlformats.org/drawingml/2006/table">
            <a:tbl>
              <a:tblPr firstRow="1" bandRow="1"/>
              <a:tblGrid>
                <a:gridCol w="461836">
                  <a:extLst>
                    <a:ext uri="{9D8B030D-6E8A-4147-A177-3AD203B41FA5}">
                      <a16:colId xmlns:a16="http://schemas.microsoft.com/office/drawing/2014/main" val="513196883"/>
                    </a:ext>
                  </a:extLst>
                </a:gridCol>
                <a:gridCol w="1259586">
                  <a:extLst>
                    <a:ext uri="{9D8B030D-6E8A-4147-A177-3AD203B41FA5}">
                      <a16:colId xmlns:a16="http://schemas.microsoft.com/office/drawing/2014/main" val="1717096419"/>
                    </a:ext>
                  </a:extLst>
                </a:gridCol>
                <a:gridCol w="1479994">
                  <a:extLst>
                    <a:ext uri="{9D8B030D-6E8A-4147-A177-3AD203B41FA5}">
                      <a16:colId xmlns:a16="http://schemas.microsoft.com/office/drawing/2014/main" val="2945889926"/>
                    </a:ext>
                  </a:extLst>
                </a:gridCol>
                <a:gridCol w="923925">
                  <a:extLst>
                    <a:ext uri="{9D8B030D-6E8A-4147-A177-3AD203B41FA5}">
                      <a16:colId xmlns:a16="http://schemas.microsoft.com/office/drawing/2014/main" val="2729230828"/>
                    </a:ext>
                  </a:extLst>
                </a:gridCol>
                <a:gridCol w="621094">
                  <a:extLst>
                    <a:ext uri="{9D8B030D-6E8A-4147-A177-3AD203B41FA5}">
                      <a16:colId xmlns:a16="http://schemas.microsoft.com/office/drawing/2014/main" val="1952082620"/>
                    </a:ext>
                  </a:extLst>
                </a:gridCol>
                <a:gridCol w="3473229">
                  <a:extLst>
                    <a:ext uri="{9D8B030D-6E8A-4147-A177-3AD203B41FA5}">
                      <a16:colId xmlns:a16="http://schemas.microsoft.com/office/drawing/2014/main" val="2395678691"/>
                    </a:ext>
                  </a:extLst>
                </a:gridCol>
              </a:tblGrid>
              <a:tr h="370840">
                <a:tc rowSpan="2">
                  <a:txBody>
                    <a:bodyPr/>
                    <a:lstStyle/>
                    <a:p>
                      <a:pPr algn="ctr" fontAlgn="b"/>
                      <a:r>
                        <a:rPr lang="en-IN" sz="1400" u="none" strike="noStrike" kern="1200" dirty="0">
                          <a:solidFill>
                            <a:schemeClr val="bg1"/>
                          </a:solidFill>
                          <a:effectLst/>
                        </a:rPr>
                        <a:t>Day 2</a:t>
                      </a:r>
                      <a:endParaRPr lang="en-US" sz="1400" u="none" strike="noStrike" kern="1200" dirty="0">
                        <a:solidFill>
                          <a:schemeClr val="bg1"/>
                        </a:solidFill>
                        <a:effectLst/>
                        <a:latin typeface="+mn-lt"/>
                        <a:ea typeface="+mn-ea"/>
                        <a:cs typeface="+mn-cs"/>
                      </a:endParaRPr>
                    </a:p>
                  </a:txBody>
                  <a:tcPr marL="9525" marR="9525" marT="9525" marB="0" anchor="ctr">
                    <a:solidFill>
                      <a:schemeClr val="accent6">
                        <a:lumMod val="75000"/>
                      </a:schemeClr>
                    </a:solidFill>
                  </a:tcPr>
                </a:tc>
                <a:tc>
                  <a:txBody>
                    <a:bodyPr/>
                    <a:lstStyle/>
                    <a:p>
                      <a:pPr algn="ctr" fontAlgn="b"/>
                      <a:r>
                        <a:rPr lang="en-US" sz="1400" u="none" strike="noStrike" dirty="0" err="1">
                          <a:solidFill>
                            <a:schemeClr val="bg1"/>
                          </a:solidFill>
                          <a:effectLst/>
                        </a:rPr>
                        <a:t>lakeCreatedDate</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a:solidFill>
                            <a:schemeClr val="bg1"/>
                          </a:solidFill>
                          <a:effectLst/>
                        </a:rPr>
                        <a:t>lakeCreatedBatchID</a:t>
                      </a:r>
                      <a:endParaRPr lang="en-US" sz="1400" b="1" i="0" u="none" strike="noStrike">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a:solidFill>
                            <a:schemeClr val="bg1"/>
                          </a:solidFill>
                          <a:effectLst/>
                        </a:rPr>
                        <a:t>PolId</a:t>
                      </a:r>
                      <a:endParaRPr lang="en-US" sz="1400" b="1" i="0" u="none" strike="noStrike">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dirty="0" err="1">
                          <a:solidFill>
                            <a:schemeClr val="bg1"/>
                          </a:solidFill>
                          <a:effectLst/>
                        </a:rPr>
                        <a:t>UnitPsu</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n-US" sz="1400" u="none" strike="noStrike" dirty="0" err="1">
                          <a:solidFill>
                            <a:schemeClr val="bg1"/>
                          </a:solidFill>
                          <a:effectLst/>
                        </a:rPr>
                        <a:t>Nt</a:t>
                      </a:r>
                      <a:endParaRPr lang="en-US" sz="14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b">
                    <a:solidFill>
                      <a:schemeClr val="accent6">
                        <a:lumMod val="75000"/>
                      </a:schemeClr>
                    </a:solidFill>
                  </a:tcPr>
                </a:tc>
                <a:extLst>
                  <a:ext uri="{0D108BD9-81ED-4DB2-BD59-A6C34878D82A}">
                    <a16:rowId xmlns:a16="http://schemas.microsoft.com/office/drawing/2014/main" val="2536845172"/>
                  </a:ext>
                </a:extLst>
              </a:tr>
              <a:tr h="370840">
                <a:tc vMerge="1">
                  <a:txBody>
                    <a:bodyPr/>
                    <a:lstStyle/>
                    <a:p>
                      <a:pPr algn="r"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20220610</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369</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A09857AAA</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CAN</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ctr" fontAlgn="b"/>
                      <a:r>
                        <a:rPr lang="en-US" sz="1400" u="none" strike="noStrike" dirty="0">
                          <a:effectLst/>
                        </a:rPr>
                        <a:t>UPDATED 2 UPDATED N0101 OK KIT BUT NOT TEH BEST OPW. QUOTED MONTHS AGO - VERY</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tc>
                <a:extLst>
                  <a:ext uri="{0D108BD9-81ED-4DB2-BD59-A6C34878D82A}">
                    <a16:rowId xmlns:a16="http://schemas.microsoft.com/office/drawing/2014/main" val="2291682617"/>
                  </a:ext>
                </a:extLst>
              </a:tr>
            </a:tbl>
          </a:graphicData>
        </a:graphic>
      </p:graphicFrame>
      <p:pic>
        <p:nvPicPr>
          <p:cNvPr id="11" name="Picture 10"/>
          <p:cNvPicPr>
            <a:picLocks noChangeAspect="1"/>
          </p:cNvPicPr>
          <p:nvPr/>
        </p:nvPicPr>
        <p:blipFill>
          <a:blip r:embed="rId2">
            <a:lum contrast="20000"/>
          </a:blip>
          <a:stretch>
            <a:fillRect/>
          </a:stretch>
        </p:blipFill>
        <p:spPr>
          <a:xfrm>
            <a:off x="1395412" y="4608944"/>
            <a:ext cx="9401175" cy="590550"/>
          </a:xfrm>
          <a:prstGeom prst="rect">
            <a:avLst/>
          </a:prstGeom>
        </p:spPr>
      </p:pic>
      <p:sp>
        <p:nvSpPr>
          <p:cNvPr id="12" name="Subtitle 2"/>
          <p:cNvSpPr txBox="1">
            <a:spLocks/>
          </p:cNvSpPr>
          <p:nvPr/>
        </p:nvSpPr>
        <p:spPr>
          <a:xfrm>
            <a:off x="457200" y="4270863"/>
            <a:ext cx="10339387"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raw table (Day 2):</a:t>
            </a:r>
          </a:p>
        </p:txBody>
      </p:sp>
      <p:sp>
        <p:nvSpPr>
          <p:cNvPr id="9" name="Subtitle 2"/>
          <p:cNvSpPr txBox="1">
            <a:spLocks/>
          </p:cNvSpPr>
          <p:nvPr/>
        </p:nvSpPr>
        <p:spPr>
          <a:xfrm>
            <a:off x="457200" y="1814776"/>
            <a:ext cx="10339387"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source- (Day 2):</a:t>
            </a:r>
          </a:p>
        </p:txBody>
      </p:sp>
      <p:sp>
        <p:nvSpPr>
          <p:cNvPr id="5" name="Rectangle 4"/>
          <p:cNvSpPr/>
          <p:nvPr/>
        </p:nvSpPr>
        <p:spPr>
          <a:xfrm>
            <a:off x="1395412" y="2050306"/>
            <a:ext cx="1157625" cy="338554"/>
          </a:xfrm>
          <a:prstGeom prst="rect">
            <a:avLst/>
          </a:prstGeom>
        </p:spPr>
        <p:txBody>
          <a:bodyPr wrap="none">
            <a:spAutoFit/>
          </a:bodyPr>
          <a:lstStyle/>
          <a:p>
            <a:r>
              <a:rPr lang="en-US" sz="1600" dirty="0">
                <a:solidFill>
                  <a:schemeClr val="tx2"/>
                </a:solidFill>
                <a:cs typeface="Calibri" panose="020F0502020204030204" pitchFamily="34" charset="0"/>
              </a:rPr>
              <a:t>Full Refresh</a:t>
            </a:r>
          </a:p>
        </p:txBody>
      </p:sp>
    </p:spTree>
    <p:extLst>
      <p:ext uri="{BB962C8B-B14F-4D97-AF65-F5344CB8AC3E}">
        <p14:creationId xmlns:p14="http://schemas.microsoft.com/office/powerpoint/2010/main" val="2725155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Source To Raw</a:t>
            </a:r>
            <a:r>
              <a:rPr lang="en-US" sz="4200" b="1" dirty="0"/>
              <a:t> (Reconciliation)</a:t>
            </a:r>
          </a:p>
        </p:txBody>
      </p:sp>
      <p:sp>
        <p:nvSpPr>
          <p:cNvPr id="3" name="Subtitle 2"/>
          <p:cNvSpPr>
            <a:spLocks noGrp="1"/>
          </p:cNvSpPr>
          <p:nvPr>
            <p:ph type="subTitle" idx="1"/>
          </p:nvPr>
        </p:nvSpPr>
        <p:spPr>
          <a:xfrm>
            <a:off x="457199" y="1659840"/>
            <a:ext cx="11277601" cy="3496360"/>
          </a:xfrm>
        </p:spPr>
        <p:txBody>
          <a:bodyPr/>
          <a:lstStyle/>
          <a:p>
            <a:r>
              <a:rPr lang="en-US" dirty="0">
                <a:solidFill>
                  <a:srgbClr val="000000"/>
                </a:solidFill>
              </a:rPr>
              <a:t>As CDC is yet to be implemented, full extract of data is taken from source that gets ingested in the platform. In near future, only modified records will make it to data platform via CDC. Basic data standardization (such as trim, upper, etc.) gets applied on identified attributes.</a:t>
            </a:r>
            <a:endParaRPr lang="en-IN" dirty="0">
              <a:solidFill>
                <a:srgbClr val="000000"/>
              </a:solidFill>
            </a:endParaRPr>
          </a:p>
          <a:p>
            <a:endParaRPr lang="en-IN" dirty="0">
              <a:solidFill>
                <a:srgbClr val="000000"/>
              </a:solidFill>
            </a:endParaRPr>
          </a:p>
          <a:p>
            <a:r>
              <a:rPr lang="en-US" b="1" dirty="0">
                <a:solidFill>
                  <a:srgbClr val="000000"/>
                </a:solidFill>
              </a:rPr>
              <a:t>Reconciliation:</a:t>
            </a:r>
          </a:p>
          <a:p>
            <a:r>
              <a:rPr lang="en-IN" dirty="0">
                <a:solidFill>
                  <a:srgbClr val="000000"/>
                </a:solidFill>
              </a:rPr>
              <a:t>All the reconciliation code is in progress and will be available on databricks notebook – </a:t>
            </a:r>
            <a:r>
              <a:rPr lang="en-IN" dirty="0" err="1">
                <a:solidFill>
                  <a:srgbClr val="000000"/>
                </a:solidFill>
                <a:hlinkClick r:id="rId2"/>
              </a:rPr>
              <a:t>Src_Raw_Reconciliation</a:t>
            </a:r>
            <a:endParaRPr lang="en-IN" dirty="0">
              <a:solidFill>
                <a:srgbClr val="000000"/>
              </a:solidFill>
            </a:endParaRPr>
          </a:p>
          <a:p>
            <a:endParaRPr lang="en-US" b="1" dirty="0">
              <a:solidFill>
                <a:srgbClr val="000000"/>
              </a:solidFill>
            </a:endParaRPr>
          </a:p>
          <a:p>
            <a:pPr marL="285750" indent="-285750">
              <a:buFont typeface="Arial" panose="020B0604020202020204" pitchFamily="34" charset="0"/>
              <a:buChar char="•"/>
            </a:pPr>
            <a:r>
              <a:rPr lang="en-IN" dirty="0">
                <a:solidFill>
                  <a:srgbClr val="000000"/>
                </a:solidFill>
              </a:rPr>
              <a:t>Record count validation between corresponding source and raw table</a:t>
            </a:r>
            <a:endParaRPr lang="en-US" dirty="0">
              <a:solidFill>
                <a:srgbClr val="000000"/>
              </a:solidFill>
            </a:endParaRPr>
          </a:p>
          <a:p>
            <a:endParaRPr lang="en-IN" dirty="0">
              <a:solidFill>
                <a:srgbClr val="000000"/>
              </a:solidFill>
            </a:endParaRPr>
          </a:p>
          <a:p>
            <a:r>
              <a:rPr lang="en-US" b="1" dirty="0">
                <a:solidFill>
                  <a:srgbClr val="000000"/>
                </a:solidFill>
              </a:rPr>
              <a:t>Incremental Load:</a:t>
            </a:r>
          </a:p>
          <a:p>
            <a:r>
              <a:rPr lang="en-IN" dirty="0">
                <a:solidFill>
                  <a:srgbClr val="000000"/>
                </a:solidFill>
              </a:rPr>
              <a:t>Even for the incremental load, processing approach remains the same</a:t>
            </a:r>
          </a:p>
        </p:txBody>
      </p:sp>
    </p:spTree>
    <p:extLst>
      <p:ext uri="{BB962C8B-B14F-4D97-AF65-F5344CB8AC3E}">
        <p14:creationId xmlns:p14="http://schemas.microsoft.com/office/powerpoint/2010/main" val="3803041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(Data)</a:t>
            </a:r>
          </a:p>
        </p:txBody>
      </p:sp>
      <p:sp>
        <p:nvSpPr>
          <p:cNvPr id="8" name="Subtitle 2"/>
          <p:cNvSpPr txBox="1">
            <a:spLocks/>
          </p:cNvSpPr>
          <p:nvPr/>
        </p:nvSpPr>
        <p:spPr>
          <a:xfrm>
            <a:off x="457199" y="4816080"/>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standardised table (Day 1):</a:t>
            </a:r>
          </a:p>
        </p:txBody>
      </p:sp>
      <p:sp>
        <p:nvSpPr>
          <p:cNvPr id="10" name="Subtitle 2"/>
          <p:cNvSpPr txBox="1">
            <a:spLocks/>
          </p:cNvSpPr>
          <p:nvPr/>
        </p:nvSpPr>
        <p:spPr>
          <a:xfrm>
            <a:off x="457200" y="1297439"/>
            <a:ext cx="4493623"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raw (Day 1):</a:t>
            </a:r>
          </a:p>
        </p:txBody>
      </p:sp>
      <p:sp>
        <p:nvSpPr>
          <p:cNvPr id="11" name="Rectangle 10"/>
          <p:cNvSpPr/>
          <p:nvPr/>
        </p:nvSpPr>
        <p:spPr>
          <a:xfrm>
            <a:off x="783771" y="1614939"/>
            <a:ext cx="10248046" cy="692497"/>
          </a:xfrm>
          <a:prstGeom prst="rect">
            <a:avLst/>
          </a:prstGeom>
          <a:ln>
            <a:solidFill>
              <a:schemeClr val="tx1"/>
            </a:solidFill>
          </a:ln>
        </p:spPr>
        <p:txBody>
          <a:bodyPr wrap="square">
            <a:spAutoFit/>
          </a:bodyPr>
          <a:lstStyle/>
          <a:p>
            <a:r>
              <a:rPr lang="en-US" sz="1300" strike="sngStrike" dirty="0">
                <a:solidFill>
                  <a:schemeClr val="tx2"/>
                </a:solidFill>
                <a:cs typeface="Calibri" panose="020F0502020204030204" pitchFamily="34" charset="0"/>
              </a:rPr>
              <a:t>((</a:t>
            </a:r>
            <a:r>
              <a:rPr lang="en-US" sz="1300" strike="sngStrike" dirty="0" err="1">
                <a:solidFill>
                  <a:schemeClr val="tx2"/>
                </a:solidFill>
                <a:cs typeface="Calibri" panose="020F0502020204030204" pitchFamily="34" charset="0"/>
              </a:rPr>
              <a:t>lakeCreatedDate</a:t>
            </a:r>
            <a:r>
              <a:rPr lang="en-US" sz="1300" strike="sngStrike" dirty="0">
                <a:solidFill>
                  <a:schemeClr val="tx2"/>
                </a:solidFill>
                <a:cs typeface="Calibri" panose="020F0502020204030204" pitchFamily="34" charset="0"/>
              </a:rPr>
              <a:t> = 20220530) OR (</a:t>
            </a:r>
            <a:r>
              <a:rPr lang="en-US" sz="1300" strike="sngStrike" dirty="0" err="1">
                <a:solidFill>
                  <a:schemeClr val="tx2"/>
                </a:solidFill>
                <a:cs typeface="Calibri" panose="020F0502020204030204" pitchFamily="34" charset="0"/>
              </a:rPr>
              <a:t>lakeCreatedDate</a:t>
            </a:r>
            <a:r>
              <a:rPr lang="en-US" sz="1300" strike="sngStrike" dirty="0">
                <a:solidFill>
                  <a:schemeClr val="tx2"/>
                </a:solidFill>
                <a:cs typeface="Calibri" panose="020F0502020204030204" pitchFamily="34" charset="0"/>
              </a:rPr>
              <a:t> &gt;= 20220531 AND </a:t>
            </a:r>
            <a:r>
              <a:rPr lang="en-US" sz="1300" strike="sngStrike" dirty="0" err="1">
                <a:solidFill>
                  <a:schemeClr val="tx2"/>
                </a:solidFill>
                <a:cs typeface="Calibri" panose="020F0502020204030204" pitchFamily="34" charset="0"/>
              </a:rPr>
              <a:t>lakeCreatedDate</a:t>
            </a:r>
            <a:r>
              <a:rPr lang="en-US" sz="1300" strike="sngStrike" dirty="0">
                <a:solidFill>
                  <a:schemeClr val="tx2"/>
                </a:solidFill>
                <a:cs typeface="Calibri" panose="020F0502020204030204" pitchFamily="34" charset="0"/>
              </a:rPr>
              <a:t> &lt; 20220610) OR (</a:t>
            </a:r>
            <a:r>
              <a:rPr lang="en-US" sz="1300" strike="sngStrike" dirty="0" err="1">
                <a:solidFill>
                  <a:schemeClr val="tx2"/>
                </a:solidFill>
                <a:cs typeface="Calibri" panose="020F0502020204030204" pitchFamily="34" charset="0"/>
              </a:rPr>
              <a:t>lakeCreatedDate</a:t>
            </a:r>
            <a:r>
              <a:rPr lang="en-US" sz="1300" strike="sngStrike" dirty="0">
                <a:solidFill>
                  <a:schemeClr val="tx2"/>
                </a:solidFill>
                <a:cs typeface="Calibri" panose="020F0502020204030204" pitchFamily="34" charset="0"/>
              </a:rPr>
              <a:t> = 20220610)) AND ((</a:t>
            </a:r>
            <a:r>
              <a:rPr lang="en-US" sz="1300" strike="sngStrike" dirty="0" err="1">
                <a:solidFill>
                  <a:schemeClr val="tx2"/>
                </a:solidFill>
                <a:cs typeface="Calibri" panose="020F0502020204030204" pitchFamily="34" charset="0"/>
              </a:rPr>
              <a:t>lakeCreatedTimeStamp</a:t>
            </a:r>
            <a:r>
              <a:rPr lang="en-US" sz="1300" strike="sngStrike" dirty="0">
                <a:solidFill>
                  <a:schemeClr val="tx2"/>
                </a:solidFill>
                <a:cs typeface="Calibri" panose="020F0502020204030204" pitchFamily="34" charset="0"/>
              </a:rPr>
              <a:t> &gt; CAST('2022-05-30 19:12:58.233' AS TIMESTAMP)) AND (</a:t>
            </a:r>
            <a:r>
              <a:rPr lang="en-US" sz="1300" strike="sngStrike" dirty="0" err="1">
                <a:solidFill>
                  <a:schemeClr val="tx2"/>
                </a:solidFill>
                <a:cs typeface="Calibri" panose="020F0502020204030204" pitchFamily="34" charset="0"/>
              </a:rPr>
              <a:t>lakeCreatedTimeStamp</a:t>
            </a:r>
            <a:r>
              <a:rPr lang="en-US" sz="1300" strike="sngStrike" dirty="0">
                <a:solidFill>
                  <a:schemeClr val="tx2"/>
                </a:solidFill>
                <a:cs typeface="Calibri" panose="020F0502020204030204" pitchFamily="34" charset="0"/>
              </a:rPr>
              <a:t> &lt;= CAST('2022-06-10 11:44:10.660' AS TIMESTAMP)))</a:t>
            </a:r>
          </a:p>
        </p:txBody>
      </p:sp>
      <p:sp>
        <p:nvSpPr>
          <p:cNvPr id="13" name="Subtitle 2"/>
          <p:cNvSpPr>
            <a:spLocks noGrp="1"/>
          </p:cNvSpPr>
          <p:nvPr>
            <p:ph type="subTitle" idx="1"/>
          </p:nvPr>
        </p:nvSpPr>
        <p:spPr>
          <a:xfrm>
            <a:off x="457200" y="2637054"/>
            <a:ext cx="11277601" cy="317500"/>
          </a:xfrm>
        </p:spPr>
        <p:txBody>
          <a:bodyPr/>
          <a:lstStyle/>
          <a:p>
            <a:r>
              <a:rPr lang="en-US" b="1" dirty="0"/>
              <a:t>Sample Data in standardised (Day 1):</a:t>
            </a:r>
          </a:p>
        </p:txBody>
      </p:sp>
      <p:grpSp>
        <p:nvGrpSpPr>
          <p:cNvPr id="14" name="Group 13"/>
          <p:cNvGrpSpPr/>
          <p:nvPr/>
        </p:nvGrpSpPr>
        <p:grpSpPr>
          <a:xfrm>
            <a:off x="1041400" y="3015150"/>
            <a:ext cx="10172700" cy="1244600"/>
            <a:chOff x="1041400" y="1993900"/>
            <a:chExt cx="10172700" cy="1244600"/>
          </a:xfrm>
        </p:grpSpPr>
        <p:pic>
          <p:nvPicPr>
            <p:cNvPr id="15" name="Picture 14"/>
            <p:cNvPicPr>
              <a:picLocks noChangeAspect="1"/>
            </p:cNvPicPr>
            <p:nvPr/>
          </p:nvPicPr>
          <p:blipFill>
            <a:blip r:embed="rId2"/>
            <a:stretch>
              <a:fillRect/>
            </a:stretch>
          </p:blipFill>
          <p:spPr>
            <a:xfrm>
              <a:off x="1155700" y="2146300"/>
              <a:ext cx="9876117" cy="402141"/>
            </a:xfrm>
            <a:prstGeom prst="rect">
              <a:avLst/>
            </a:prstGeom>
            <a:noFill/>
            <a:ln w="28575">
              <a:prstDash val="lgDash"/>
            </a:ln>
          </p:spPr>
        </p:pic>
        <p:pic>
          <p:nvPicPr>
            <p:cNvPr id="16" name="Picture 15"/>
            <p:cNvPicPr>
              <a:picLocks noChangeAspect="1"/>
            </p:cNvPicPr>
            <p:nvPr/>
          </p:nvPicPr>
          <p:blipFill>
            <a:blip r:embed="rId3"/>
            <a:stretch>
              <a:fillRect/>
            </a:stretch>
          </p:blipFill>
          <p:spPr>
            <a:xfrm>
              <a:off x="1155699" y="2720358"/>
              <a:ext cx="9876117" cy="402141"/>
            </a:xfrm>
            <a:prstGeom prst="rect">
              <a:avLst/>
            </a:prstGeom>
            <a:noFill/>
            <a:ln w="28575">
              <a:prstDash val="lgDash"/>
            </a:ln>
          </p:spPr>
        </p:pic>
        <p:sp>
          <p:nvSpPr>
            <p:cNvPr id="17" name="Rounded Rectangle 16"/>
            <p:cNvSpPr/>
            <p:nvPr/>
          </p:nvSpPr>
          <p:spPr>
            <a:xfrm>
              <a:off x="1041400" y="1993900"/>
              <a:ext cx="10172700" cy="1244600"/>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Picture 18"/>
          <p:cNvPicPr>
            <a:picLocks noChangeAspect="1"/>
          </p:cNvPicPr>
          <p:nvPr/>
        </p:nvPicPr>
        <p:blipFill>
          <a:blip r:embed="rId4"/>
          <a:stretch>
            <a:fillRect/>
          </a:stretch>
        </p:blipFill>
        <p:spPr>
          <a:xfrm>
            <a:off x="1155700" y="5286926"/>
            <a:ext cx="9876116" cy="402983"/>
          </a:xfrm>
          <a:prstGeom prst="rect">
            <a:avLst/>
          </a:prstGeom>
        </p:spPr>
      </p:pic>
    </p:spTree>
    <p:extLst>
      <p:ext uri="{BB962C8B-B14F-4D97-AF65-F5344CB8AC3E}">
        <p14:creationId xmlns:p14="http://schemas.microsoft.com/office/powerpoint/2010/main" val="787919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(Data)</a:t>
            </a:r>
          </a:p>
        </p:txBody>
      </p:sp>
      <p:sp>
        <p:nvSpPr>
          <p:cNvPr id="31" name="Subtitle 2"/>
          <p:cNvSpPr txBox="1">
            <a:spLocks/>
          </p:cNvSpPr>
          <p:nvPr/>
        </p:nvSpPr>
        <p:spPr>
          <a:xfrm>
            <a:off x="457200" y="1297439"/>
            <a:ext cx="4493623"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raw (Day 2):</a:t>
            </a:r>
          </a:p>
        </p:txBody>
      </p:sp>
      <p:sp>
        <p:nvSpPr>
          <p:cNvPr id="8" name="Subtitle 2"/>
          <p:cNvSpPr txBox="1">
            <a:spLocks/>
          </p:cNvSpPr>
          <p:nvPr/>
        </p:nvSpPr>
        <p:spPr>
          <a:xfrm>
            <a:off x="457199" y="4724638"/>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standardised table (Day 2):</a:t>
            </a:r>
          </a:p>
        </p:txBody>
      </p:sp>
      <p:pic>
        <p:nvPicPr>
          <p:cNvPr id="9" name="Picture 8"/>
          <p:cNvPicPr>
            <a:picLocks noChangeAspect="1"/>
          </p:cNvPicPr>
          <p:nvPr/>
        </p:nvPicPr>
        <p:blipFill>
          <a:blip r:embed="rId2"/>
          <a:stretch>
            <a:fillRect/>
          </a:stretch>
        </p:blipFill>
        <p:spPr>
          <a:xfrm>
            <a:off x="1130298" y="5136203"/>
            <a:ext cx="9901515" cy="639360"/>
          </a:xfrm>
          <a:prstGeom prst="rect">
            <a:avLst/>
          </a:prstGeom>
        </p:spPr>
      </p:pic>
      <p:sp>
        <p:nvSpPr>
          <p:cNvPr id="4" name="Rectangle 3"/>
          <p:cNvSpPr/>
          <p:nvPr/>
        </p:nvSpPr>
        <p:spPr>
          <a:xfrm>
            <a:off x="783772" y="1614939"/>
            <a:ext cx="10248041" cy="492443"/>
          </a:xfrm>
          <a:prstGeom prst="rect">
            <a:avLst/>
          </a:prstGeom>
          <a:ln>
            <a:solidFill>
              <a:schemeClr val="tx1"/>
            </a:solidFill>
          </a:ln>
        </p:spPr>
        <p:txBody>
          <a:bodyPr wrap="square">
            <a:spAutoFit/>
          </a:bodyPr>
          <a:lstStyle/>
          <a:p>
            <a:r>
              <a:rPr lang="en-US" sz="1300" strike="sngStrike" dirty="0">
                <a:solidFill>
                  <a:schemeClr val="tx2"/>
                </a:solidFill>
                <a:cs typeface="Calibri" panose="020F0502020204030204" pitchFamily="34" charset="0"/>
              </a:rPr>
              <a:t>((</a:t>
            </a:r>
            <a:r>
              <a:rPr lang="en-US" sz="1300" strike="sngStrike" dirty="0" err="1">
                <a:solidFill>
                  <a:schemeClr val="tx2"/>
                </a:solidFill>
                <a:cs typeface="Calibri" panose="020F0502020204030204" pitchFamily="34" charset="0"/>
              </a:rPr>
              <a:t>lakeCreatedDate</a:t>
            </a:r>
            <a:r>
              <a:rPr lang="en-US" sz="1300" strike="sngStrike" dirty="0">
                <a:solidFill>
                  <a:schemeClr val="tx2"/>
                </a:solidFill>
                <a:cs typeface="Calibri" panose="020F0502020204030204" pitchFamily="34" charset="0"/>
              </a:rPr>
              <a:t> = 20220610)) AND ((</a:t>
            </a:r>
            <a:r>
              <a:rPr lang="en-US" sz="1300" strike="sngStrike" dirty="0" err="1">
                <a:solidFill>
                  <a:schemeClr val="tx2"/>
                </a:solidFill>
                <a:cs typeface="Calibri" panose="020F0502020204030204" pitchFamily="34" charset="0"/>
              </a:rPr>
              <a:t>lakeCreatedTimeStamp</a:t>
            </a:r>
            <a:r>
              <a:rPr lang="en-US" sz="1300" strike="sngStrike" dirty="0">
                <a:solidFill>
                  <a:schemeClr val="tx2"/>
                </a:solidFill>
                <a:cs typeface="Calibri" panose="020F0502020204030204" pitchFamily="34" charset="0"/>
              </a:rPr>
              <a:t> &gt; CAST('2022-06-10 11:44:10.660' AS TIMESTAMP)) AND (</a:t>
            </a:r>
            <a:r>
              <a:rPr lang="en-US" sz="1300" strike="sngStrike" dirty="0" err="1">
                <a:solidFill>
                  <a:schemeClr val="tx2"/>
                </a:solidFill>
                <a:cs typeface="Calibri" panose="020F0502020204030204" pitchFamily="34" charset="0"/>
              </a:rPr>
              <a:t>lakeCreatedTimeStamp</a:t>
            </a:r>
            <a:r>
              <a:rPr lang="en-US" sz="1300" strike="sngStrike" dirty="0">
                <a:solidFill>
                  <a:schemeClr val="tx2"/>
                </a:solidFill>
                <a:cs typeface="Calibri" panose="020F0502020204030204" pitchFamily="34" charset="0"/>
              </a:rPr>
              <a:t> &lt;= CAST('2022-06-10 16:20:42.203' AS TIMESTAMP)))</a:t>
            </a:r>
          </a:p>
        </p:txBody>
      </p:sp>
      <p:pic>
        <p:nvPicPr>
          <p:cNvPr id="36" name="Picture 35"/>
          <p:cNvPicPr>
            <a:picLocks noChangeAspect="1"/>
          </p:cNvPicPr>
          <p:nvPr/>
        </p:nvPicPr>
        <p:blipFill>
          <a:blip r:embed="rId3"/>
          <a:stretch>
            <a:fillRect/>
          </a:stretch>
        </p:blipFill>
        <p:spPr>
          <a:xfrm>
            <a:off x="1155700" y="2916027"/>
            <a:ext cx="9876117" cy="582726"/>
          </a:xfrm>
          <a:prstGeom prst="rect">
            <a:avLst/>
          </a:prstGeom>
        </p:spPr>
      </p:pic>
      <p:pic>
        <p:nvPicPr>
          <p:cNvPr id="37" name="Picture 36"/>
          <p:cNvPicPr>
            <a:picLocks noChangeAspect="1"/>
          </p:cNvPicPr>
          <p:nvPr/>
        </p:nvPicPr>
        <p:blipFill>
          <a:blip r:embed="rId4"/>
          <a:stretch>
            <a:fillRect/>
          </a:stretch>
        </p:blipFill>
        <p:spPr>
          <a:xfrm>
            <a:off x="1155698" y="3700251"/>
            <a:ext cx="9876117" cy="557343"/>
          </a:xfrm>
          <a:prstGeom prst="rect">
            <a:avLst/>
          </a:prstGeom>
        </p:spPr>
      </p:pic>
      <p:sp>
        <p:nvSpPr>
          <p:cNvPr id="38" name="Rounded Rectangle 37"/>
          <p:cNvSpPr/>
          <p:nvPr/>
        </p:nvSpPr>
        <p:spPr>
          <a:xfrm>
            <a:off x="1041400" y="2778028"/>
            <a:ext cx="10172700" cy="1569698"/>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ubtitle 2"/>
          <p:cNvSpPr>
            <a:spLocks noGrp="1"/>
          </p:cNvSpPr>
          <p:nvPr>
            <p:ph type="subTitle" idx="1"/>
          </p:nvPr>
        </p:nvSpPr>
        <p:spPr>
          <a:xfrm>
            <a:off x="457200" y="2436032"/>
            <a:ext cx="11277601" cy="317500"/>
          </a:xfrm>
        </p:spPr>
        <p:txBody>
          <a:bodyPr/>
          <a:lstStyle/>
          <a:p>
            <a:r>
              <a:rPr lang="en-US" b="1" dirty="0"/>
              <a:t>Sample Data in standardised (Day 2):</a:t>
            </a:r>
          </a:p>
        </p:txBody>
      </p:sp>
    </p:spTree>
    <p:extLst>
      <p:ext uri="{BB962C8B-B14F-4D97-AF65-F5344CB8AC3E}">
        <p14:creationId xmlns:p14="http://schemas.microsoft.com/office/powerpoint/2010/main" val="2983086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(Merge)</a:t>
            </a:r>
          </a:p>
        </p:txBody>
      </p:sp>
      <p:sp>
        <p:nvSpPr>
          <p:cNvPr id="3" name="Subtitle 2"/>
          <p:cNvSpPr>
            <a:spLocks noGrp="1"/>
          </p:cNvSpPr>
          <p:nvPr>
            <p:ph type="subTitle" idx="1"/>
          </p:nvPr>
        </p:nvSpPr>
        <p:spPr>
          <a:xfrm>
            <a:off x="457199" y="1528980"/>
            <a:ext cx="11277601" cy="308660"/>
          </a:xfrm>
        </p:spPr>
        <p:txBody>
          <a:bodyPr/>
          <a:lstStyle/>
          <a:p>
            <a:r>
              <a:rPr lang="en-US" b="1" dirty="0"/>
              <a:t>Incremental Load:</a:t>
            </a:r>
          </a:p>
        </p:txBody>
      </p:sp>
      <p:graphicFrame>
        <p:nvGraphicFramePr>
          <p:cNvPr id="6" name="Table 5"/>
          <p:cNvGraphicFramePr>
            <a:graphicFrameLocks noGrp="1"/>
          </p:cNvGraphicFramePr>
          <p:nvPr>
            <p:extLst>
              <p:ext uri="{D42A27DB-BD31-4B8C-83A1-F6EECF244321}">
                <p14:modId xmlns:p14="http://schemas.microsoft.com/office/powerpoint/2010/main" val="1962343766"/>
              </p:ext>
            </p:extLst>
          </p:nvPr>
        </p:nvGraphicFramePr>
        <p:xfrm>
          <a:off x="969018" y="1866900"/>
          <a:ext cx="10253964" cy="4023360"/>
        </p:xfrm>
        <a:graphic>
          <a:graphicData uri="http://schemas.openxmlformats.org/drawingml/2006/table">
            <a:tbl>
              <a:tblPr firstRow="1" bandRow="1">
                <a:tableStyleId>{1E171933-4619-4E11-9A3F-F7608DF75F80}</a:tableStyleId>
              </a:tblPr>
              <a:tblGrid>
                <a:gridCol w="371094">
                  <a:extLst>
                    <a:ext uri="{9D8B030D-6E8A-4147-A177-3AD203B41FA5}">
                      <a16:colId xmlns:a16="http://schemas.microsoft.com/office/drawing/2014/main" val="2264788010"/>
                    </a:ext>
                  </a:extLst>
                </a:gridCol>
                <a:gridCol w="3742709">
                  <a:extLst>
                    <a:ext uri="{9D8B030D-6E8A-4147-A177-3AD203B41FA5}">
                      <a16:colId xmlns:a16="http://schemas.microsoft.com/office/drawing/2014/main" val="960615748"/>
                    </a:ext>
                  </a:extLst>
                </a:gridCol>
                <a:gridCol w="4031742">
                  <a:extLst>
                    <a:ext uri="{9D8B030D-6E8A-4147-A177-3AD203B41FA5}">
                      <a16:colId xmlns:a16="http://schemas.microsoft.com/office/drawing/2014/main" val="2389614480"/>
                    </a:ext>
                  </a:extLst>
                </a:gridCol>
                <a:gridCol w="2108419">
                  <a:extLst>
                    <a:ext uri="{9D8B030D-6E8A-4147-A177-3AD203B41FA5}">
                      <a16:colId xmlns:a16="http://schemas.microsoft.com/office/drawing/2014/main" val="1737791690"/>
                    </a:ext>
                  </a:extLst>
                </a:gridCol>
              </a:tblGrid>
              <a:tr h="0">
                <a:tc>
                  <a:txBody>
                    <a:bodyPr/>
                    <a:lstStyle/>
                    <a:p>
                      <a:pPr algn="ctr"/>
                      <a:r>
                        <a:rPr lang="en-IN" sz="1200" dirty="0"/>
                        <a:t>Sr.</a:t>
                      </a:r>
                      <a:endParaRPr lang="en-US" sz="1200" dirty="0"/>
                    </a:p>
                  </a:txBody>
                  <a:tcPr/>
                </a:tc>
                <a:tc>
                  <a:txBody>
                    <a:bodyPr/>
                    <a:lstStyle/>
                    <a:p>
                      <a:pPr algn="ctr"/>
                      <a:r>
                        <a:rPr lang="en-IN" sz="1200" dirty="0"/>
                        <a:t>Scenario</a:t>
                      </a:r>
                      <a:endParaRPr lang="en-US" sz="1200" dirty="0"/>
                    </a:p>
                  </a:txBody>
                  <a:tcPr/>
                </a:tc>
                <a:tc>
                  <a:txBody>
                    <a:bodyPr/>
                    <a:lstStyle/>
                    <a:p>
                      <a:pPr algn="ctr"/>
                      <a:r>
                        <a:rPr lang="en-IN" sz="1200" dirty="0"/>
                        <a:t>Outcome</a:t>
                      </a:r>
                      <a:endParaRPr lang="en-US" sz="1200" dirty="0"/>
                    </a:p>
                  </a:txBody>
                  <a:tcPr/>
                </a:tc>
                <a:tc>
                  <a:txBody>
                    <a:bodyPr/>
                    <a:lstStyle/>
                    <a:p>
                      <a:pPr algn="ctr"/>
                      <a:r>
                        <a:rPr lang="en-IN" sz="1200" dirty="0"/>
                        <a:t>Description</a:t>
                      </a:r>
                      <a:endParaRPr lang="en-US" sz="1200" dirty="0"/>
                    </a:p>
                  </a:txBody>
                  <a:tcPr/>
                </a:tc>
                <a:extLst>
                  <a:ext uri="{0D108BD9-81ED-4DB2-BD59-A6C34878D82A}">
                    <a16:rowId xmlns:a16="http://schemas.microsoft.com/office/drawing/2014/main" val="2927049239"/>
                  </a:ext>
                </a:extLst>
              </a:tr>
              <a:tr h="156429">
                <a:tc>
                  <a:txBody>
                    <a:bodyPr/>
                    <a:lstStyle/>
                    <a:p>
                      <a:pPr algn="ctr"/>
                      <a:r>
                        <a:rPr lang="en-IN" sz="1200" dirty="0"/>
                        <a:t>1</a:t>
                      </a:r>
                      <a:endParaRPr lang="en-US" sz="1200" dirty="0"/>
                    </a:p>
                  </a:txBody>
                  <a:tcPr/>
                </a:tc>
                <a:tc>
                  <a:txBody>
                    <a:bodyPr/>
                    <a:lstStyle/>
                    <a:p>
                      <a:r>
                        <a:rPr lang="en-IN" sz="1200" dirty="0"/>
                        <a:t>A n</a:t>
                      </a:r>
                      <a:r>
                        <a:rPr lang="en-IN" sz="1200" baseline="0" dirty="0"/>
                        <a:t>ew record comes from Raw table that does not exist in standardised</a:t>
                      </a:r>
                    </a:p>
                    <a:p>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LCT = D1</a:t>
                      </a:r>
                      <a:endParaRPr lang="en-US" sz="1200" i="1" dirty="0">
                        <a:solidFill>
                          <a:schemeClr val="accent6">
                            <a:lumMod val="10000"/>
                          </a:schemeClr>
                        </a:solidFill>
                      </a:endParaRPr>
                    </a:p>
                  </a:txBody>
                  <a:tcPr/>
                </a:tc>
                <a:tc>
                  <a:txBody>
                    <a:bodyPr/>
                    <a:lstStyle/>
                    <a:p>
                      <a:r>
                        <a:rPr lang="en-IN" sz="1200" dirty="0"/>
                        <a:t>Record gets inserted as new and active record in standardised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NULL, DT = NULL</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New record get inserted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925760394"/>
                  </a:ext>
                </a:extLst>
              </a:tr>
              <a:tr h="281571">
                <a:tc>
                  <a:txBody>
                    <a:bodyPr/>
                    <a:lstStyle/>
                    <a:p>
                      <a:pPr algn="ctr"/>
                      <a:r>
                        <a:rPr lang="en-IN" sz="1200" dirty="0"/>
                        <a:t>2</a:t>
                      </a:r>
                      <a:endParaRPr lang="en-US" sz="1200" dirty="0"/>
                    </a:p>
                  </a:txBody>
                  <a:tcPr/>
                </a:tc>
                <a:tc>
                  <a:txBody>
                    <a:bodyPr/>
                    <a:lstStyle/>
                    <a:p>
                      <a:r>
                        <a:rPr lang="en-IN" sz="1200" baseline="0" dirty="0"/>
                        <a:t>A record (existing in Standardised) comes from Raw with some updates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2, LCT = D2</a:t>
                      </a:r>
                      <a:endParaRPr lang="en-US" sz="1200" i="1" dirty="0">
                        <a:solidFill>
                          <a:schemeClr val="accent6">
                            <a:lumMod val="10000"/>
                          </a:schemeClr>
                        </a:solidFill>
                      </a:endParaRPr>
                    </a:p>
                  </a:txBody>
                  <a:tcPr/>
                </a:tc>
                <a:tc>
                  <a:txBody>
                    <a:bodyPr/>
                    <a:lstStyle/>
                    <a:p>
                      <a:r>
                        <a:rPr lang="en-IN" sz="1200" dirty="0"/>
                        <a:t>Existing active</a:t>
                      </a:r>
                      <a:r>
                        <a:rPr lang="en-IN" sz="1200" baseline="0" dirty="0"/>
                        <a:t> r</a:t>
                      </a:r>
                      <a:r>
                        <a:rPr lang="en-IN" sz="1200" dirty="0"/>
                        <a:t>ecord marked as inactive</a:t>
                      </a:r>
                    </a:p>
                    <a:p>
                      <a:r>
                        <a:rPr lang="en-IN" sz="1200" dirty="0"/>
                        <a:t>Record gets inserted as new and active record in standardised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a:t>
                      </a:r>
                      <a:r>
                        <a:rPr lang="en-IN" sz="1200" b="1" i="1" u="sng" baseline="0" dirty="0">
                          <a:solidFill>
                            <a:schemeClr val="accent6">
                              <a:lumMod val="10000"/>
                            </a:schemeClr>
                          </a:solidFill>
                        </a:rPr>
                        <a:t>VTT = D2</a:t>
                      </a:r>
                      <a:r>
                        <a:rPr lang="en-IN" sz="1200" i="1" baseline="0" dirty="0">
                          <a:solidFill>
                            <a:schemeClr val="accent6">
                              <a:lumMod val="10000"/>
                            </a:schemeClr>
                          </a:solidFill>
                        </a:rPr>
                        <a:t>,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a:t>
                      </a:r>
                      <a:r>
                        <a:rPr lang="en-IN" sz="1200" b="1" i="1" u="sng" baseline="0" dirty="0">
                          <a:solidFill>
                            <a:schemeClr val="accent6">
                              <a:lumMod val="10000"/>
                            </a:schemeClr>
                          </a:solidFill>
                        </a:rPr>
                        <a:t>HV = 2, VFT = D2</a:t>
                      </a:r>
                      <a:r>
                        <a:rPr lang="en-IN" sz="1200" i="1" baseline="0" dirty="0">
                          <a:solidFill>
                            <a:schemeClr val="accent6">
                              <a:lumMod val="10000"/>
                            </a:schemeClr>
                          </a:solidFill>
                        </a:rPr>
                        <a:t>,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899454720"/>
                  </a:ext>
                </a:extLst>
              </a:tr>
              <a:tr h="219000">
                <a:tc>
                  <a:txBody>
                    <a:bodyPr/>
                    <a:lstStyle/>
                    <a:p>
                      <a:pPr algn="ctr"/>
                      <a:r>
                        <a:rPr lang="en-IN" sz="1200" dirty="0"/>
                        <a:t>3</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Standardised) comes from Raw with no updates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2, LCT = D3</a:t>
                      </a:r>
                      <a:endParaRPr lang="en-US" sz="1200" i="1" dirty="0">
                        <a:solidFill>
                          <a:schemeClr val="accent6">
                            <a:lumMod val="10000"/>
                          </a:schemeClr>
                        </a:solidFill>
                      </a:endParaRPr>
                    </a:p>
                  </a:txBody>
                  <a:tcPr/>
                </a:tc>
                <a:tc>
                  <a:txBody>
                    <a:bodyPr/>
                    <a:lstStyle/>
                    <a:p>
                      <a:r>
                        <a:rPr lang="en-IN" sz="1200" dirty="0"/>
                        <a:t>No</a:t>
                      </a:r>
                      <a:r>
                        <a:rPr lang="en-IN" sz="1200" baseline="0" dirty="0"/>
                        <a:t> change in Standardised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No impact on existing dataset</a:t>
                      </a:r>
                      <a:endParaRPr lang="en-IN" sz="1200" i="1" baseline="0" dirty="0">
                        <a:solidFill>
                          <a:schemeClr val="accent6">
                            <a:lumMod val="10000"/>
                          </a:schemeClr>
                        </a:solidFill>
                      </a:endParaRPr>
                    </a:p>
                  </a:txBody>
                  <a:tcPr/>
                </a:tc>
                <a:extLst>
                  <a:ext uri="{0D108BD9-81ED-4DB2-BD59-A6C34878D82A}">
                    <a16:rowId xmlns:a16="http://schemas.microsoft.com/office/drawing/2014/main" val="1083202189"/>
                  </a:ext>
                </a:extLst>
              </a:tr>
              <a:tr h="219000">
                <a:tc>
                  <a:txBody>
                    <a:bodyPr/>
                    <a:lstStyle/>
                    <a:p>
                      <a:pPr algn="ctr"/>
                      <a:r>
                        <a:rPr lang="en-IN" sz="1200" dirty="0"/>
                        <a:t>4</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Standardised) doesn’t appear in Raw</a:t>
                      </a:r>
                    </a:p>
                  </a:txBody>
                  <a:tcPr/>
                </a:tc>
                <a:tc>
                  <a:txBody>
                    <a:bodyPr/>
                    <a:lstStyle/>
                    <a:p>
                      <a:r>
                        <a:rPr lang="en-IN" sz="1200" baseline="0" dirty="0"/>
                        <a:t>Existing Record gets updated with DTS in standardised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u="none" dirty="0" err="1">
                          <a:solidFill>
                            <a:schemeClr val="accent6">
                              <a:lumMod val="10000"/>
                            </a:schemeClr>
                          </a:solidFill>
                        </a:rPr>
                        <a:t>Eg</a:t>
                      </a:r>
                      <a:r>
                        <a:rPr lang="en-IN" sz="1200" i="1" u="none" dirty="0">
                          <a:solidFill>
                            <a:schemeClr val="accent6">
                              <a:lumMod val="10000"/>
                            </a:schemeClr>
                          </a:solidFill>
                        </a:rPr>
                        <a:t>: HBK</a:t>
                      </a:r>
                      <a:r>
                        <a:rPr lang="en-IN" sz="1200" i="1" u="none"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u="none" dirty="0">
                          <a:solidFill>
                            <a:schemeClr val="accent6">
                              <a:lumMod val="10000"/>
                            </a:schemeClr>
                          </a:solidFill>
                        </a:rPr>
                        <a:t>       HBK</a:t>
                      </a:r>
                      <a:r>
                        <a:rPr lang="en-IN" sz="1200" i="1" u="none" baseline="0" dirty="0">
                          <a:solidFill>
                            <a:schemeClr val="accent6">
                              <a:lumMod val="10000"/>
                            </a:schemeClr>
                          </a:solidFill>
                        </a:rPr>
                        <a:t> = 1, HV = 2, VFT = D2, VTT = NULL, </a:t>
                      </a:r>
                      <a:r>
                        <a:rPr lang="en-IN" sz="1200" b="1" i="1" u="sng" baseline="0" dirty="0">
                          <a:solidFill>
                            <a:schemeClr val="accent6">
                              <a:lumMod val="10000"/>
                            </a:schemeClr>
                          </a:solidFill>
                        </a:rPr>
                        <a:t>DT = D4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active record marked as deleted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492063053"/>
                  </a:ext>
                </a:extLst>
              </a:tr>
              <a:tr h="281571">
                <a:tc>
                  <a:txBody>
                    <a:bodyPr/>
                    <a:lstStyle/>
                    <a:p>
                      <a:pPr algn="ctr"/>
                      <a:r>
                        <a:rPr lang="en-IN" sz="1200" dirty="0"/>
                        <a:t>5</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Same record (mentioned step 4) re-appears in Raw</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2, LCT = D5</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Existing active</a:t>
                      </a:r>
                      <a:r>
                        <a:rPr lang="en-IN" sz="1200" baseline="0" dirty="0"/>
                        <a:t> r</a:t>
                      </a:r>
                      <a:r>
                        <a:rPr lang="en-IN" sz="1200" dirty="0"/>
                        <a:t>ecord marked as inactive</a:t>
                      </a:r>
                    </a:p>
                    <a:p>
                      <a:r>
                        <a:rPr lang="en-IN" sz="1200" baseline="0" dirty="0"/>
                        <a:t>Record gets inserted as new and active record in standardised</a:t>
                      </a:r>
                    </a:p>
                    <a:p>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HBK</a:t>
                      </a:r>
                      <a:r>
                        <a:rPr lang="en-IN" sz="1200" i="1" baseline="0" dirty="0">
                          <a:solidFill>
                            <a:schemeClr val="accent6">
                              <a:lumMod val="10000"/>
                            </a:schemeClr>
                          </a:solidFill>
                        </a:rPr>
                        <a:t> = 1, HV = 2, VFT = D2, </a:t>
                      </a:r>
                      <a:r>
                        <a:rPr lang="en-IN" sz="1200" b="1" i="0" u="sng" baseline="0" dirty="0">
                          <a:solidFill>
                            <a:schemeClr val="accent6">
                              <a:lumMod val="10000"/>
                            </a:schemeClr>
                          </a:solidFill>
                        </a:rPr>
                        <a:t>VTT = D5</a:t>
                      </a:r>
                      <a:r>
                        <a:rPr lang="en-IN" sz="1200" i="1" baseline="0" dirty="0">
                          <a:solidFill>
                            <a:schemeClr val="accent6">
                              <a:lumMod val="10000"/>
                            </a:schemeClr>
                          </a:solidFill>
                        </a:rPr>
                        <a:t>,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HBK</a:t>
                      </a:r>
                      <a:r>
                        <a:rPr lang="en-IN" sz="1200" i="1" baseline="0" dirty="0">
                          <a:solidFill>
                            <a:schemeClr val="accent6">
                              <a:lumMod val="10000"/>
                            </a:schemeClr>
                          </a:solidFill>
                        </a:rPr>
                        <a:t> = 1, HV = 2, </a:t>
                      </a:r>
                      <a:r>
                        <a:rPr lang="en-IN" sz="1200" b="1" i="0" u="sng" baseline="0" dirty="0">
                          <a:solidFill>
                            <a:schemeClr val="accent6">
                              <a:lumMod val="10000"/>
                            </a:schemeClr>
                          </a:solidFill>
                        </a:rPr>
                        <a:t>VFT = D5</a:t>
                      </a:r>
                      <a:r>
                        <a:rPr lang="en-IN" sz="1200" i="1" baseline="0" dirty="0">
                          <a:solidFill>
                            <a:schemeClr val="accent6">
                              <a:lumMod val="10000"/>
                            </a:schemeClr>
                          </a:solidFill>
                        </a:rPr>
                        <a:t>,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active record marked as inactive, new</a:t>
                      </a:r>
                      <a:r>
                        <a:rPr lang="en-IN" sz="1200" kern="1200" baseline="0" dirty="0">
                          <a:solidFill>
                            <a:schemeClr val="dk1"/>
                          </a:solidFill>
                          <a:latin typeface="+mn-lt"/>
                          <a:ea typeface="+mn-ea"/>
                          <a:cs typeface="+mn-cs"/>
                        </a:rPr>
                        <a:t> active record inserted</a:t>
                      </a:r>
                      <a:endParaRPr lang="en-IN" sz="1200" i="1" baseline="0" dirty="0">
                        <a:solidFill>
                          <a:schemeClr val="accent6">
                            <a:lumMod val="10000"/>
                          </a:schemeClr>
                        </a:solidFill>
                      </a:endParaRPr>
                    </a:p>
                  </a:txBody>
                  <a:tcPr/>
                </a:tc>
                <a:extLst>
                  <a:ext uri="{0D108BD9-81ED-4DB2-BD59-A6C34878D82A}">
                    <a16:rowId xmlns:a16="http://schemas.microsoft.com/office/drawing/2014/main" val="3034433646"/>
                  </a:ext>
                </a:extLst>
              </a:tr>
            </a:tbl>
          </a:graphicData>
        </a:graphic>
      </p:graphicFrame>
    </p:spTree>
    <p:extLst>
      <p:ext uri="{BB962C8B-B14F-4D97-AF65-F5344CB8AC3E}">
        <p14:creationId xmlns:p14="http://schemas.microsoft.com/office/powerpoint/2010/main" val="576656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(Reconciliation)</a:t>
            </a:r>
          </a:p>
        </p:txBody>
      </p:sp>
      <p:sp>
        <p:nvSpPr>
          <p:cNvPr id="3" name="Subtitle 2"/>
          <p:cNvSpPr>
            <a:spLocks noGrp="1"/>
          </p:cNvSpPr>
          <p:nvPr>
            <p:ph type="subTitle" idx="1"/>
          </p:nvPr>
        </p:nvSpPr>
        <p:spPr>
          <a:xfrm>
            <a:off x="457199" y="1659840"/>
            <a:ext cx="11277601" cy="3674160"/>
          </a:xfrm>
        </p:spPr>
        <p:txBody>
          <a:bodyPr/>
          <a:lstStyle/>
          <a:p>
            <a:r>
              <a:rPr lang="en-IN" dirty="0">
                <a:solidFill>
                  <a:srgbClr val="000000"/>
                </a:solidFill>
              </a:rPr>
              <a:t>Soft Deletion - In case, there is a record that existed in Raw table in previous run but not in current run, “</a:t>
            </a:r>
            <a:r>
              <a:rPr lang="en-US" dirty="0">
                <a:solidFill>
                  <a:srgbClr val="000000"/>
                </a:solidFill>
              </a:rPr>
              <a:t>lakeDeletedTimestamp” gets populated for those records in Standardised table. However, these records acts as active records in standardized unless and until there is re-occurrence in Raw table.</a:t>
            </a:r>
            <a:endParaRPr lang="en-IN" dirty="0">
              <a:solidFill>
                <a:srgbClr val="000000"/>
              </a:solidFill>
            </a:endParaRPr>
          </a:p>
          <a:p>
            <a:endParaRPr lang="en-US" b="1" dirty="0">
              <a:solidFill>
                <a:srgbClr val="000000"/>
              </a:solidFill>
            </a:endParaRPr>
          </a:p>
          <a:p>
            <a:r>
              <a:rPr lang="en-US" b="1" dirty="0">
                <a:solidFill>
                  <a:srgbClr val="000000"/>
                </a:solidFill>
              </a:rPr>
              <a:t>Reconciliation:</a:t>
            </a:r>
          </a:p>
          <a:p>
            <a:r>
              <a:rPr lang="en-IN" dirty="0">
                <a:solidFill>
                  <a:srgbClr val="000000"/>
                </a:solidFill>
              </a:rPr>
              <a:t>All the reconciliation code is available on databricks notebook - </a:t>
            </a:r>
            <a:r>
              <a:rPr lang="en-IN" dirty="0">
                <a:solidFill>
                  <a:srgbClr val="000000"/>
                </a:solidFill>
                <a:hlinkClick r:id="rId2"/>
              </a:rPr>
              <a:t>Raw_Stand_Conf_Reconciliation</a:t>
            </a:r>
            <a:r>
              <a:rPr lang="en-IN" dirty="0">
                <a:solidFill>
                  <a:srgbClr val="000000"/>
                </a:solidFill>
              </a:rPr>
              <a:t>. We have option to perform validation of either in specific table or entire table present in a database.</a:t>
            </a:r>
          </a:p>
          <a:p>
            <a:endParaRPr lang="en-US" dirty="0">
              <a:solidFill>
                <a:srgbClr val="000000"/>
              </a:solidFill>
            </a:endParaRPr>
          </a:p>
          <a:p>
            <a:pPr marL="285750" indent="-285750">
              <a:buFont typeface="Arial" panose="020B0604020202020204" pitchFamily="34" charset="0"/>
              <a:buChar char="•"/>
            </a:pPr>
            <a:r>
              <a:rPr lang="en-IN" dirty="0">
                <a:solidFill>
                  <a:srgbClr val="000000"/>
                </a:solidFill>
              </a:rPr>
              <a:t>Record count comparison between corresponding raw and active records of standardised table </a:t>
            </a:r>
            <a:r>
              <a:rPr lang="en-IN" i="1" dirty="0">
                <a:solidFill>
                  <a:srgbClr val="000000"/>
                </a:solidFill>
              </a:rPr>
              <a:t>(</a:t>
            </a:r>
            <a:r>
              <a:rPr lang="en-US" i="1" dirty="0">
                <a:solidFill>
                  <a:srgbClr val="000000"/>
                </a:solidFill>
              </a:rPr>
              <a:t>lakeIsActive = true)</a:t>
            </a:r>
            <a:endParaRPr lang="en-IN" dirty="0">
              <a:solidFill>
                <a:srgbClr val="000000"/>
              </a:solidFill>
            </a:endParaRPr>
          </a:p>
          <a:p>
            <a:pPr marL="285750" indent="-285750">
              <a:buFont typeface="Arial" panose="020B0604020202020204" pitchFamily="34" charset="0"/>
              <a:buChar char="•"/>
            </a:pPr>
            <a:r>
              <a:rPr lang="en-IN" dirty="0">
                <a:solidFill>
                  <a:srgbClr val="000000"/>
                </a:solidFill>
              </a:rPr>
              <a:t>Duplication on PK/Grain i.e. </a:t>
            </a:r>
            <a:r>
              <a:rPr lang="en-US" dirty="0">
                <a:solidFill>
                  <a:srgbClr val="000000"/>
                </a:solidFill>
              </a:rPr>
              <a:t>HashedBusinessKey for active as well as inactive records</a:t>
            </a:r>
          </a:p>
          <a:p>
            <a:pPr marL="285750" indent="-285750">
              <a:buFont typeface="Arial" panose="020B0604020202020204" pitchFamily="34" charset="0"/>
              <a:buChar char="•"/>
            </a:pPr>
            <a:r>
              <a:rPr lang="en-IN" dirty="0">
                <a:solidFill>
                  <a:srgbClr val="000000"/>
                </a:solidFill>
              </a:rPr>
              <a:t>Delta (newly inserted as well as updated records) between subsequent runs</a:t>
            </a:r>
          </a:p>
        </p:txBody>
      </p:sp>
    </p:spTree>
    <p:extLst>
      <p:ext uri="{BB962C8B-B14F-4D97-AF65-F5344CB8AC3E}">
        <p14:creationId xmlns:p14="http://schemas.microsoft.com/office/powerpoint/2010/main" val="1614376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(Processing)</a:t>
            </a:r>
          </a:p>
        </p:txBody>
      </p:sp>
      <p:sp>
        <p:nvSpPr>
          <p:cNvPr id="41" name="Text Placeholder 2">
            <a:extLst>
              <a:ext uri="{FF2B5EF4-FFF2-40B4-BE49-F238E27FC236}">
                <a16:creationId xmlns:a16="http://schemas.microsoft.com/office/drawing/2014/main" id="{1E3CA7DB-677A-CBCB-DAE2-CD3EB7677817}"/>
              </a:ext>
            </a:extLst>
          </p:cNvPr>
          <p:cNvSpPr txBox="1">
            <a:spLocks/>
          </p:cNvSpPr>
          <p:nvPr/>
        </p:nvSpPr>
        <p:spPr>
          <a:xfrm>
            <a:off x="2033567" y="1420008"/>
            <a:ext cx="1728693" cy="404905"/>
          </a:xfrm>
          <a:prstGeom prst="rect">
            <a:avLst/>
          </a:prstGeom>
        </p:spPr>
        <p:txBody>
          <a:bodyPr/>
          <a:lstStyle>
            <a:lvl1pPr marL="228600" indent="-228600" algn="l" defTabSz="914400" rtl="0" eaLnBrk="1" latinLnBrk="0" hangingPunct="1">
              <a:lnSpc>
                <a:spcPct val="90000"/>
              </a:lnSpc>
              <a:spcBef>
                <a:spcPts val="1000"/>
              </a:spcBef>
              <a:buClr>
                <a:schemeClr val="tx1"/>
              </a:buClr>
              <a:buFont typeface="System Font Regular"/>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ts val="0"/>
              </a:spcBef>
              <a:buClr>
                <a:srgbClr val="FB4D0A"/>
              </a:buClr>
              <a:buNone/>
            </a:pPr>
            <a:r>
              <a:rPr lang="en-GB" sz="1400" b="1" dirty="0">
                <a:solidFill>
                  <a:srgbClr val="FB4D0A"/>
                </a:solidFill>
                <a:latin typeface="Calibri" panose="020F0502020204030204" pitchFamily="34" charset="0"/>
                <a:cs typeface="Calibri" panose="020F0502020204030204" pitchFamily="34" charset="0"/>
              </a:rPr>
              <a:t>Apply BED at individual table</a:t>
            </a:r>
          </a:p>
        </p:txBody>
      </p:sp>
      <p:sp>
        <p:nvSpPr>
          <p:cNvPr id="42" name="Rectangle 41">
            <a:extLst>
              <a:ext uri="{FF2B5EF4-FFF2-40B4-BE49-F238E27FC236}">
                <a16:creationId xmlns:a16="http://schemas.microsoft.com/office/drawing/2014/main" id="{DA4D5E7B-8F63-BCFA-D1CC-D36216EF8F1A}"/>
              </a:ext>
            </a:extLst>
          </p:cNvPr>
          <p:cNvSpPr/>
          <p:nvPr/>
        </p:nvSpPr>
        <p:spPr>
          <a:xfrm>
            <a:off x="3027155" y="1971262"/>
            <a:ext cx="573742"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094540B3-7946-4BD4-31D8-0387AE80DCA6}"/>
              </a:ext>
            </a:extLst>
          </p:cNvPr>
          <p:cNvSpPr/>
          <p:nvPr/>
        </p:nvSpPr>
        <p:spPr>
          <a:xfrm>
            <a:off x="2033567" y="1971262"/>
            <a:ext cx="1728694" cy="776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rgbClr val="424242"/>
                </a:solidFill>
              </a:rPr>
              <a:t>A</a:t>
            </a:r>
          </a:p>
        </p:txBody>
      </p:sp>
      <p:sp>
        <p:nvSpPr>
          <p:cNvPr id="44" name="Rectangle 43">
            <a:extLst>
              <a:ext uri="{FF2B5EF4-FFF2-40B4-BE49-F238E27FC236}">
                <a16:creationId xmlns:a16="http://schemas.microsoft.com/office/drawing/2014/main" id="{13750838-16E4-4099-9AAD-39595ACC85CE}"/>
              </a:ext>
            </a:extLst>
          </p:cNvPr>
          <p:cNvSpPr/>
          <p:nvPr/>
        </p:nvSpPr>
        <p:spPr>
          <a:xfrm>
            <a:off x="2662590" y="2948415"/>
            <a:ext cx="938307"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451474E2-CF93-67B6-D626-F7381B7BC74B}"/>
              </a:ext>
            </a:extLst>
          </p:cNvPr>
          <p:cNvSpPr/>
          <p:nvPr/>
        </p:nvSpPr>
        <p:spPr>
          <a:xfrm>
            <a:off x="2033567" y="2948415"/>
            <a:ext cx="1728694" cy="776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rgbClr val="424242"/>
                </a:solidFill>
              </a:rPr>
              <a:t>B</a:t>
            </a:r>
          </a:p>
        </p:txBody>
      </p:sp>
      <p:cxnSp>
        <p:nvCxnSpPr>
          <p:cNvPr id="46" name="Straight Connector 45">
            <a:extLst>
              <a:ext uri="{FF2B5EF4-FFF2-40B4-BE49-F238E27FC236}">
                <a16:creationId xmlns:a16="http://schemas.microsoft.com/office/drawing/2014/main" id="{9A51F6AE-7B1E-2F0F-0B00-13EE9FDDE614}"/>
              </a:ext>
            </a:extLst>
          </p:cNvPr>
          <p:cNvCxnSpPr>
            <a:cxnSpLocks/>
          </p:cNvCxnSpPr>
          <p:nvPr/>
        </p:nvCxnSpPr>
        <p:spPr>
          <a:xfrm flipH="1">
            <a:off x="2662590" y="2748203"/>
            <a:ext cx="364565" cy="2002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9207EA5-F55E-9C4D-2EAC-07EBD614D48C}"/>
              </a:ext>
            </a:extLst>
          </p:cNvPr>
          <p:cNvCxnSpPr>
            <a:cxnSpLocks/>
          </p:cNvCxnSpPr>
          <p:nvPr/>
        </p:nvCxnSpPr>
        <p:spPr>
          <a:xfrm>
            <a:off x="3600897" y="2748203"/>
            <a:ext cx="0" cy="200212"/>
          </a:xfrm>
          <a:prstGeom prst="line">
            <a:avLst/>
          </a:prstGeom>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F1DA0D2C-64B9-9DA0-9925-0092E4106272}"/>
              </a:ext>
            </a:extLst>
          </p:cNvPr>
          <p:cNvSpPr/>
          <p:nvPr/>
        </p:nvSpPr>
        <p:spPr>
          <a:xfrm>
            <a:off x="4757569" y="2948414"/>
            <a:ext cx="938307"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DC8EC76B-3834-A652-7005-85A7D46C176E}"/>
              </a:ext>
            </a:extLst>
          </p:cNvPr>
          <p:cNvSpPr/>
          <p:nvPr/>
        </p:nvSpPr>
        <p:spPr>
          <a:xfrm>
            <a:off x="4757568" y="1971262"/>
            <a:ext cx="938307"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Text Placeholder 2">
            <a:extLst>
              <a:ext uri="{FF2B5EF4-FFF2-40B4-BE49-F238E27FC236}">
                <a16:creationId xmlns:a16="http://schemas.microsoft.com/office/drawing/2014/main" id="{EA24F8EC-1E66-173D-31F5-8EE21F05D73E}"/>
              </a:ext>
            </a:extLst>
          </p:cNvPr>
          <p:cNvSpPr txBox="1">
            <a:spLocks/>
          </p:cNvSpPr>
          <p:nvPr/>
        </p:nvSpPr>
        <p:spPr>
          <a:xfrm>
            <a:off x="4362374" y="1420007"/>
            <a:ext cx="1728693" cy="40490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buClr>
              <a:buFont typeface="System Font Regular"/>
              <a:buNone/>
              <a:defRPr sz="1400" b="1" i="0" kern="1200">
                <a:solidFill>
                  <a:schemeClr val="tx1"/>
                </a:solidFill>
                <a:latin typeface="Calibri" panose="020F0502020204030204" pitchFamily="34" charset="0"/>
                <a:ea typeface="+mn-ea"/>
                <a:cs typeface="Calibri" panose="020F0502020204030204" pitchFamily="34" charset="0"/>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dirty="0"/>
              <a:t>Join &amp; Apply object dates availability</a:t>
            </a:r>
          </a:p>
        </p:txBody>
      </p:sp>
      <p:cxnSp>
        <p:nvCxnSpPr>
          <p:cNvPr id="79" name="Straight Connector 78">
            <a:extLst>
              <a:ext uri="{FF2B5EF4-FFF2-40B4-BE49-F238E27FC236}">
                <a16:creationId xmlns:a16="http://schemas.microsoft.com/office/drawing/2014/main" id="{781C0F65-071E-958D-F4B0-49721931ED3D}"/>
              </a:ext>
            </a:extLst>
          </p:cNvPr>
          <p:cNvCxnSpPr>
            <a:cxnSpLocks/>
          </p:cNvCxnSpPr>
          <p:nvPr/>
        </p:nvCxnSpPr>
        <p:spPr>
          <a:xfrm>
            <a:off x="3900915" y="1342340"/>
            <a:ext cx="0" cy="366174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3744973-FA38-2EA7-1E95-51DAA5959C49}"/>
              </a:ext>
            </a:extLst>
          </p:cNvPr>
          <p:cNvCxnSpPr>
            <a:cxnSpLocks/>
            <a:endCxn id="50" idx="1"/>
          </p:cNvCxnSpPr>
          <p:nvPr/>
        </p:nvCxnSpPr>
        <p:spPr>
          <a:xfrm>
            <a:off x="3314175" y="2359733"/>
            <a:ext cx="1443393" cy="0"/>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FA114DF-7417-6E31-6C0B-FFDCE6536FB6}"/>
              </a:ext>
            </a:extLst>
          </p:cNvPr>
          <p:cNvCxnSpPr>
            <a:cxnSpLocks/>
            <a:endCxn id="48" idx="1"/>
          </p:cNvCxnSpPr>
          <p:nvPr/>
        </p:nvCxnSpPr>
        <p:spPr>
          <a:xfrm>
            <a:off x="3131743" y="3336885"/>
            <a:ext cx="1625826" cy="0"/>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D4F30F3-2BCF-E6EB-AF4B-287915BA518E}"/>
              </a:ext>
            </a:extLst>
          </p:cNvPr>
          <p:cNvCxnSpPr>
            <a:cxnSpLocks/>
          </p:cNvCxnSpPr>
          <p:nvPr/>
        </p:nvCxnSpPr>
        <p:spPr>
          <a:xfrm>
            <a:off x="6552525" y="1307001"/>
            <a:ext cx="14719" cy="361983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84" name="Text Placeholder 2">
            <a:extLst>
              <a:ext uri="{FF2B5EF4-FFF2-40B4-BE49-F238E27FC236}">
                <a16:creationId xmlns:a16="http://schemas.microsoft.com/office/drawing/2014/main" id="{56AE205D-5233-077A-1AB8-E089E14C8FB0}"/>
              </a:ext>
            </a:extLst>
          </p:cNvPr>
          <p:cNvSpPr txBox="1">
            <a:spLocks/>
          </p:cNvSpPr>
          <p:nvPr/>
        </p:nvSpPr>
        <p:spPr>
          <a:xfrm>
            <a:off x="6552525" y="1386237"/>
            <a:ext cx="1728693" cy="404905"/>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buClr>
              <a:buFont typeface="System Font Regular"/>
              <a:buNone/>
              <a:defRPr sz="1400" b="1" i="0" kern="1200">
                <a:solidFill>
                  <a:schemeClr val="tx1"/>
                </a:solidFill>
                <a:latin typeface="Calibri" panose="020F0502020204030204" pitchFamily="34" charset="0"/>
                <a:ea typeface="+mn-ea"/>
                <a:cs typeface="Calibri" panose="020F0502020204030204" pitchFamily="34" charset="0"/>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dirty="0"/>
              <a:t>Merge into Target</a:t>
            </a:r>
          </a:p>
        </p:txBody>
      </p:sp>
      <p:sp>
        <p:nvSpPr>
          <p:cNvPr id="85" name="Rectangle 84">
            <a:extLst>
              <a:ext uri="{FF2B5EF4-FFF2-40B4-BE49-F238E27FC236}">
                <a16:creationId xmlns:a16="http://schemas.microsoft.com/office/drawing/2014/main" id="{4FABE8F6-7B80-CFA8-703E-986838BFF719}"/>
              </a:ext>
            </a:extLst>
          </p:cNvPr>
          <p:cNvSpPr/>
          <p:nvPr/>
        </p:nvSpPr>
        <p:spPr>
          <a:xfrm>
            <a:off x="6688716" y="2476943"/>
            <a:ext cx="1728694" cy="17192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424242"/>
                </a:solidFill>
              </a:rPr>
              <a:t>Conformed Table</a:t>
            </a:r>
          </a:p>
        </p:txBody>
      </p:sp>
      <p:cxnSp>
        <p:nvCxnSpPr>
          <p:cNvPr id="86" name="Straight Arrow Connector 85">
            <a:extLst>
              <a:ext uri="{FF2B5EF4-FFF2-40B4-BE49-F238E27FC236}">
                <a16:creationId xmlns:a16="http://schemas.microsoft.com/office/drawing/2014/main" id="{4AAE4428-3FDB-0C88-2793-B1FA20AC2A8D}"/>
              </a:ext>
            </a:extLst>
          </p:cNvPr>
          <p:cNvCxnSpPr>
            <a:cxnSpLocks/>
            <a:stCxn id="48" idx="3"/>
            <a:endCxn id="85" idx="1"/>
          </p:cNvCxnSpPr>
          <p:nvPr/>
        </p:nvCxnSpPr>
        <p:spPr>
          <a:xfrm flipV="1">
            <a:off x="5695876" y="3336584"/>
            <a:ext cx="992840" cy="301"/>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87" name="Text Placeholder 2">
            <a:extLst>
              <a:ext uri="{FF2B5EF4-FFF2-40B4-BE49-F238E27FC236}">
                <a16:creationId xmlns:a16="http://schemas.microsoft.com/office/drawing/2014/main" id="{C5DF0B43-2427-F9E4-8678-BC2BB9282327}"/>
              </a:ext>
            </a:extLst>
          </p:cNvPr>
          <p:cNvSpPr txBox="1">
            <a:spLocks/>
          </p:cNvSpPr>
          <p:nvPr/>
        </p:nvSpPr>
        <p:spPr>
          <a:xfrm>
            <a:off x="2009066" y="5098737"/>
            <a:ext cx="1728693" cy="149084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buClr>
              <a:buFont typeface="System Font Regular"/>
              <a:buNone/>
              <a:defRPr sz="1400" b="1" i="0" kern="1200">
                <a:solidFill>
                  <a:schemeClr val="tx1"/>
                </a:solidFill>
                <a:latin typeface="Calibri" panose="020F0502020204030204" pitchFamily="34" charset="0"/>
                <a:ea typeface="+mn-ea"/>
                <a:cs typeface="Calibri" panose="020F0502020204030204" pitchFamily="34" charset="0"/>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b="0" i="1" dirty="0"/>
              <a:t>When we fetch the data from multiple standardised tables, filter of BED is applied on each table. Thus, the data gets restricted in the custom SQL</a:t>
            </a:r>
          </a:p>
        </p:txBody>
      </p:sp>
      <p:sp>
        <p:nvSpPr>
          <p:cNvPr id="88" name="Text Placeholder 2">
            <a:extLst>
              <a:ext uri="{FF2B5EF4-FFF2-40B4-BE49-F238E27FC236}">
                <a16:creationId xmlns:a16="http://schemas.microsoft.com/office/drawing/2014/main" id="{468C7699-D701-2FA7-D406-98F5B622250B}"/>
              </a:ext>
            </a:extLst>
          </p:cNvPr>
          <p:cNvSpPr txBox="1">
            <a:spLocks/>
          </p:cNvSpPr>
          <p:nvPr/>
        </p:nvSpPr>
        <p:spPr>
          <a:xfrm>
            <a:off x="3900916" y="5101948"/>
            <a:ext cx="2666328" cy="1487629"/>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buClr>
              <a:buFont typeface="System Font Regular"/>
              <a:buNone/>
              <a:defRPr sz="1400" b="1" i="0" kern="1200">
                <a:solidFill>
                  <a:schemeClr val="tx1"/>
                </a:solidFill>
                <a:latin typeface="Calibri" panose="020F0502020204030204" pitchFamily="34" charset="0"/>
                <a:ea typeface="+mn-ea"/>
                <a:cs typeface="Calibri" panose="020F0502020204030204" pitchFamily="34" charset="0"/>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b="0" i="1" dirty="0"/>
              <a:t>Based on the object dates availability populated for tables A, B &amp; C in standardised layer. A </a:t>
            </a:r>
            <a:r>
              <a:rPr lang="en-GB" b="0" i="1" dirty="0" err="1"/>
              <a:t>where_clause</a:t>
            </a:r>
            <a:r>
              <a:rPr lang="en-GB" b="0" i="1" dirty="0"/>
              <a:t> is generated on partition column taking min &amp; max date of data loaded across three tables.</a:t>
            </a:r>
          </a:p>
        </p:txBody>
      </p:sp>
      <p:sp>
        <p:nvSpPr>
          <p:cNvPr id="89" name="Text Placeholder 2">
            <a:extLst>
              <a:ext uri="{FF2B5EF4-FFF2-40B4-BE49-F238E27FC236}">
                <a16:creationId xmlns:a16="http://schemas.microsoft.com/office/drawing/2014/main" id="{7760A6A5-C132-1A9A-E689-1E6230830FC8}"/>
              </a:ext>
            </a:extLst>
          </p:cNvPr>
          <p:cNvSpPr txBox="1">
            <a:spLocks/>
          </p:cNvSpPr>
          <p:nvPr/>
        </p:nvSpPr>
        <p:spPr>
          <a:xfrm>
            <a:off x="6567244" y="5074369"/>
            <a:ext cx="1988819" cy="1229064"/>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buClr>
              <a:buFont typeface="System Font Regular"/>
              <a:buNone/>
              <a:defRPr sz="1400" b="1" i="0" kern="1200">
                <a:solidFill>
                  <a:schemeClr val="tx1"/>
                </a:solidFill>
                <a:latin typeface="Calibri" panose="020F0502020204030204" pitchFamily="34" charset="0"/>
                <a:ea typeface="+mn-ea"/>
                <a:cs typeface="Calibri" panose="020F0502020204030204" pitchFamily="34" charset="0"/>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b="0" i="1" dirty="0"/>
              <a:t>The source data gets filtered based on </a:t>
            </a:r>
            <a:r>
              <a:rPr lang="en-GB" b="0" i="1" dirty="0" err="1"/>
              <a:t>where_clause</a:t>
            </a:r>
            <a:r>
              <a:rPr lang="en-GB" b="0" i="1" dirty="0"/>
              <a:t> post which it gets inserted, updated or soft deleted in target conformed table</a:t>
            </a:r>
          </a:p>
        </p:txBody>
      </p:sp>
      <p:sp>
        <p:nvSpPr>
          <p:cNvPr id="91" name="Rectangle 90">
            <a:extLst>
              <a:ext uri="{FF2B5EF4-FFF2-40B4-BE49-F238E27FC236}">
                <a16:creationId xmlns:a16="http://schemas.microsoft.com/office/drawing/2014/main" id="{13750838-16E4-4099-9AAD-39595ACC85CE}"/>
              </a:ext>
            </a:extLst>
          </p:cNvPr>
          <p:cNvSpPr/>
          <p:nvPr/>
        </p:nvSpPr>
        <p:spPr>
          <a:xfrm>
            <a:off x="3314175" y="3925566"/>
            <a:ext cx="299123"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a:extLst>
              <a:ext uri="{FF2B5EF4-FFF2-40B4-BE49-F238E27FC236}">
                <a16:creationId xmlns:a16="http://schemas.microsoft.com/office/drawing/2014/main" id="{451474E2-CF93-67B6-D626-F7381B7BC74B}"/>
              </a:ext>
            </a:extLst>
          </p:cNvPr>
          <p:cNvSpPr/>
          <p:nvPr/>
        </p:nvSpPr>
        <p:spPr>
          <a:xfrm>
            <a:off x="2045968" y="3925566"/>
            <a:ext cx="1728694" cy="776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rgbClr val="424242"/>
                </a:solidFill>
              </a:rPr>
              <a:t>C</a:t>
            </a:r>
          </a:p>
        </p:txBody>
      </p:sp>
      <p:cxnSp>
        <p:nvCxnSpPr>
          <p:cNvPr id="93" name="Straight Arrow Connector 92">
            <a:extLst>
              <a:ext uri="{FF2B5EF4-FFF2-40B4-BE49-F238E27FC236}">
                <a16:creationId xmlns:a16="http://schemas.microsoft.com/office/drawing/2014/main" id="{0FA114DF-7417-6E31-6C0B-FFDCE6536FB6}"/>
              </a:ext>
            </a:extLst>
          </p:cNvPr>
          <p:cNvCxnSpPr>
            <a:cxnSpLocks/>
          </p:cNvCxnSpPr>
          <p:nvPr/>
        </p:nvCxnSpPr>
        <p:spPr>
          <a:xfrm>
            <a:off x="3463736" y="4314035"/>
            <a:ext cx="1306234" cy="1"/>
          </a:xfrm>
          <a:prstGeom prst="straightConnector1">
            <a:avLst/>
          </a:prstGeom>
          <a:ln w="19050">
            <a:solidFill>
              <a:srgbClr val="004EFF"/>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A51F6AE-7B1E-2F0F-0B00-13EE9FDDE614}"/>
              </a:ext>
            </a:extLst>
          </p:cNvPr>
          <p:cNvCxnSpPr>
            <a:cxnSpLocks/>
          </p:cNvCxnSpPr>
          <p:nvPr/>
        </p:nvCxnSpPr>
        <p:spPr>
          <a:xfrm flipH="1" flipV="1">
            <a:off x="2662590" y="3725356"/>
            <a:ext cx="618196" cy="200210"/>
          </a:xfrm>
          <a:prstGeom prst="line">
            <a:avLst/>
          </a:prstGeom>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F1DA0D2C-64B9-9DA0-9925-0092E4106272}"/>
              </a:ext>
            </a:extLst>
          </p:cNvPr>
          <p:cNvSpPr/>
          <p:nvPr/>
        </p:nvSpPr>
        <p:spPr>
          <a:xfrm>
            <a:off x="4757569" y="3941098"/>
            <a:ext cx="938307" cy="776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a:extLst>
              <a:ext uri="{FF2B5EF4-FFF2-40B4-BE49-F238E27FC236}">
                <a16:creationId xmlns:a16="http://schemas.microsoft.com/office/drawing/2014/main" id="{3D5348C6-F464-7619-B561-BD8F22E07AFB}"/>
              </a:ext>
            </a:extLst>
          </p:cNvPr>
          <p:cNvSpPr/>
          <p:nvPr/>
        </p:nvSpPr>
        <p:spPr>
          <a:xfrm>
            <a:off x="5546835" y="1824912"/>
            <a:ext cx="149040" cy="31372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684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(Data)</a:t>
            </a:r>
          </a:p>
        </p:txBody>
      </p:sp>
      <p:sp>
        <p:nvSpPr>
          <p:cNvPr id="8" name="Subtitle 2"/>
          <p:cNvSpPr txBox="1">
            <a:spLocks/>
          </p:cNvSpPr>
          <p:nvPr/>
        </p:nvSpPr>
        <p:spPr>
          <a:xfrm>
            <a:off x="457199" y="4829141"/>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conformed table (Day 1):</a:t>
            </a:r>
          </a:p>
        </p:txBody>
      </p:sp>
      <p:sp>
        <p:nvSpPr>
          <p:cNvPr id="10" name="Subtitle 2"/>
          <p:cNvSpPr txBox="1">
            <a:spLocks/>
          </p:cNvSpPr>
          <p:nvPr/>
        </p:nvSpPr>
        <p:spPr>
          <a:xfrm>
            <a:off x="457200" y="1297439"/>
            <a:ext cx="5238206"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standardised (Day 1):</a:t>
            </a:r>
          </a:p>
        </p:txBody>
      </p:sp>
      <p:sp>
        <p:nvSpPr>
          <p:cNvPr id="11" name="Rectangle 10"/>
          <p:cNvSpPr/>
          <p:nvPr/>
        </p:nvSpPr>
        <p:spPr>
          <a:xfrm>
            <a:off x="783771" y="1614939"/>
            <a:ext cx="10248045" cy="692497"/>
          </a:xfrm>
          <a:prstGeom prst="rect">
            <a:avLst/>
          </a:prstGeom>
          <a:ln>
            <a:solidFill>
              <a:schemeClr val="tx1"/>
            </a:solidFill>
          </a:ln>
        </p:spPr>
        <p:txBody>
          <a:bodyPr wrap="square">
            <a:spAutoFit/>
          </a:bodyPr>
          <a:lstStyle/>
          <a:p>
            <a:r>
              <a:rPr lang="en-US" sz="1300" dirty="0">
                <a:solidFill>
                  <a:schemeClr val="tx2"/>
                </a:solidFill>
                <a:cs typeface="Calibri" panose="020F0502020204030204" pitchFamily="34" charset="0"/>
              </a:rPr>
              <a:t>((</a:t>
            </a:r>
            <a:r>
              <a:rPr lang="en-US" sz="1300" dirty="0" err="1">
                <a:solidFill>
                  <a:schemeClr val="tx2"/>
                </a:solidFill>
                <a:cs typeface="Calibri" panose="020F0502020204030204" pitchFamily="34" charset="0"/>
              </a:rPr>
              <a:t>lakeLastUpdateDate</a:t>
            </a:r>
            <a:r>
              <a:rPr lang="en-US" sz="1300" dirty="0">
                <a:solidFill>
                  <a:schemeClr val="tx2"/>
                </a:solidFill>
                <a:cs typeface="Calibri" panose="020F0502020204030204" pitchFamily="34" charset="0"/>
              </a:rPr>
              <a:t> = 20220531) OR (</a:t>
            </a:r>
            <a:r>
              <a:rPr lang="en-US" sz="1300" dirty="0" err="1">
                <a:solidFill>
                  <a:schemeClr val="tx2"/>
                </a:solidFill>
                <a:cs typeface="Calibri" panose="020F0502020204030204" pitchFamily="34" charset="0"/>
              </a:rPr>
              <a:t>lakeLastUpdateDate</a:t>
            </a:r>
            <a:r>
              <a:rPr lang="en-US" sz="1300" dirty="0">
                <a:solidFill>
                  <a:schemeClr val="tx2"/>
                </a:solidFill>
                <a:cs typeface="Calibri" panose="020F0502020204030204" pitchFamily="34" charset="0"/>
              </a:rPr>
              <a:t> &gt;= 20220601 AND </a:t>
            </a:r>
            <a:r>
              <a:rPr lang="en-US" sz="1300" dirty="0" err="1">
                <a:solidFill>
                  <a:schemeClr val="tx2"/>
                </a:solidFill>
                <a:cs typeface="Calibri" panose="020F0502020204030204" pitchFamily="34" charset="0"/>
              </a:rPr>
              <a:t>lakeLastUpdateDate</a:t>
            </a:r>
            <a:r>
              <a:rPr lang="en-US" sz="1300" dirty="0">
                <a:solidFill>
                  <a:schemeClr val="tx2"/>
                </a:solidFill>
                <a:cs typeface="Calibri" panose="020F0502020204030204" pitchFamily="34" charset="0"/>
              </a:rPr>
              <a:t> &lt; 20220610) OR (</a:t>
            </a:r>
            <a:r>
              <a:rPr lang="en-US" sz="1300" dirty="0" err="1">
                <a:solidFill>
                  <a:schemeClr val="tx2"/>
                </a:solidFill>
                <a:cs typeface="Calibri" panose="020F0502020204030204" pitchFamily="34" charset="0"/>
              </a:rPr>
              <a:t>lakeLastUpdateDate</a:t>
            </a:r>
            <a:r>
              <a:rPr lang="en-US" sz="1300" dirty="0">
                <a:solidFill>
                  <a:schemeClr val="tx2"/>
                </a:solidFill>
                <a:cs typeface="Calibri" panose="020F0502020204030204" pitchFamily="34" charset="0"/>
              </a:rPr>
              <a:t> = 20220610)) AND ((</a:t>
            </a:r>
            <a:r>
              <a:rPr lang="en-US" sz="1300" dirty="0" err="1">
                <a:solidFill>
                  <a:schemeClr val="tx2"/>
                </a:solidFill>
                <a:cs typeface="Calibri" panose="020F0502020204030204" pitchFamily="34" charset="0"/>
              </a:rPr>
              <a:t>lakeLastUpdateTimeStamp</a:t>
            </a:r>
            <a:r>
              <a:rPr lang="en-US" sz="1300" dirty="0">
                <a:solidFill>
                  <a:schemeClr val="tx2"/>
                </a:solidFill>
                <a:cs typeface="Calibri" panose="020F0502020204030204" pitchFamily="34" charset="0"/>
              </a:rPr>
              <a:t> &gt; CAST('2022-05-31 18:17:46.092' AS TIMESTAMP)) AND (</a:t>
            </a:r>
            <a:r>
              <a:rPr lang="en-US" sz="1300" dirty="0" err="1">
                <a:solidFill>
                  <a:schemeClr val="tx2"/>
                </a:solidFill>
                <a:cs typeface="Calibri" panose="020F0502020204030204" pitchFamily="34" charset="0"/>
              </a:rPr>
              <a:t>lakeLastUpdateTimeStamp</a:t>
            </a:r>
            <a:r>
              <a:rPr lang="en-US" sz="1300" dirty="0">
                <a:solidFill>
                  <a:schemeClr val="tx2"/>
                </a:solidFill>
                <a:cs typeface="Calibri" panose="020F0502020204030204" pitchFamily="34" charset="0"/>
              </a:rPr>
              <a:t> &lt;= CAST('2022-06-10 14:28:14.268' AS TIMESTAMP)))</a:t>
            </a:r>
          </a:p>
        </p:txBody>
      </p:sp>
      <p:sp>
        <p:nvSpPr>
          <p:cNvPr id="13" name="Subtitle 2"/>
          <p:cNvSpPr>
            <a:spLocks noGrp="1"/>
          </p:cNvSpPr>
          <p:nvPr>
            <p:ph type="subTitle" idx="1"/>
          </p:nvPr>
        </p:nvSpPr>
        <p:spPr>
          <a:xfrm>
            <a:off x="457200" y="2650115"/>
            <a:ext cx="11277601" cy="317500"/>
          </a:xfrm>
        </p:spPr>
        <p:txBody>
          <a:bodyPr/>
          <a:lstStyle/>
          <a:p>
            <a:r>
              <a:rPr lang="en-US" b="1" dirty="0"/>
              <a:t>Sample Data in conformed (Day 1):</a:t>
            </a:r>
          </a:p>
        </p:txBody>
      </p:sp>
      <p:sp>
        <p:nvSpPr>
          <p:cNvPr id="17" name="Rounded Rectangle 16"/>
          <p:cNvSpPr/>
          <p:nvPr/>
        </p:nvSpPr>
        <p:spPr>
          <a:xfrm>
            <a:off x="1041400" y="3028211"/>
            <a:ext cx="10172700" cy="1244600"/>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1155699" y="5146640"/>
            <a:ext cx="9876117" cy="556331"/>
          </a:xfrm>
          <a:prstGeom prst="rect">
            <a:avLst/>
          </a:prstGeom>
        </p:spPr>
      </p:pic>
      <p:pic>
        <p:nvPicPr>
          <p:cNvPr id="5" name="Picture 4"/>
          <p:cNvPicPr>
            <a:picLocks noChangeAspect="1"/>
          </p:cNvPicPr>
          <p:nvPr/>
        </p:nvPicPr>
        <p:blipFill>
          <a:blip r:embed="rId3"/>
          <a:stretch>
            <a:fillRect/>
          </a:stretch>
        </p:blipFill>
        <p:spPr>
          <a:xfrm>
            <a:off x="1155698" y="3152653"/>
            <a:ext cx="9876117" cy="395045"/>
          </a:xfrm>
          <a:prstGeom prst="rect">
            <a:avLst/>
          </a:prstGeom>
        </p:spPr>
      </p:pic>
      <p:pic>
        <p:nvPicPr>
          <p:cNvPr id="6" name="Picture 5"/>
          <p:cNvPicPr>
            <a:picLocks noChangeAspect="1"/>
          </p:cNvPicPr>
          <p:nvPr/>
        </p:nvPicPr>
        <p:blipFill>
          <a:blip r:embed="rId4"/>
          <a:stretch>
            <a:fillRect/>
          </a:stretch>
        </p:blipFill>
        <p:spPr>
          <a:xfrm>
            <a:off x="1155698" y="3703127"/>
            <a:ext cx="9876117" cy="440090"/>
          </a:xfrm>
          <a:prstGeom prst="rect">
            <a:avLst/>
          </a:prstGeom>
        </p:spPr>
      </p:pic>
    </p:spTree>
    <p:extLst>
      <p:ext uri="{BB962C8B-B14F-4D97-AF65-F5344CB8AC3E}">
        <p14:creationId xmlns:p14="http://schemas.microsoft.com/office/powerpoint/2010/main" val="489829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(Data)</a:t>
            </a:r>
          </a:p>
        </p:txBody>
      </p:sp>
      <p:sp>
        <p:nvSpPr>
          <p:cNvPr id="31" name="Subtitle 2"/>
          <p:cNvSpPr txBox="1">
            <a:spLocks/>
          </p:cNvSpPr>
          <p:nvPr/>
        </p:nvSpPr>
        <p:spPr>
          <a:xfrm>
            <a:off x="457200" y="1297439"/>
            <a:ext cx="4493623"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raw (Day 2):</a:t>
            </a:r>
          </a:p>
        </p:txBody>
      </p:sp>
      <p:sp>
        <p:nvSpPr>
          <p:cNvPr id="8" name="Subtitle 2"/>
          <p:cNvSpPr txBox="1">
            <a:spLocks/>
          </p:cNvSpPr>
          <p:nvPr/>
        </p:nvSpPr>
        <p:spPr>
          <a:xfrm>
            <a:off x="457199" y="4724638"/>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standardised table (Day 2):</a:t>
            </a:r>
          </a:p>
        </p:txBody>
      </p:sp>
      <p:sp>
        <p:nvSpPr>
          <p:cNvPr id="4" name="Rectangle 3"/>
          <p:cNvSpPr/>
          <p:nvPr/>
        </p:nvSpPr>
        <p:spPr>
          <a:xfrm>
            <a:off x="783772" y="1614939"/>
            <a:ext cx="10248045" cy="492443"/>
          </a:xfrm>
          <a:prstGeom prst="rect">
            <a:avLst/>
          </a:prstGeom>
          <a:ln>
            <a:solidFill>
              <a:schemeClr val="tx1"/>
            </a:solidFill>
          </a:ln>
        </p:spPr>
        <p:txBody>
          <a:bodyPr wrap="square">
            <a:spAutoFit/>
          </a:bodyPr>
          <a:lstStyle/>
          <a:p>
            <a:r>
              <a:rPr lang="en-US" sz="1300" dirty="0">
                <a:solidFill>
                  <a:schemeClr val="tx2"/>
                </a:solidFill>
                <a:cs typeface="Calibri" panose="020F0502020204030204" pitchFamily="34" charset="0"/>
              </a:rPr>
              <a:t>((</a:t>
            </a:r>
            <a:r>
              <a:rPr lang="en-US" sz="1300" dirty="0" err="1">
                <a:solidFill>
                  <a:schemeClr val="tx2"/>
                </a:solidFill>
                <a:cs typeface="Calibri" panose="020F0502020204030204" pitchFamily="34" charset="0"/>
              </a:rPr>
              <a:t>lakeLastUpdateDate</a:t>
            </a:r>
            <a:r>
              <a:rPr lang="en-US" sz="1300" dirty="0">
                <a:solidFill>
                  <a:schemeClr val="tx2"/>
                </a:solidFill>
                <a:cs typeface="Calibri" panose="020F0502020204030204" pitchFamily="34" charset="0"/>
              </a:rPr>
              <a:t> = 20220610)) AND ((</a:t>
            </a:r>
            <a:r>
              <a:rPr lang="en-US" sz="1300" dirty="0" err="1">
                <a:solidFill>
                  <a:schemeClr val="tx2"/>
                </a:solidFill>
                <a:cs typeface="Calibri" panose="020F0502020204030204" pitchFamily="34" charset="0"/>
              </a:rPr>
              <a:t>lakeLastUpdateTimeStamp</a:t>
            </a:r>
            <a:r>
              <a:rPr lang="en-US" sz="1300" dirty="0">
                <a:solidFill>
                  <a:schemeClr val="tx2"/>
                </a:solidFill>
                <a:cs typeface="Calibri" panose="020F0502020204030204" pitchFamily="34" charset="0"/>
              </a:rPr>
              <a:t> &gt; CAST('2022-06-10 14:28:14.268' AS TIMESTAMP)) AND (</a:t>
            </a:r>
            <a:r>
              <a:rPr lang="en-US" sz="1300" dirty="0" err="1">
                <a:solidFill>
                  <a:schemeClr val="tx2"/>
                </a:solidFill>
                <a:cs typeface="Calibri" panose="020F0502020204030204" pitchFamily="34" charset="0"/>
              </a:rPr>
              <a:t>lakeLastUpdateTimeStamp</a:t>
            </a:r>
            <a:r>
              <a:rPr lang="en-US" sz="1300" dirty="0">
                <a:solidFill>
                  <a:schemeClr val="tx2"/>
                </a:solidFill>
                <a:cs typeface="Calibri" panose="020F0502020204030204" pitchFamily="34" charset="0"/>
              </a:rPr>
              <a:t> &lt;= CAST('2022-06-10 17:57:09.472' AS TIMESTAMP)))</a:t>
            </a:r>
          </a:p>
        </p:txBody>
      </p:sp>
      <p:sp>
        <p:nvSpPr>
          <p:cNvPr id="38" name="Rounded Rectangle 37"/>
          <p:cNvSpPr/>
          <p:nvPr/>
        </p:nvSpPr>
        <p:spPr>
          <a:xfrm>
            <a:off x="1041400" y="2778028"/>
            <a:ext cx="10172700" cy="1569698"/>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ubtitle 2"/>
          <p:cNvSpPr>
            <a:spLocks noGrp="1"/>
          </p:cNvSpPr>
          <p:nvPr>
            <p:ph type="subTitle" idx="1"/>
          </p:nvPr>
        </p:nvSpPr>
        <p:spPr>
          <a:xfrm>
            <a:off x="457200" y="2436032"/>
            <a:ext cx="11277601" cy="317500"/>
          </a:xfrm>
        </p:spPr>
        <p:txBody>
          <a:bodyPr/>
          <a:lstStyle/>
          <a:p>
            <a:r>
              <a:rPr lang="en-US" b="1" dirty="0"/>
              <a:t>Sample Data in standardised (Day 2):</a:t>
            </a:r>
          </a:p>
        </p:txBody>
      </p:sp>
      <p:pic>
        <p:nvPicPr>
          <p:cNvPr id="3" name="Picture 2"/>
          <p:cNvPicPr>
            <a:picLocks noChangeAspect="1"/>
          </p:cNvPicPr>
          <p:nvPr/>
        </p:nvPicPr>
        <p:blipFill>
          <a:blip r:embed="rId2"/>
          <a:stretch>
            <a:fillRect/>
          </a:stretch>
        </p:blipFill>
        <p:spPr>
          <a:xfrm>
            <a:off x="1155698" y="5042138"/>
            <a:ext cx="9876119" cy="796958"/>
          </a:xfrm>
          <a:prstGeom prst="rect">
            <a:avLst/>
          </a:prstGeom>
        </p:spPr>
      </p:pic>
      <p:pic>
        <p:nvPicPr>
          <p:cNvPr id="10" name="Picture 9"/>
          <p:cNvPicPr>
            <a:picLocks noChangeAspect="1"/>
          </p:cNvPicPr>
          <p:nvPr/>
        </p:nvPicPr>
        <p:blipFill>
          <a:blip r:embed="rId3"/>
          <a:stretch>
            <a:fillRect/>
          </a:stretch>
        </p:blipFill>
        <p:spPr>
          <a:xfrm>
            <a:off x="1155697" y="2922435"/>
            <a:ext cx="9876117" cy="580948"/>
          </a:xfrm>
          <a:prstGeom prst="rect">
            <a:avLst/>
          </a:prstGeom>
        </p:spPr>
      </p:pic>
      <p:pic>
        <p:nvPicPr>
          <p:cNvPr id="12" name="Picture 11"/>
          <p:cNvPicPr>
            <a:picLocks noChangeAspect="1"/>
          </p:cNvPicPr>
          <p:nvPr/>
        </p:nvPicPr>
        <p:blipFill>
          <a:blip r:embed="rId4"/>
          <a:stretch>
            <a:fillRect/>
          </a:stretch>
        </p:blipFill>
        <p:spPr>
          <a:xfrm>
            <a:off x="1155696" y="3647790"/>
            <a:ext cx="9876117" cy="564680"/>
          </a:xfrm>
          <a:prstGeom prst="rect">
            <a:avLst/>
          </a:prstGeom>
        </p:spPr>
      </p:pic>
    </p:spTree>
    <p:extLst>
      <p:ext uri="{BB962C8B-B14F-4D97-AF65-F5344CB8AC3E}">
        <p14:creationId xmlns:p14="http://schemas.microsoft.com/office/powerpoint/2010/main" val="1666129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(Merge)</a:t>
            </a:r>
          </a:p>
        </p:txBody>
      </p:sp>
      <p:sp>
        <p:nvSpPr>
          <p:cNvPr id="3" name="Subtitle 2"/>
          <p:cNvSpPr>
            <a:spLocks noGrp="1"/>
          </p:cNvSpPr>
          <p:nvPr>
            <p:ph type="subTitle" idx="1"/>
          </p:nvPr>
        </p:nvSpPr>
        <p:spPr>
          <a:xfrm>
            <a:off x="507999" y="1116790"/>
            <a:ext cx="11277601" cy="308660"/>
          </a:xfrm>
        </p:spPr>
        <p:txBody>
          <a:bodyPr/>
          <a:lstStyle/>
          <a:p>
            <a:r>
              <a:rPr lang="en-US" b="1" dirty="0"/>
              <a:t>Incremental Load:</a:t>
            </a:r>
          </a:p>
        </p:txBody>
      </p:sp>
      <p:graphicFrame>
        <p:nvGraphicFramePr>
          <p:cNvPr id="6" name="Table 5"/>
          <p:cNvGraphicFramePr>
            <a:graphicFrameLocks noGrp="1"/>
          </p:cNvGraphicFramePr>
          <p:nvPr>
            <p:extLst>
              <p:ext uri="{D42A27DB-BD31-4B8C-83A1-F6EECF244321}">
                <p14:modId xmlns:p14="http://schemas.microsoft.com/office/powerpoint/2010/main" val="1399952468"/>
              </p:ext>
            </p:extLst>
          </p:nvPr>
        </p:nvGraphicFramePr>
        <p:xfrm>
          <a:off x="1188593" y="1327710"/>
          <a:ext cx="9814814" cy="5120640"/>
        </p:xfrm>
        <a:graphic>
          <a:graphicData uri="http://schemas.openxmlformats.org/drawingml/2006/table">
            <a:tbl>
              <a:tblPr firstRow="1" bandRow="1">
                <a:tableStyleId>{1E171933-4619-4E11-9A3F-F7608DF75F80}</a:tableStyleId>
              </a:tblPr>
              <a:tblGrid>
                <a:gridCol w="371094">
                  <a:extLst>
                    <a:ext uri="{9D8B030D-6E8A-4147-A177-3AD203B41FA5}">
                      <a16:colId xmlns:a16="http://schemas.microsoft.com/office/drawing/2014/main" val="2264788010"/>
                    </a:ext>
                  </a:extLst>
                </a:gridCol>
                <a:gridCol w="3553206">
                  <a:extLst>
                    <a:ext uri="{9D8B030D-6E8A-4147-A177-3AD203B41FA5}">
                      <a16:colId xmlns:a16="http://schemas.microsoft.com/office/drawing/2014/main" val="960615748"/>
                    </a:ext>
                  </a:extLst>
                </a:gridCol>
                <a:gridCol w="4122420">
                  <a:extLst>
                    <a:ext uri="{9D8B030D-6E8A-4147-A177-3AD203B41FA5}">
                      <a16:colId xmlns:a16="http://schemas.microsoft.com/office/drawing/2014/main" val="2389614480"/>
                    </a:ext>
                  </a:extLst>
                </a:gridCol>
                <a:gridCol w="1768094">
                  <a:extLst>
                    <a:ext uri="{9D8B030D-6E8A-4147-A177-3AD203B41FA5}">
                      <a16:colId xmlns:a16="http://schemas.microsoft.com/office/drawing/2014/main" val="4294267749"/>
                    </a:ext>
                  </a:extLst>
                </a:gridCol>
              </a:tblGrid>
              <a:tr h="194511">
                <a:tc>
                  <a:txBody>
                    <a:bodyPr/>
                    <a:lstStyle/>
                    <a:p>
                      <a:pPr algn="ctr"/>
                      <a:r>
                        <a:rPr lang="en-IN" sz="1200" dirty="0"/>
                        <a:t>Sr.</a:t>
                      </a:r>
                      <a:endParaRPr lang="en-US" sz="1200" dirty="0"/>
                    </a:p>
                  </a:txBody>
                  <a:tcPr/>
                </a:tc>
                <a:tc>
                  <a:txBody>
                    <a:bodyPr/>
                    <a:lstStyle/>
                    <a:p>
                      <a:pPr algn="ctr"/>
                      <a:r>
                        <a:rPr lang="en-IN" sz="1200" dirty="0"/>
                        <a:t>Scenario</a:t>
                      </a:r>
                      <a:endParaRPr lang="en-US" sz="1200" dirty="0"/>
                    </a:p>
                  </a:txBody>
                  <a:tcPr/>
                </a:tc>
                <a:tc>
                  <a:txBody>
                    <a:bodyPr/>
                    <a:lstStyle/>
                    <a:p>
                      <a:pPr algn="ctr"/>
                      <a:r>
                        <a:rPr lang="en-IN" sz="1200" dirty="0"/>
                        <a:t>Outcome</a:t>
                      </a:r>
                      <a:endParaRPr lang="en-US" sz="1200" dirty="0"/>
                    </a:p>
                  </a:txBody>
                  <a:tcPr/>
                </a:tc>
                <a:tc>
                  <a:txBody>
                    <a:bodyPr/>
                    <a:lstStyle/>
                    <a:p>
                      <a:pPr algn="ctr"/>
                      <a:r>
                        <a:rPr lang="en-IN" sz="1200" dirty="0"/>
                        <a:t>Description</a:t>
                      </a:r>
                      <a:endParaRPr lang="en-US" sz="1200" dirty="0"/>
                    </a:p>
                  </a:txBody>
                  <a:tcPr/>
                </a:tc>
                <a:extLst>
                  <a:ext uri="{0D108BD9-81ED-4DB2-BD59-A6C34878D82A}">
                    <a16:rowId xmlns:a16="http://schemas.microsoft.com/office/drawing/2014/main" val="2927049239"/>
                  </a:ext>
                </a:extLst>
              </a:tr>
              <a:tr h="324186">
                <a:tc>
                  <a:txBody>
                    <a:bodyPr/>
                    <a:lstStyle/>
                    <a:p>
                      <a:pPr algn="ctr"/>
                      <a:r>
                        <a:rPr lang="en-IN" sz="1200" dirty="0"/>
                        <a:t>1</a:t>
                      </a:r>
                      <a:endParaRPr lang="en-US" sz="1200" dirty="0"/>
                    </a:p>
                  </a:txBody>
                  <a:tcPr/>
                </a:tc>
                <a:tc>
                  <a:txBody>
                    <a:bodyPr/>
                    <a:lstStyle/>
                    <a:p>
                      <a:r>
                        <a:rPr lang="en-IN" sz="1200" dirty="0"/>
                        <a:t>A n</a:t>
                      </a:r>
                      <a:r>
                        <a:rPr lang="en-IN" sz="1200" baseline="0" dirty="0"/>
                        <a:t>ew record comes from Standardised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NULL, DT = NULL</a:t>
                      </a:r>
                      <a:endParaRPr lang="en-US" sz="1200" i="1" dirty="0">
                        <a:solidFill>
                          <a:schemeClr val="accent6">
                            <a:lumMod val="10000"/>
                          </a:schemeClr>
                        </a:solidFill>
                      </a:endParaRPr>
                    </a:p>
                  </a:txBody>
                  <a:tcPr/>
                </a:tc>
                <a:tc>
                  <a:txBody>
                    <a:bodyPr/>
                    <a:lstStyle/>
                    <a:p>
                      <a:r>
                        <a:rPr lang="en-IN" sz="1200" dirty="0"/>
                        <a:t>Record gets inserted as new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NULL, DT = NULL</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New record get inserted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925760394"/>
                  </a:ext>
                </a:extLst>
              </a:tr>
              <a:tr h="583534">
                <a:tc>
                  <a:txBody>
                    <a:bodyPr/>
                    <a:lstStyle/>
                    <a:p>
                      <a:pPr algn="ctr"/>
                      <a:r>
                        <a:rPr lang="en-IN" sz="1200" dirty="0"/>
                        <a:t>2</a:t>
                      </a:r>
                      <a:endParaRPr lang="en-US" sz="1200" dirty="0"/>
                    </a:p>
                  </a:txBody>
                  <a:tcPr/>
                </a:tc>
                <a:tc>
                  <a:txBody>
                    <a:bodyPr/>
                    <a:lstStyle/>
                    <a:p>
                      <a:r>
                        <a:rPr lang="en-IN" sz="1200" baseline="0" dirty="0"/>
                        <a:t>A record (existing conformed) comes from standardised with some updates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2, VFT = D2, VTT = NULL, DT = NULL</a:t>
                      </a:r>
                      <a:endParaRPr lang="en-US" sz="1200" i="1" dirty="0">
                        <a:solidFill>
                          <a:schemeClr val="accent6">
                            <a:lumMod val="10000"/>
                          </a:schemeClr>
                        </a:solidFill>
                      </a:endParaRPr>
                    </a:p>
                  </a:txBody>
                  <a:tcPr/>
                </a:tc>
                <a:tc>
                  <a:txBody>
                    <a:bodyPr/>
                    <a:lstStyle/>
                    <a:p>
                      <a:r>
                        <a:rPr lang="en-IN" sz="1200" dirty="0"/>
                        <a:t>Existing active</a:t>
                      </a:r>
                      <a:r>
                        <a:rPr lang="en-IN" sz="1200" baseline="0" dirty="0"/>
                        <a:t> r</a:t>
                      </a:r>
                      <a:r>
                        <a:rPr lang="en-IN" sz="1200" dirty="0"/>
                        <a:t>ecord marked as inactive</a:t>
                      </a:r>
                    </a:p>
                    <a:p>
                      <a:r>
                        <a:rPr lang="en-IN" sz="1200" dirty="0"/>
                        <a:t>Record gets inserted as new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a:t>
                      </a:r>
                      <a:r>
                        <a:rPr lang="en-IN" sz="1200" b="1" i="1" u="sng" baseline="0" dirty="0">
                          <a:solidFill>
                            <a:schemeClr val="accent6">
                              <a:lumMod val="10000"/>
                            </a:schemeClr>
                          </a:solidFill>
                        </a:rPr>
                        <a:t>HV = 2, VFT = D2</a:t>
                      </a:r>
                      <a:r>
                        <a:rPr lang="en-IN" sz="1200" i="1" baseline="0" dirty="0">
                          <a:solidFill>
                            <a:schemeClr val="accent6">
                              <a:lumMod val="10000"/>
                            </a:schemeClr>
                          </a:solidFill>
                        </a:rPr>
                        <a:t>,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active</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899454720"/>
                  </a:ext>
                </a:extLst>
              </a:tr>
              <a:tr h="713209">
                <a:tc>
                  <a:txBody>
                    <a:bodyPr/>
                    <a:lstStyle/>
                    <a:p>
                      <a:pPr algn="ctr"/>
                      <a:r>
                        <a:rPr lang="en-IN" sz="1200" dirty="0"/>
                        <a:t>3</a:t>
                      </a:r>
                      <a:endParaRPr lang="en-US" sz="1200" dirty="0"/>
                    </a:p>
                  </a:txBody>
                  <a:tcPr/>
                </a:tc>
                <a:tc>
                  <a:txBody>
                    <a:bodyPr/>
                    <a:lstStyle/>
                    <a:p>
                      <a:r>
                        <a:rPr lang="en-IN" sz="1200" baseline="0" dirty="0"/>
                        <a:t>A record (existing in conformed as active) comes from standardised with some updates as well as </a:t>
                      </a:r>
                      <a:r>
                        <a:rPr lang="en-US" sz="1200" dirty="0"/>
                        <a:t>lakeDeletedTimestamp</a:t>
                      </a:r>
                      <a:endParaRPr lang="en-IN"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3, VFT = D3, VTT = NULL, DT = D3</a:t>
                      </a:r>
                      <a:endParaRPr lang="en-US" sz="1200" i="1" dirty="0">
                        <a:solidFill>
                          <a:schemeClr val="accent6">
                            <a:lumMod val="1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dirty="0">
                        <a:solidFill>
                          <a:schemeClr val="accent6">
                            <a:lumMod val="10000"/>
                          </a:schemeClr>
                        </a:solidFill>
                      </a:endParaRPr>
                    </a:p>
                  </a:txBody>
                  <a:tcPr/>
                </a:tc>
                <a:tc>
                  <a:txBody>
                    <a:bodyPr/>
                    <a:lstStyle/>
                    <a:p>
                      <a:r>
                        <a:rPr lang="en-IN" sz="1200" dirty="0"/>
                        <a:t>Existing active</a:t>
                      </a:r>
                      <a:r>
                        <a:rPr lang="en-IN" sz="1200" baseline="0" dirty="0"/>
                        <a:t> r</a:t>
                      </a:r>
                      <a:r>
                        <a:rPr lang="en-IN" sz="1200" dirty="0"/>
                        <a:t>ecord marked as inactive</a:t>
                      </a:r>
                    </a:p>
                    <a:p>
                      <a:r>
                        <a:rPr lang="en-IN" sz="1200" dirty="0"/>
                        <a:t>Record gets inserted as deleted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a:t>
                      </a:r>
                      <a:r>
                        <a:rPr lang="en-IN" sz="1200" b="1" i="1" u="sng" baseline="0" dirty="0">
                          <a:solidFill>
                            <a:schemeClr val="accent6">
                              <a:lumMod val="10000"/>
                            </a:schemeClr>
                          </a:solidFill>
                        </a:rPr>
                        <a:t>VTT = D3</a:t>
                      </a:r>
                      <a:r>
                        <a:rPr lang="en-IN" sz="1200" i="1" baseline="0" dirty="0">
                          <a:solidFill>
                            <a:schemeClr val="accent6">
                              <a:lumMod val="10000"/>
                            </a:schemeClr>
                          </a:solidFill>
                        </a:rPr>
                        <a:t>,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a:t>
                      </a:r>
                      <a:r>
                        <a:rPr lang="en-IN" sz="1200" b="1" i="1" u="sng" baseline="0" dirty="0">
                          <a:solidFill>
                            <a:schemeClr val="accent6">
                              <a:lumMod val="10000"/>
                            </a:schemeClr>
                          </a:solidFill>
                        </a:rPr>
                        <a:t>HV = 3, VFT = D3</a:t>
                      </a:r>
                      <a:r>
                        <a:rPr lang="en-IN" sz="1200" i="1" baseline="0" dirty="0">
                          <a:solidFill>
                            <a:schemeClr val="accent6">
                              <a:lumMod val="10000"/>
                            </a:schemeClr>
                          </a:solidFill>
                        </a:rPr>
                        <a:t>, VTT = NULL, </a:t>
                      </a:r>
                      <a:r>
                        <a:rPr lang="en-IN" sz="1200" b="1" i="1" u="sng" baseline="0" dirty="0">
                          <a:solidFill>
                            <a:schemeClr val="accent6">
                              <a:lumMod val="10000"/>
                            </a:schemeClr>
                          </a:solidFill>
                        </a:rPr>
                        <a:t>DT = D3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deleted</a:t>
                      </a:r>
                      <a:endParaRPr lang="en-US" sz="1200" kern="1200" dirty="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1" i="1" u="sng" baseline="0" dirty="0">
                        <a:solidFill>
                          <a:schemeClr val="accent6">
                            <a:lumMod val="10000"/>
                          </a:schemeClr>
                        </a:solidFill>
                      </a:endParaRPr>
                    </a:p>
                  </a:txBody>
                  <a:tcPr/>
                </a:tc>
                <a:extLst>
                  <a:ext uri="{0D108BD9-81ED-4DB2-BD59-A6C34878D82A}">
                    <a16:rowId xmlns:a16="http://schemas.microsoft.com/office/drawing/2014/main" val="1083202189"/>
                  </a:ext>
                </a:extLst>
              </a:tr>
              <a:tr h="842883">
                <a:tc>
                  <a:txBody>
                    <a:bodyPr/>
                    <a:lstStyle/>
                    <a:p>
                      <a:pPr algn="ctr"/>
                      <a:r>
                        <a:rPr lang="en-IN" sz="1200" dirty="0"/>
                        <a:t>4</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deleted) comes from standardised with some updates as well as </a:t>
                      </a:r>
                      <a:r>
                        <a:rPr lang="en-US" sz="1200" dirty="0"/>
                        <a:t>lakeDeletedTimestamp</a:t>
                      </a:r>
                      <a:endParaRPr lang="en-IN"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4, VFT = D4, VTT = NULL, DT = D4</a:t>
                      </a:r>
                      <a:endParaRPr lang="en-US" sz="1200" i="1" dirty="0">
                        <a:solidFill>
                          <a:schemeClr val="accent6">
                            <a:lumMod val="1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aseline="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Existing active</a:t>
                      </a:r>
                      <a:r>
                        <a:rPr lang="en-IN" sz="1200" baseline="0" dirty="0"/>
                        <a:t> r</a:t>
                      </a:r>
                      <a:r>
                        <a:rPr lang="en-IN" sz="1200" dirty="0"/>
                        <a:t>ecord marked as inactive</a:t>
                      </a:r>
                    </a:p>
                    <a:p>
                      <a:r>
                        <a:rPr lang="en-IN" sz="1200" dirty="0"/>
                        <a:t>Record gets inserted as deleted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a:t>
                      </a:r>
                      <a:r>
                        <a:rPr lang="en-IN" sz="1200" b="1" i="1" u="sng" baseline="0" dirty="0">
                          <a:solidFill>
                            <a:schemeClr val="accent6">
                              <a:lumMod val="10000"/>
                            </a:schemeClr>
                          </a:solidFill>
                        </a:rPr>
                        <a:t>VTT = D4</a:t>
                      </a:r>
                      <a:r>
                        <a:rPr lang="en-IN" sz="1200" i="1" baseline="0" dirty="0">
                          <a:solidFill>
                            <a:schemeClr val="accent6">
                              <a:lumMod val="10000"/>
                            </a:schemeClr>
                          </a:solidFill>
                        </a:rPr>
                        <a:t>,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a:t>
                      </a:r>
                      <a:r>
                        <a:rPr lang="en-IN" sz="1200" b="1" i="1" u="sng" baseline="0" dirty="0">
                          <a:solidFill>
                            <a:schemeClr val="accent6">
                              <a:lumMod val="10000"/>
                            </a:schemeClr>
                          </a:solidFill>
                        </a:rPr>
                        <a:t>HV = 4, VFT = D4</a:t>
                      </a:r>
                      <a:r>
                        <a:rPr lang="en-IN" sz="1200" i="1" baseline="0" dirty="0">
                          <a:solidFill>
                            <a:schemeClr val="accent6">
                              <a:lumMod val="10000"/>
                            </a:schemeClr>
                          </a:solidFill>
                        </a:rPr>
                        <a:t>, VTT = NULL, </a:t>
                      </a:r>
                      <a:r>
                        <a:rPr lang="en-IN" sz="1200" b="1" i="1" u="sng" baseline="0" dirty="0">
                          <a:solidFill>
                            <a:schemeClr val="accent6">
                              <a:lumMod val="10000"/>
                            </a:schemeClr>
                          </a:solidFill>
                        </a:rPr>
                        <a:t>DT = D4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deleted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492063053"/>
                  </a:ext>
                </a:extLst>
              </a:tr>
              <a:tr h="972557">
                <a:tc>
                  <a:txBody>
                    <a:bodyPr/>
                    <a:lstStyle/>
                    <a:p>
                      <a:pPr algn="ctr"/>
                      <a:r>
                        <a:rPr lang="en-IN" sz="1200" dirty="0"/>
                        <a:t>5</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deleted) comes from standardised with some update and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5, VFT = D5, VTT = NULL, DT = NULL</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Existing active</a:t>
                      </a:r>
                      <a:r>
                        <a:rPr lang="en-IN" sz="1200" baseline="0" dirty="0"/>
                        <a:t> r</a:t>
                      </a:r>
                      <a:r>
                        <a:rPr lang="en-IN" sz="1200" dirty="0"/>
                        <a:t>ecord marked as inactive</a:t>
                      </a:r>
                    </a:p>
                    <a:p>
                      <a:r>
                        <a:rPr lang="en-IN" sz="1200" baseline="0" dirty="0"/>
                        <a:t>Record gets inserted as new and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4, VFT = D4, </a:t>
                      </a:r>
                      <a:r>
                        <a:rPr lang="en-IN" sz="1200" b="1" i="1" u="sng" baseline="0" dirty="0">
                          <a:solidFill>
                            <a:schemeClr val="accent6">
                              <a:lumMod val="10000"/>
                            </a:schemeClr>
                          </a:solidFill>
                        </a:rPr>
                        <a:t>VTT = D5</a:t>
                      </a:r>
                      <a:r>
                        <a:rPr lang="en-IN" sz="1200" i="1" baseline="0" dirty="0">
                          <a:solidFill>
                            <a:schemeClr val="accent6">
                              <a:lumMod val="10000"/>
                            </a:schemeClr>
                          </a:solidFill>
                        </a:rPr>
                        <a:t>,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a:t>
                      </a:r>
                      <a:r>
                        <a:rPr lang="en-IN" sz="1200" b="1" i="1" u="sng" baseline="0" dirty="0">
                          <a:solidFill>
                            <a:schemeClr val="accent6">
                              <a:lumMod val="10000"/>
                            </a:schemeClr>
                          </a:solidFill>
                        </a:rPr>
                        <a:t>HV = 5, VFT = D5</a:t>
                      </a:r>
                      <a:r>
                        <a:rPr lang="en-IN" sz="1200" i="1" baseline="0" dirty="0">
                          <a:solidFill>
                            <a:schemeClr val="accent6">
                              <a:lumMod val="10000"/>
                            </a:schemeClr>
                          </a:solidFill>
                        </a:rPr>
                        <a:t>, VTT = NULL, DT = NULL</a:t>
                      </a:r>
                      <a:endParaRPr lang="en-IN" sz="1200" i="1" u="none" baseline="0"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active</a:t>
                      </a:r>
                      <a:endParaRPr lang="en-US" sz="1200" kern="1200" dirty="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i="1" u="none" baseline="0" dirty="0">
                        <a:solidFill>
                          <a:schemeClr val="accent6">
                            <a:lumMod val="10000"/>
                          </a:schemeClr>
                        </a:solidFill>
                      </a:endParaRPr>
                    </a:p>
                  </a:txBody>
                  <a:tcPr/>
                </a:tc>
                <a:extLst>
                  <a:ext uri="{0D108BD9-81ED-4DB2-BD59-A6C34878D82A}">
                    <a16:rowId xmlns:a16="http://schemas.microsoft.com/office/drawing/2014/main" val="3034433646"/>
                  </a:ext>
                </a:extLst>
              </a:tr>
            </a:tbl>
          </a:graphicData>
        </a:graphic>
      </p:graphicFrame>
    </p:spTree>
    <p:extLst>
      <p:ext uri="{BB962C8B-B14F-4D97-AF65-F5344CB8AC3E}">
        <p14:creationId xmlns:p14="http://schemas.microsoft.com/office/powerpoint/2010/main" val="571617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(Merge)</a:t>
            </a:r>
            <a:endParaRPr lang="en-US" b="1" dirty="0"/>
          </a:p>
        </p:txBody>
      </p:sp>
      <p:graphicFrame>
        <p:nvGraphicFramePr>
          <p:cNvPr id="6" name="Table 5"/>
          <p:cNvGraphicFramePr>
            <a:graphicFrameLocks noGrp="1"/>
          </p:cNvGraphicFramePr>
          <p:nvPr>
            <p:extLst>
              <p:ext uri="{D42A27DB-BD31-4B8C-83A1-F6EECF244321}">
                <p14:modId xmlns:p14="http://schemas.microsoft.com/office/powerpoint/2010/main" val="1942541479"/>
              </p:ext>
            </p:extLst>
          </p:nvPr>
        </p:nvGraphicFramePr>
        <p:xfrm>
          <a:off x="1226033" y="1010210"/>
          <a:ext cx="9374747" cy="5577840"/>
        </p:xfrm>
        <a:graphic>
          <a:graphicData uri="http://schemas.openxmlformats.org/drawingml/2006/table">
            <a:tbl>
              <a:tblPr firstRow="1" bandRow="1">
                <a:tableStyleId>{1E171933-4619-4E11-9A3F-F7608DF75F80}</a:tableStyleId>
              </a:tblPr>
              <a:tblGrid>
                <a:gridCol w="371094">
                  <a:extLst>
                    <a:ext uri="{9D8B030D-6E8A-4147-A177-3AD203B41FA5}">
                      <a16:colId xmlns:a16="http://schemas.microsoft.com/office/drawing/2014/main" val="2264788010"/>
                    </a:ext>
                  </a:extLst>
                </a:gridCol>
                <a:gridCol w="3679241">
                  <a:extLst>
                    <a:ext uri="{9D8B030D-6E8A-4147-A177-3AD203B41FA5}">
                      <a16:colId xmlns:a16="http://schemas.microsoft.com/office/drawing/2014/main" val="960615748"/>
                    </a:ext>
                  </a:extLst>
                </a:gridCol>
                <a:gridCol w="3757232">
                  <a:extLst>
                    <a:ext uri="{9D8B030D-6E8A-4147-A177-3AD203B41FA5}">
                      <a16:colId xmlns:a16="http://schemas.microsoft.com/office/drawing/2014/main" val="2389614480"/>
                    </a:ext>
                  </a:extLst>
                </a:gridCol>
                <a:gridCol w="1567180">
                  <a:extLst>
                    <a:ext uri="{9D8B030D-6E8A-4147-A177-3AD203B41FA5}">
                      <a16:colId xmlns:a16="http://schemas.microsoft.com/office/drawing/2014/main" val="1440364513"/>
                    </a:ext>
                  </a:extLst>
                </a:gridCol>
              </a:tblGrid>
              <a:tr h="194511">
                <a:tc>
                  <a:txBody>
                    <a:bodyPr/>
                    <a:lstStyle/>
                    <a:p>
                      <a:pPr algn="ctr"/>
                      <a:r>
                        <a:rPr lang="en-IN" sz="1200" dirty="0"/>
                        <a:t>Sr.</a:t>
                      </a:r>
                      <a:endParaRPr lang="en-US" sz="1200" dirty="0"/>
                    </a:p>
                  </a:txBody>
                  <a:tcPr/>
                </a:tc>
                <a:tc>
                  <a:txBody>
                    <a:bodyPr/>
                    <a:lstStyle/>
                    <a:p>
                      <a:pPr algn="ctr"/>
                      <a:r>
                        <a:rPr lang="en-IN" sz="1200" dirty="0"/>
                        <a:t>Scenario</a:t>
                      </a:r>
                      <a:endParaRPr lang="en-US" sz="1200" dirty="0"/>
                    </a:p>
                  </a:txBody>
                  <a:tcPr/>
                </a:tc>
                <a:tc>
                  <a:txBody>
                    <a:bodyPr/>
                    <a:lstStyle/>
                    <a:p>
                      <a:pPr algn="ctr"/>
                      <a:r>
                        <a:rPr lang="en-IN" sz="1200" dirty="0"/>
                        <a:t>Outcome</a:t>
                      </a:r>
                      <a:endParaRPr lang="en-US" sz="1200" dirty="0"/>
                    </a:p>
                  </a:txBody>
                  <a:tcPr/>
                </a:tc>
                <a:tc>
                  <a:txBody>
                    <a:bodyPr/>
                    <a:lstStyle/>
                    <a:p>
                      <a:pPr algn="ctr"/>
                      <a:r>
                        <a:rPr lang="en-IN" sz="1200" dirty="0"/>
                        <a:t>Description</a:t>
                      </a:r>
                      <a:endParaRPr lang="en-US" sz="1200" dirty="0"/>
                    </a:p>
                  </a:txBody>
                  <a:tcPr/>
                </a:tc>
                <a:extLst>
                  <a:ext uri="{0D108BD9-81ED-4DB2-BD59-A6C34878D82A}">
                    <a16:rowId xmlns:a16="http://schemas.microsoft.com/office/drawing/2014/main" val="2927049239"/>
                  </a:ext>
                </a:extLst>
              </a:tr>
              <a:tr h="324186">
                <a:tc>
                  <a:txBody>
                    <a:bodyPr/>
                    <a:lstStyle/>
                    <a:p>
                      <a:pPr algn="ctr"/>
                      <a:r>
                        <a:rPr lang="en-IN" sz="1200" dirty="0"/>
                        <a:t>6</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active) comes from standardised with no change and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5, VFT = D5, VTT = NULL, DT = NULL</a:t>
                      </a:r>
                      <a:endParaRPr lang="en-US" sz="1200" i="1" dirty="0">
                        <a:solidFill>
                          <a:schemeClr val="accent6">
                            <a:lumMod val="10000"/>
                          </a:schemeClr>
                        </a:solidFill>
                      </a:endParaRPr>
                    </a:p>
                  </a:txBody>
                  <a:tcPr/>
                </a:tc>
                <a:tc>
                  <a:txBody>
                    <a:bodyPr/>
                    <a:lstStyle/>
                    <a:p>
                      <a:r>
                        <a:rPr lang="en-IN" sz="1200" dirty="0"/>
                        <a:t>No</a:t>
                      </a:r>
                      <a:r>
                        <a:rPr lang="en-IN" sz="1200" baseline="0" dirty="0"/>
                        <a:t> change in conformed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4, VFT = D4, VTT = D5,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5, VFT = D5, VTT = NULL, DT = NULL</a:t>
                      </a:r>
                      <a:endParaRPr lang="en-IN" sz="1200" i="1" u="none" baseline="0"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No impact on existing dataset</a:t>
                      </a:r>
                      <a:endParaRPr lang="en-IN" sz="1200" i="1" baseline="0" dirty="0">
                        <a:solidFill>
                          <a:schemeClr val="accent6">
                            <a:lumMod val="10000"/>
                          </a:schemeClr>
                        </a:solidFill>
                      </a:endParaRPr>
                    </a:p>
                  </a:txBody>
                  <a:tcPr/>
                </a:tc>
                <a:extLst>
                  <a:ext uri="{0D108BD9-81ED-4DB2-BD59-A6C34878D82A}">
                    <a16:rowId xmlns:a16="http://schemas.microsoft.com/office/drawing/2014/main" val="925760394"/>
                  </a:ext>
                </a:extLst>
              </a:tr>
              <a:tr h="583534">
                <a:tc>
                  <a:txBody>
                    <a:bodyPr/>
                    <a:lstStyle/>
                    <a:p>
                      <a:pPr algn="ctr"/>
                      <a:r>
                        <a:rPr lang="en-IN" sz="1200" dirty="0"/>
                        <a:t>7</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active) comes from standardised with no change but with some </a:t>
                      </a:r>
                      <a:r>
                        <a:rPr lang="en-US" sz="1200" dirty="0"/>
                        <a:t>lakeDeletedTimestamp</a:t>
                      </a:r>
                      <a:endParaRPr lang="en-IN"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5, VFT = D5, VTT = NULL, DT = D7</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Existing active</a:t>
                      </a:r>
                      <a:r>
                        <a:rPr lang="en-IN" sz="1200" baseline="0" dirty="0"/>
                        <a:t> r</a:t>
                      </a:r>
                      <a:r>
                        <a:rPr lang="en-IN" sz="1200" dirty="0"/>
                        <a:t>ecord marked as inactive</a:t>
                      </a:r>
                    </a:p>
                    <a:p>
                      <a:r>
                        <a:rPr lang="en-IN" sz="1200" baseline="0" dirty="0"/>
                        <a:t>Record gets inserted as deleted and active record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4, VFT = D4, </a:t>
                      </a:r>
                      <a:r>
                        <a:rPr lang="en-IN" sz="1200" b="1" i="1" u="sng" baseline="0" dirty="0">
                          <a:solidFill>
                            <a:schemeClr val="accent6">
                              <a:lumMod val="10000"/>
                            </a:schemeClr>
                          </a:solidFill>
                        </a:rPr>
                        <a:t>VTT = D5</a:t>
                      </a:r>
                      <a:r>
                        <a:rPr lang="en-IN" sz="1200" i="1" baseline="0" dirty="0">
                          <a:solidFill>
                            <a:schemeClr val="accent6">
                              <a:lumMod val="10000"/>
                            </a:schemeClr>
                          </a:solidFill>
                        </a:rPr>
                        <a:t>,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5,</a:t>
                      </a:r>
                      <a:r>
                        <a:rPr lang="en-IN" sz="1200" b="0" i="1" u="none" baseline="0" dirty="0">
                          <a:solidFill>
                            <a:schemeClr val="accent6">
                              <a:lumMod val="10000"/>
                            </a:schemeClr>
                          </a:solidFill>
                        </a:rPr>
                        <a:t> </a:t>
                      </a:r>
                      <a:r>
                        <a:rPr lang="en-IN" sz="1200" b="1" i="1" u="sng" baseline="0" dirty="0">
                          <a:solidFill>
                            <a:schemeClr val="accent6">
                              <a:lumMod val="10000"/>
                            </a:schemeClr>
                          </a:solidFill>
                        </a:rPr>
                        <a:t>VFT = D5</a:t>
                      </a:r>
                      <a:r>
                        <a:rPr lang="en-IN" sz="1200" i="1" baseline="0" dirty="0">
                          <a:solidFill>
                            <a:schemeClr val="accent6">
                              <a:lumMod val="10000"/>
                            </a:schemeClr>
                          </a:solidFill>
                        </a:rPr>
                        <a:t>, VTT = NULL, </a:t>
                      </a:r>
                      <a:r>
                        <a:rPr lang="en-IN" sz="1200" b="1" i="1" u="sng" baseline="0" dirty="0">
                          <a:solidFill>
                            <a:schemeClr val="accent6">
                              <a:lumMod val="10000"/>
                            </a:schemeClr>
                          </a:solidFill>
                        </a:rPr>
                        <a:t>DT = D7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deleted</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899454720"/>
                  </a:ext>
                </a:extLst>
              </a:tr>
              <a:tr h="713209">
                <a:tc>
                  <a:txBody>
                    <a:bodyPr/>
                    <a:lstStyle/>
                    <a:p>
                      <a:pPr algn="ctr"/>
                      <a:r>
                        <a:rPr lang="en-IN" sz="1200" dirty="0"/>
                        <a:t>8</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deleted) comes from standardised with no change but with some </a:t>
                      </a:r>
                      <a:r>
                        <a:rPr lang="en-US" sz="1200" dirty="0"/>
                        <a:t>lakeDeletedTimestamp</a:t>
                      </a:r>
                      <a:endParaRPr lang="en-IN"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5, VFT = D8, VTT = NULL, DT = D8</a:t>
                      </a:r>
                      <a:endParaRPr lang="en-US" sz="1200" i="1" dirty="0">
                        <a:solidFill>
                          <a:schemeClr val="accent6">
                            <a:lumMod val="10000"/>
                          </a:schemeClr>
                        </a:solidFill>
                      </a:endParaRPr>
                    </a:p>
                  </a:txBody>
                  <a:tcPr/>
                </a:tc>
                <a:tc>
                  <a:txBody>
                    <a:bodyPr/>
                    <a:lstStyle/>
                    <a:p>
                      <a:r>
                        <a:rPr lang="en-IN" sz="1200" dirty="0"/>
                        <a:t>No</a:t>
                      </a:r>
                      <a:r>
                        <a:rPr lang="en-IN" sz="1200" baseline="0" dirty="0"/>
                        <a:t> change in conformed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4, VFT = D4, VTT = D5,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5, VFT = D5, VTT = NULL, DT = D7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No impact on existing dataset</a:t>
                      </a:r>
                      <a:endParaRPr lang="en-IN" sz="1200" i="1" baseline="0" dirty="0">
                        <a:solidFill>
                          <a:schemeClr val="accent6">
                            <a:lumMod val="10000"/>
                          </a:schemeClr>
                        </a:solidFill>
                      </a:endParaRPr>
                    </a:p>
                  </a:txBody>
                  <a:tcPr/>
                </a:tc>
                <a:extLst>
                  <a:ext uri="{0D108BD9-81ED-4DB2-BD59-A6C34878D82A}">
                    <a16:rowId xmlns:a16="http://schemas.microsoft.com/office/drawing/2014/main" val="1083202189"/>
                  </a:ext>
                </a:extLst>
              </a:tr>
              <a:tr h="713209">
                <a:tc>
                  <a:txBody>
                    <a:bodyPr/>
                    <a:lstStyle/>
                    <a:p>
                      <a:pPr algn="ctr"/>
                      <a:r>
                        <a:rPr lang="en-IN" sz="1200" dirty="0"/>
                        <a:t>9</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aseline="0" dirty="0"/>
                        <a:t>A record (existing in conformed as deleted) comes from standardised with no change and as active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5, VFT = D9, VTT = NULL, DT = NULL</a:t>
                      </a:r>
                      <a:endParaRPr lang="en-US" sz="1200" i="1" dirty="0">
                        <a:solidFill>
                          <a:schemeClr val="accent6">
                            <a:lumMod val="1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Existing active</a:t>
                      </a:r>
                      <a:r>
                        <a:rPr lang="en-IN" sz="1200" baseline="0" dirty="0"/>
                        <a:t> r</a:t>
                      </a:r>
                      <a:r>
                        <a:rPr lang="en-IN" sz="1200" dirty="0"/>
                        <a:t>ecord marked as inactive</a:t>
                      </a:r>
                    </a:p>
                    <a:p>
                      <a:r>
                        <a:rPr lang="en-IN" sz="1200" baseline="0" dirty="0"/>
                        <a:t>Record gets inserted as active record in conformed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err="1">
                          <a:solidFill>
                            <a:schemeClr val="accent6">
                              <a:lumMod val="10000"/>
                            </a:schemeClr>
                          </a:solidFill>
                        </a:rPr>
                        <a:t>Eg</a:t>
                      </a:r>
                      <a:r>
                        <a:rPr lang="en-IN" sz="1200" i="1" dirty="0">
                          <a:solidFill>
                            <a:schemeClr val="accent6">
                              <a:lumMod val="10000"/>
                            </a:schemeClr>
                          </a:solidFill>
                        </a:rPr>
                        <a:t>: HBK</a:t>
                      </a:r>
                      <a:r>
                        <a:rPr lang="en-IN" sz="1200" i="1" baseline="0" dirty="0">
                          <a:solidFill>
                            <a:schemeClr val="accent6">
                              <a:lumMod val="10000"/>
                            </a:schemeClr>
                          </a:solidFill>
                        </a:rPr>
                        <a:t> = 1, HV = 1, VFT = D1, VTT = D2, NULL,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dirty="0">
                          <a:solidFill>
                            <a:schemeClr val="accent6">
                              <a:lumMod val="10000"/>
                            </a:schemeClr>
                          </a:solidFill>
                        </a:rPr>
                        <a:t>      </a:t>
                      </a: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2, VFT = D2, VTT = D3, DT =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3, VFT = D3, VTT = D4, DT =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4, VFT = D4, VTT = D5, DT = D4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5, VFT = D5, </a:t>
                      </a:r>
                      <a:r>
                        <a:rPr lang="en-IN" sz="1200" b="1" i="1" u="sng" baseline="0" dirty="0">
                          <a:solidFill>
                            <a:schemeClr val="accent6">
                              <a:lumMod val="10000"/>
                            </a:schemeClr>
                          </a:solidFill>
                        </a:rPr>
                        <a:t>VTT = D9</a:t>
                      </a:r>
                      <a:r>
                        <a:rPr lang="en-IN" sz="1200" i="1" baseline="0" dirty="0">
                          <a:solidFill>
                            <a:schemeClr val="accent6">
                              <a:lumMod val="10000"/>
                            </a:schemeClr>
                          </a:solidFill>
                        </a:rPr>
                        <a:t>, DT = D7</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i="1" baseline="0" dirty="0">
                          <a:solidFill>
                            <a:schemeClr val="accent6">
                              <a:lumMod val="10000"/>
                            </a:schemeClr>
                          </a:solidFill>
                        </a:rPr>
                        <a:t>       </a:t>
                      </a:r>
                      <a:r>
                        <a:rPr lang="en-IN" sz="1200" i="1" dirty="0">
                          <a:solidFill>
                            <a:schemeClr val="accent6">
                              <a:lumMod val="10000"/>
                            </a:schemeClr>
                          </a:solidFill>
                        </a:rPr>
                        <a:t>HBK</a:t>
                      </a:r>
                      <a:r>
                        <a:rPr lang="en-IN" sz="1200" i="1" baseline="0" dirty="0">
                          <a:solidFill>
                            <a:schemeClr val="accent6">
                              <a:lumMod val="10000"/>
                            </a:schemeClr>
                          </a:solidFill>
                        </a:rPr>
                        <a:t> = 1, HV = 5, </a:t>
                      </a:r>
                      <a:r>
                        <a:rPr lang="en-IN" sz="1200" b="1" i="1" u="sng" baseline="0" dirty="0">
                          <a:solidFill>
                            <a:schemeClr val="accent6">
                              <a:lumMod val="10000"/>
                            </a:schemeClr>
                          </a:solidFill>
                        </a:rPr>
                        <a:t>VFT = D9</a:t>
                      </a:r>
                      <a:r>
                        <a:rPr lang="en-IN" sz="1200" i="1" baseline="0" dirty="0">
                          <a:solidFill>
                            <a:schemeClr val="accent6">
                              <a:lumMod val="10000"/>
                            </a:schemeClr>
                          </a:solidFill>
                        </a:rPr>
                        <a:t>, VTT = NULL, DT = NULL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mn-lt"/>
                          <a:ea typeface="+mn-ea"/>
                          <a:cs typeface="+mn-cs"/>
                        </a:rPr>
                        <a:t>Existing record closed, updated</a:t>
                      </a:r>
                      <a:r>
                        <a:rPr lang="en-IN" sz="1200" kern="1200" baseline="0" dirty="0">
                          <a:solidFill>
                            <a:schemeClr val="dk1"/>
                          </a:solidFill>
                          <a:latin typeface="+mn-lt"/>
                          <a:ea typeface="+mn-ea"/>
                          <a:cs typeface="+mn-cs"/>
                        </a:rPr>
                        <a:t> record inserted as active</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629395900"/>
                  </a:ext>
                </a:extLst>
              </a:tr>
            </a:tbl>
          </a:graphicData>
        </a:graphic>
      </p:graphicFrame>
    </p:spTree>
    <p:extLst>
      <p:ext uri="{BB962C8B-B14F-4D97-AF65-F5344CB8AC3E}">
        <p14:creationId xmlns:p14="http://schemas.microsoft.com/office/powerpoint/2010/main" val="3706340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(Reconciliation)</a:t>
            </a:r>
            <a:endParaRPr lang="en-US" b="1" dirty="0"/>
          </a:p>
        </p:txBody>
      </p:sp>
      <p:sp>
        <p:nvSpPr>
          <p:cNvPr id="7" name="Subtitle 2"/>
          <p:cNvSpPr>
            <a:spLocks noGrp="1"/>
          </p:cNvSpPr>
          <p:nvPr>
            <p:ph type="subTitle" idx="1"/>
          </p:nvPr>
        </p:nvSpPr>
        <p:spPr>
          <a:xfrm>
            <a:off x="457199" y="1659840"/>
            <a:ext cx="11277601" cy="3851960"/>
          </a:xfrm>
        </p:spPr>
        <p:txBody>
          <a:bodyPr/>
          <a:lstStyle/>
          <a:p>
            <a:r>
              <a:rPr lang="en-IN" dirty="0">
                <a:solidFill>
                  <a:srgbClr val="000000"/>
                </a:solidFill>
              </a:rPr>
              <a:t>Data is extracted from Standardised table in batches as per the Batch Effective Date using azure databricks for transformation logics. It helps us to load the data “as is” for a particular timestamp, however, </a:t>
            </a:r>
            <a:r>
              <a:rPr lang="en-US" dirty="0">
                <a:solidFill>
                  <a:srgbClr val="000000"/>
                </a:solidFill>
              </a:rPr>
              <a:t>we can only load BED sequentially</a:t>
            </a:r>
            <a:r>
              <a:rPr lang="en-IN" dirty="0">
                <a:solidFill>
                  <a:srgbClr val="000000"/>
                </a:solidFill>
              </a:rPr>
              <a:t>. As we have concept of soft deletion of record happening in Standardised table the SCD logic needs to include  “</a:t>
            </a:r>
            <a:r>
              <a:rPr lang="en-US" dirty="0">
                <a:solidFill>
                  <a:srgbClr val="000000"/>
                </a:solidFill>
              </a:rPr>
              <a:t>lakeDeletedTimestamp” for handling the updates.</a:t>
            </a:r>
            <a:endParaRPr lang="en-IN" dirty="0">
              <a:solidFill>
                <a:srgbClr val="000000"/>
              </a:solidFill>
            </a:endParaRPr>
          </a:p>
          <a:p>
            <a:endParaRPr lang="en-US" b="1" dirty="0">
              <a:solidFill>
                <a:srgbClr val="000000"/>
              </a:solidFill>
            </a:endParaRPr>
          </a:p>
          <a:p>
            <a:r>
              <a:rPr lang="en-US" b="1" dirty="0">
                <a:solidFill>
                  <a:srgbClr val="000000"/>
                </a:solidFill>
              </a:rPr>
              <a:t>Reconciliation:</a:t>
            </a:r>
          </a:p>
          <a:p>
            <a:r>
              <a:rPr lang="en-IN" dirty="0">
                <a:solidFill>
                  <a:srgbClr val="000000"/>
                </a:solidFill>
              </a:rPr>
              <a:t>All the reconciliation code is available on databricks notebook - </a:t>
            </a:r>
            <a:r>
              <a:rPr lang="en-IN" dirty="0">
                <a:solidFill>
                  <a:srgbClr val="000000"/>
                </a:solidFill>
                <a:hlinkClick r:id="rId2"/>
              </a:rPr>
              <a:t>Raw_Stand_Conf_Reconciliation</a:t>
            </a:r>
            <a:r>
              <a:rPr lang="en-IN" dirty="0">
                <a:solidFill>
                  <a:srgbClr val="000000"/>
                </a:solidFill>
              </a:rPr>
              <a:t>. We have option to perform validation of either in specific table or entire table present in a database</a:t>
            </a:r>
          </a:p>
          <a:p>
            <a:endParaRPr lang="en-IN" dirty="0">
              <a:solidFill>
                <a:srgbClr val="000000"/>
              </a:solidFill>
            </a:endParaRPr>
          </a:p>
          <a:p>
            <a:pPr marL="285750" indent="-285750">
              <a:buFont typeface="Arial" panose="020B0604020202020204" pitchFamily="34" charset="0"/>
              <a:buChar char="•"/>
            </a:pPr>
            <a:r>
              <a:rPr lang="en-IN" dirty="0">
                <a:solidFill>
                  <a:srgbClr val="000000"/>
                </a:solidFill>
              </a:rPr>
              <a:t>Duplication on PK/Grain i.e. </a:t>
            </a:r>
            <a:r>
              <a:rPr lang="en-US" dirty="0">
                <a:solidFill>
                  <a:srgbClr val="000000"/>
                </a:solidFill>
              </a:rPr>
              <a:t>HashedBusinessKey for active as well as inactive records</a:t>
            </a:r>
          </a:p>
          <a:p>
            <a:pPr marL="285750" indent="-285750">
              <a:buFont typeface="Arial" panose="020B0604020202020204" pitchFamily="34" charset="0"/>
              <a:buChar char="•"/>
            </a:pPr>
            <a:r>
              <a:rPr lang="en-IN" dirty="0">
                <a:solidFill>
                  <a:srgbClr val="000000"/>
                </a:solidFill>
              </a:rPr>
              <a:t>Delta (newly inserted as well as updated records) between subsequent runs</a:t>
            </a:r>
          </a:p>
          <a:p>
            <a:pPr marL="285750" indent="-285750">
              <a:buFont typeface="Arial" panose="020B0604020202020204" pitchFamily="34" charset="0"/>
              <a:buChar char="•"/>
            </a:pPr>
            <a:r>
              <a:rPr lang="en-IN" dirty="0">
                <a:solidFill>
                  <a:srgbClr val="000000"/>
                </a:solidFill>
              </a:rPr>
              <a:t>NULL check validation on the columns ensuring default values are assigned to the columns</a:t>
            </a:r>
          </a:p>
        </p:txBody>
      </p:sp>
    </p:spTree>
    <p:extLst>
      <p:ext uri="{BB962C8B-B14F-4D97-AF65-F5344CB8AC3E}">
        <p14:creationId xmlns:p14="http://schemas.microsoft.com/office/powerpoint/2010/main" val="2238435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Conformed To Staging</a:t>
            </a:r>
            <a:r>
              <a:rPr lang="en-US" sz="4200" b="1" dirty="0"/>
              <a:t> (Data)</a:t>
            </a:r>
          </a:p>
        </p:txBody>
      </p:sp>
      <p:sp>
        <p:nvSpPr>
          <p:cNvPr id="8" name="Subtitle 2"/>
          <p:cNvSpPr txBox="1">
            <a:spLocks/>
          </p:cNvSpPr>
          <p:nvPr/>
        </p:nvSpPr>
        <p:spPr>
          <a:xfrm>
            <a:off x="457199" y="5207970"/>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conformed table (Day 1):</a:t>
            </a:r>
          </a:p>
        </p:txBody>
      </p:sp>
      <p:sp>
        <p:nvSpPr>
          <p:cNvPr id="10" name="Subtitle 2"/>
          <p:cNvSpPr txBox="1">
            <a:spLocks/>
          </p:cNvSpPr>
          <p:nvPr/>
        </p:nvSpPr>
        <p:spPr>
          <a:xfrm>
            <a:off x="457200" y="1297439"/>
            <a:ext cx="5238206"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standardised (Day 1):</a:t>
            </a:r>
          </a:p>
        </p:txBody>
      </p:sp>
      <p:sp>
        <p:nvSpPr>
          <p:cNvPr id="11" name="Rectangle 10"/>
          <p:cNvSpPr/>
          <p:nvPr/>
        </p:nvSpPr>
        <p:spPr>
          <a:xfrm>
            <a:off x="783771" y="1614939"/>
            <a:ext cx="10248045" cy="1092607"/>
          </a:xfrm>
          <a:prstGeom prst="rect">
            <a:avLst/>
          </a:prstGeom>
          <a:ln>
            <a:solidFill>
              <a:schemeClr val="tx1"/>
            </a:solidFill>
          </a:ln>
        </p:spPr>
        <p:txBody>
          <a:bodyPr wrap="square">
            <a:spAutoFit/>
          </a:bodyPr>
          <a:lstStyle/>
          <a:p>
            <a:r>
              <a:rPr lang="en-IN" sz="1300" dirty="0" err="1">
                <a:solidFill>
                  <a:srgbClr val="000000"/>
                </a:solidFill>
              </a:rPr>
              <a:t>lakeValidFromTimestamp</a:t>
            </a:r>
            <a:r>
              <a:rPr lang="en-IN" sz="1300" dirty="0">
                <a:solidFill>
                  <a:srgbClr val="000000"/>
                </a:solidFill>
              </a:rPr>
              <a:t> = BED OR </a:t>
            </a:r>
            <a:r>
              <a:rPr lang="en-IN" sz="1300" dirty="0" err="1">
                <a:solidFill>
                  <a:srgbClr val="000000"/>
                </a:solidFill>
              </a:rPr>
              <a:t>lakeDeletedTimeStamp</a:t>
            </a:r>
            <a:r>
              <a:rPr lang="en-IN" sz="1300" dirty="0">
                <a:solidFill>
                  <a:srgbClr val="000000"/>
                </a:solidFill>
              </a:rPr>
              <a:t> = BED OR </a:t>
            </a:r>
            <a:r>
              <a:rPr lang="en-IN" sz="1300" dirty="0" err="1">
                <a:solidFill>
                  <a:srgbClr val="000000"/>
                </a:solidFill>
              </a:rPr>
              <a:t>lakeValidToTimestamp</a:t>
            </a:r>
            <a:r>
              <a:rPr lang="en-IN" sz="1300" dirty="0">
                <a:solidFill>
                  <a:srgbClr val="000000"/>
                </a:solidFill>
              </a:rPr>
              <a:t> = BED</a:t>
            </a:r>
            <a:endParaRPr lang="en-US" sz="1300" strike="sngStrike" dirty="0">
              <a:solidFill>
                <a:schemeClr val="tx2"/>
              </a:solidFill>
              <a:cs typeface="Calibri" panose="020F0502020204030204" pitchFamily="34" charset="0"/>
            </a:endParaRPr>
          </a:p>
          <a:p>
            <a:endParaRPr lang="en-US" sz="1300" strike="sngStrike" dirty="0">
              <a:solidFill>
                <a:schemeClr val="tx2"/>
              </a:solidFill>
              <a:cs typeface="Calibri" panose="020F0502020204030204" pitchFamily="34" charset="0"/>
            </a:endParaRPr>
          </a:p>
          <a:p>
            <a:r>
              <a:rPr lang="en-US" sz="1300" strike="sngStrike" dirty="0">
                <a:solidFill>
                  <a:schemeClr val="tx2"/>
                </a:solidFill>
                <a:cs typeface="Calibri" panose="020F0502020204030204" pitchFamily="34" charset="0"/>
              </a:rPr>
              <a:t>((</a:t>
            </a:r>
            <a:r>
              <a:rPr lang="en-US" sz="1300" strike="sngStrike" dirty="0" err="1">
                <a:solidFill>
                  <a:schemeClr val="tx2"/>
                </a:solidFill>
                <a:cs typeface="Calibri" panose="020F0502020204030204" pitchFamily="34" charset="0"/>
              </a:rPr>
              <a:t>lakeLastUpdateDate</a:t>
            </a:r>
            <a:r>
              <a:rPr lang="en-US" sz="1300" strike="sngStrike" dirty="0">
                <a:solidFill>
                  <a:schemeClr val="tx2"/>
                </a:solidFill>
                <a:cs typeface="Calibri" panose="020F0502020204030204" pitchFamily="34" charset="0"/>
              </a:rPr>
              <a:t> = 20220531) OR (</a:t>
            </a:r>
            <a:r>
              <a:rPr lang="en-US" sz="1300" strike="sngStrike" dirty="0" err="1">
                <a:solidFill>
                  <a:schemeClr val="tx2"/>
                </a:solidFill>
                <a:cs typeface="Calibri" panose="020F0502020204030204" pitchFamily="34" charset="0"/>
              </a:rPr>
              <a:t>lakeLastUpdateDate</a:t>
            </a:r>
            <a:r>
              <a:rPr lang="en-US" sz="1300" strike="sngStrike" dirty="0">
                <a:solidFill>
                  <a:schemeClr val="tx2"/>
                </a:solidFill>
                <a:cs typeface="Calibri" panose="020F0502020204030204" pitchFamily="34" charset="0"/>
              </a:rPr>
              <a:t> &gt;= 20220601 AND </a:t>
            </a:r>
            <a:r>
              <a:rPr lang="en-US" sz="1300" strike="sngStrike" dirty="0" err="1">
                <a:solidFill>
                  <a:schemeClr val="tx2"/>
                </a:solidFill>
                <a:cs typeface="Calibri" panose="020F0502020204030204" pitchFamily="34" charset="0"/>
              </a:rPr>
              <a:t>lakeLastUpdateDate</a:t>
            </a:r>
            <a:r>
              <a:rPr lang="en-US" sz="1300" strike="sngStrike" dirty="0">
                <a:solidFill>
                  <a:schemeClr val="tx2"/>
                </a:solidFill>
                <a:cs typeface="Calibri" panose="020F0502020204030204" pitchFamily="34" charset="0"/>
              </a:rPr>
              <a:t> &lt; 20220610) OR (</a:t>
            </a:r>
            <a:r>
              <a:rPr lang="en-US" sz="1300" strike="sngStrike" dirty="0" err="1">
                <a:solidFill>
                  <a:schemeClr val="tx2"/>
                </a:solidFill>
                <a:cs typeface="Calibri" panose="020F0502020204030204" pitchFamily="34" charset="0"/>
              </a:rPr>
              <a:t>lakeLastUpdateDate</a:t>
            </a:r>
            <a:r>
              <a:rPr lang="en-US" sz="1300" strike="sngStrike" dirty="0">
                <a:solidFill>
                  <a:schemeClr val="tx2"/>
                </a:solidFill>
                <a:cs typeface="Calibri" panose="020F0502020204030204" pitchFamily="34" charset="0"/>
              </a:rPr>
              <a:t> = 20220610)) AND ((</a:t>
            </a:r>
            <a:r>
              <a:rPr lang="en-US" sz="1300" strike="sngStrike" dirty="0" err="1">
                <a:solidFill>
                  <a:schemeClr val="tx2"/>
                </a:solidFill>
                <a:cs typeface="Calibri" panose="020F0502020204030204" pitchFamily="34" charset="0"/>
              </a:rPr>
              <a:t>lakeLastUpdateTimeStamp</a:t>
            </a:r>
            <a:r>
              <a:rPr lang="en-US" sz="1300" strike="sngStrike" dirty="0">
                <a:solidFill>
                  <a:schemeClr val="tx2"/>
                </a:solidFill>
                <a:cs typeface="Calibri" panose="020F0502020204030204" pitchFamily="34" charset="0"/>
              </a:rPr>
              <a:t> &gt; CAST('2022-05-31 16:00:00.000' AS TIMESTAMP)) AND (</a:t>
            </a:r>
            <a:r>
              <a:rPr lang="en-US" sz="1300" strike="sngStrike" dirty="0" err="1">
                <a:solidFill>
                  <a:schemeClr val="tx2"/>
                </a:solidFill>
                <a:cs typeface="Calibri" panose="020F0502020204030204" pitchFamily="34" charset="0"/>
              </a:rPr>
              <a:t>lakeLastUpdateTimeStamp</a:t>
            </a:r>
            <a:r>
              <a:rPr lang="en-US" sz="1300" strike="sngStrike" dirty="0">
                <a:solidFill>
                  <a:schemeClr val="tx2"/>
                </a:solidFill>
                <a:cs typeface="Calibri" panose="020F0502020204030204" pitchFamily="34" charset="0"/>
              </a:rPr>
              <a:t> &lt;= CAST('2022-06-10 14:30:00.000' AS TIMESTAMP)))</a:t>
            </a:r>
          </a:p>
        </p:txBody>
      </p:sp>
      <p:sp>
        <p:nvSpPr>
          <p:cNvPr id="13" name="Subtitle 2"/>
          <p:cNvSpPr>
            <a:spLocks noGrp="1"/>
          </p:cNvSpPr>
          <p:nvPr>
            <p:ph type="subTitle" idx="1"/>
          </p:nvPr>
        </p:nvSpPr>
        <p:spPr>
          <a:xfrm>
            <a:off x="457200" y="3028944"/>
            <a:ext cx="11277601" cy="317500"/>
          </a:xfrm>
        </p:spPr>
        <p:txBody>
          <a:bodyPr/>
          <a:lstStyle/>
          <a:p>
            <a:r>
              <a:rPr lang="en-US" b="1" dirty="0"/>
              <a:t>Sample Data in conformed (Day 1):</a:t>
            </a:r>
          </a:p>
        </p:txBody>
      </p:sp>
      <p:sp>
        <p:nvSpPr>
          <p:cNvPr id="17" name="Rounded Rectangle 16"/>
          <p:cNvSpPr/>
          <p:nvPr/>
        </p:nvSpPr>
        <p:spPr>
          <a:xfrm>
            <a:off x="1041400" y="3407040"/>
            <a:ext cx="10172700" cy="1244600"/>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a:stretch>
            <a:fillRect/>
          </a:stretch>
        </p:blipFill>
        <p:spPr>
          <a:xfrm>
            <a:off x="1155698" y="3531482"/>
            <a:ext cx="9876117" cy="395045"/>
          </a:xfrm>
          <a:prstGeom prst="rect">
            <a:avLst/>
          </a:prstGeom>
        </p:spPr>
      </p:pic>
      <p:pic>
        <p:nvPicPr>
          <p:cNvPr id="6" name="Picture 5"/>
          <p:cNvPicPr>
            <a:picLocks noChangeAspect="1"/>
          </p:cNvPicPr>
          <p:nvPr/>
        </p:nvPicPr>
        <p:blipFill>
          <a:blip r:embed="rId3"/>
          <a:stretch>
            <a:fillRect/>
          </a:stretch>
        </p:blipFill>
        <p:spPr>
          <a:xfrm>
            <a:off x="1155698" y="4081956"/>
            <a:ext cx="9876117" cy="440090"/>
          </a:xfrm>
          <a:prstGeom prst="rect">
            <a:avLst/>
          </a:prstGeom>
        </p:spPr>
      </p:pic>
      <p:pic>
        <p:nvPicPr>
          <p:cNvPr id="9" name="Picture 8"/>
          <p:cNvPicPr>
            <a:picLocks noChangeAspect="1"/>
          </p:cNvPicPr>
          <p:nvPr/>
        </p:nvPicPr>
        <p:blipFill>
          <a:blip r:embed="rId4"/>
          <a:stretch>
            <a:fillRect/>
          </a:stretch>
        </p:blipFill>
        <p:spPr>
          <a:xfrm>
            <a:off x="1155698" y="5522792"/>
            <a:ext cx="9876118" cy="413023"/>
          </a:xfrm>
          <a:prstGeom prst="rect">
            <a:avLst/>
          </a:prstGeom>
        </p:spPr>
      </p:pic>
    </p:spTree>
    <p:extLst>
      <p:ext uri="{BB962C8B-B14F-4D97-AF65-F5344CB8AC3E}">
        <p14:creationId xmlns:p14="http://schemas.microsoft.com/office/powerpoint/2010/main" val="1073620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Conformed To Staging</a:t>
            </a:r>
            <a:r>
              <a:rPr lang="en-US" sz="4200" b="1" dirty="0"/>
              <a:t> (Data)</a:t>
            </a:r>
          </a:p>
        </p:txBody>
      </p:sp>
      <p:sp>
        <p:nvSpPr>
          <p:cNvPr id="31" name="Subtitle 2"/>
          <p:cNvSpPr txBox="1">
            <a:spLocks/>
          </p:cNvSpPr>
          <p:nvPr/>
        </p:nvSpPr>
        <p:spPr>
          <a:xfrm>
            <a:off x="457200" y="1297439"/>
            <a:ext cx="4493623"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raw (Day 2):</a:t>
            </a:r>
          </a:p>
        </p:txBody>
      </p:sp>
      <p:sp>
        <p:nvSpPr>
          <p:cNvPr id="8" name="Subtitle 2"/>
          <p:cNvSpPr txBox="1">
            <a:spLocks/>
          </p:cNvSpPr>
          <p:nvPr/>
        </p:nvSpPr>
        <p:spPr>
          <a:xfrm>
            <a:off x="457199" y="5142650"/>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standardised table (Day 2):</a:t>
            </a:r>
          </a:p>
        </p:txBody>
      </p:sp>
      <p:sp>
        <p:nvSpPr>
          <p:cNvPr id="4" name="Rectangle 3"/>
          <p:cNvSpPr/>
          <p:nvPr/>
        </p:nvSpPr>
        <p:spPr>
          <a:xfrm>
            <a:off x="783772" y="1614939"/>
            <a:ext cx="10248045" cy="892552"/>
          </a:xfrm>
          <a:prstGeom prst="rect">
            <a:avLst/>
          </a:prstGeom>
          <a:ln>
            <a:solidFill>
              <a:schemeClr val="tx1"/>
            </a:solidFill>
          </a:ln>
        </p:spPr>
        <p:txBody>
          <a:bodyPr wrap="square">
            <a:spAutoFit/>
          </a:bodyPr>
          <a:lstStyle/>
          <a:p>
            <a:r>
              <a:rPr lang="en-IN" sz="1300" dirty="0" err="1">
                <a:solidFill>
                  <a:srgbClr val="000000"/>
                </a:solidFill>
              </a:rPr>
              <a:t>lakeValidFromTimestamp</a:t>
            </a:r>
            <a:r>
              <a:rPr lang="en-IN" sz="1300" dirty="0">
                <a:solidFill>
                  <a:srgbClr val="000000"/>
                </a:solidFill>
              </a:rPr>
              <a:t> = BED OR </a:t>
            </a:r>
            <a:r>
              <a:rPr lang="en-IN" sz="1300" dirty="0" err="1">
                <a:solidFill>
                  <a:srgbClr val="000000"/>
                </a:solidFill>
              </a:rPr>
              <a:t>lakeDeletedTimeStamp</a:t>
            </a:r>
            <a:r>
              <a:rPr lang="en-IN" sz="1300" dirty="0">
                <a:solidFill>
                  <a:srgbClr val="000000"/>
                </a:solidFill>
              </a:rPr>
              <a:t> = BED OR </a:t>
            </a:r>
            <a:r>
              <a:rPr lang="en-IN" sz="1300" dirty="0" err="1">
                <a:solidFill>
                  <a:srgbClr val="000000"/>
                </a:solidFill>
              </a:rPr>
              <a:t>lakeValidToTimestamp</a:t>
            </a:r>
            <a:r>
              <a:rPr lang="en-IN" sz="1300" dirty="0">
                <a:solidFill>
                  <a:srgbClr val="000000"/>
                </a:solidFill>
              </a:rPr>
              <a:t> = BED</a:t>
            </a:r>
            <a:endParaRPr lang="en-US" sz="1300" strike="sngStrike" dirty="0">
              <a:solidFill>
                <a:schemeClr val="tx2"/>
              </a:solidFill>
              <a:cs typeface="Calibri" panose="020F0502020204030204" pitchFamily="34" charset="0"/>
            </a:endParaRPr>
          </a:p>
          <a:p>
            <a:endParaRPr lang="en-US" sz="1300" dirty="0">
              <a:solidFill>
                <a:schemeClr val="tx2"/>
              </a:solidFill>
              <a:cs typeface="Calibri" panose="020F0502020204030204" pitchFamily="34" charset="0"/>
            </a:endParaRPr>
          </a:p>
          <a:p>
            <a:r>
              <a:rPr lang="en-US" sz="1300" strike="sngStrike" dirty="0">
                <a:solidFill>
                  <a:schemeClr val="tx2"/>
                </a:solidFill>
                <a:cs typeface="Calibri" panose="020F0502020204030204" pitchFamily="34" charset="0"/>
              </a:rPr>
              <a:t>((</a:t>
            </a:r>
            <a:r>
              <a:rPr lang="en-US" sz="1300" strike="sngStrike" dirty="0" err="1">
                <a:solidFill>
                  <a:schemeClr val="tx2"/>
                </a:solidFill>
                <a:cs typeface="Calibri" panose="020F0502020204030204" pitchFamily="34" charset="0"/>
              </a:rPr>
              <a:t>lakeLastUpdateDate</a:t>
            </a:r>
            <a:r>
              <a:rPr lang="en-US" sz="1300" strike="sngStrike" dirty="0">
                <a:solidFill>
                  <a:schemeClr val="tx2"/>
                </a:solidFill>
                <a:cs typeface="Calibri" panose="020F0502020204030204" pitchFamily="34" charset="0"/>
              </a:rPr>
              <a:t> = 20220610)) AND ((</a:t>
            </a:r>
            <a:r>
              <a:rPr lang="en-US" sz="1300" strike="sngStrike" dirty="0" err="1">
                <a:solidFill>
                  <a:schemeClr val="tx2"/>
                </a:solidFill>
                <a:cs typeface="Calibri" panose="020F0502020204030204" pitchFamily="34" charset="0"/>
              </a:rPr>
              <a:t>lakeLastUpdateTimeStamp</a:t>
            </a:r>
            <a:r>
              <a:rPr lang="en-US" sz="1300" strike="sngStrike" dirty="0">
                <a:solidFill>
                  <a:schemeClr val="tx2"/>
                </a:solidFill>
                <a:cs typeface="Calibri" panose="020F0502020204030204" pitchFamily="34" charset="0"/>
              </a:rPr>
              <a:t> &gt; CAST('2022-06-10 14:30:00.000' AS TIMESTAMP)) AND (</a:t>
            </a:r>
            <a:r>
              <a:rPr lang="en-US" sz="1300" strike="sngStrike" dirty="0" err="1">
                <a:solidFill>
                  <a:schemeClr val="tx2"/>
                </a:solidFill>
                <a:cs typeface="Calibri" panose="020F0502020204030204" pitchFamily="34" charset="0"/>
              </a:rPr>
              <a:t>lakeLastUpdateTimeStamp</a:t>
            </a:r>
            <a:r>
              <a:rPr lang="en-US" sz="1300" strike="sngStrike" dirty="0">
                <a:solidFill>
                  <a:schemeClr val="tx2"/>
                </a:solidFill>
                <a:cs typeface="Calibri" panose="020F0502020204030204" pitchFamily="34" charset="0"/>
              </a:rPr>
              <a:t> &lt;= CAST('2022-06-10 18:00:00.000' AS TIMESTAMP)))</a:t>
            </a:r>
          </a:p>
        </p:txBody>
      </p:sp>
      <p:sp>
        <p:nvSpPr>
          <p:cNvPr id="38" name="Rounded Rectangle 37"/>
          <p:cNvSpPr/>
          <p:nvPr/>
        </p:nvSpPr>
        <p:spPr>
          <a:xfrm>
            <a:off x="1041400" y="3196040"/>
            <a:ext cx="10172700" cy="1569698"/>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ubtitle 2"/>
          <p:cNvSpPr>
            <a:spLocks noGrp="1"/>
          </p:cNvSpPr>
          <p:nvPr>
            <p:ph type="subTitle" idx="1"/>
          </p:nvPr>
        </p:nvSpPr>
        <p:spPr>
          <a:xfrm>
            <a:off x="457200" y="2854044"/>
            <a:ext cx="11277601" cy="317500"/>
          </a:xfrm>
        </p:spPr>
        <p:txBody>
          <a:bodyPr/>
          <a:lstStyle/>
          <a:p>
            <a:r>
              <a:rPr lang="en-US" b="1" dirty="0"/>
              <a:t>Sample Data in standardised (Day 2):</a:t>
            </a:r>
          </a:p>
        </p:txBody>
      </p:sp>
      <p:pic>
        <p:nvPicPr>
          <p:cNvPr id="10" name="Picture 9"/>
          <p:cNvPicPr>
            <a:picLocks noChangeAspect="1"/>
          </p:cNvPicPr>
          <p:nvPr/>
        </p:nvPicPr>
        <p:blipFill>
          <a:blip r:embed="rId2"/>
          <a:stretch>
            <a:fillRect/>
          </a:stretch>
        </p:blipFill>
        <p:spPr>
          <a:xfrm>
            <a:off x="1155697" y="3340447"/>
            <a:ext cx="9876117" cy="580948"/>
          </a:xfrm>
          <a:prstGeom prst="rect">
            <a:avLst/>
          </a:prstGeom>
        </p:spPr>
      </p:pic>
      <p:pic>
        <p:nvPicPr>
          <p:cNvPr id="12" name="Picture 11"/>
          <p:cNvPicPr>
            <a:picLocks noChangeAspect="1"/>
          </p:cNvPicPr>
          <p:nvPr/>
        </p:nvPicPr>
        <p:blipFill>
          <a:blip r:embed="rId3"/>
          <a:stretch>
            <a:fillRect/>
          </a:stretch>
        </p:blipFill>
        <p:spPr>
          <a:xfrm>
            <a:off x="1155696" y="4065802"/>
            <a:ext cx="9876117" cy="564680"/>
          </a:xfrm>
          <a:prstGeom prst="rect">
            <a:avLst/>
          </a:prstGeom>
        </p:spPr>
      </p:pic>
      <p:pic>
        <p:nvPicPr>
          <p:cNvPr id="5" name="Picture 4"/>
          <p:cNvPicPr>
            <a:picLocks noChangeAspect="1"/>
          </p:cNvPicPr>
          <p:nvPr/>
        </p:nvPicPr>
        <p:blipFill>
          <a:blip r:embed="rId4"/>
          <a:stretch>
            <a:fillRect/>
          </a:stretch>
        </p:blipFill>
        <p:spPr>
          <a:xfrm>
            <a:off x="1155697" y="5500243"/>
            <a:ext cx="9876116" cy="607387"/>
          </a:xfrm>
          <a:prstGeom prst="rect">
            <a:avLst/>
          </a:prstGeom>
        </p:spPr>
      </p:pic>
    </p:spTree>
    <p:extLst>
      <p:ext uri="{BB962C8B-B14F-4D97-AF65-F5344CB8AC3E}">
        <p14:creationId xmlns:p14="http://schemas.microsoft.com/office/powerpoint/2010/main" val="1620055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Conformed To Staging</a:t>
            </a:r>
            <a:r>
              <a:rPr lang="en-US" sz="4200" b="1" dirty="0"/>
              <a:t> (Reconciliation)</a:t>
            </a:r>
          </a:p>
        </p:txBody>
      </p:sp>
      <p:sp>
        <p:nvSpPr>
          <p:cNvPr id="7" name="Subtitle 2"/>
          <p:cNvSpPr>
            <a:spLocks noGrp="1"/>
          </p:cNvSpPr>
          <p:nvPr>
            <p:ph type="subTitle" idx="1"/>
          </p:nvPr>
        </p:nvSpPr>
        <p:spPr>
          <a:xfrm>
            <a:off x="457199" y="1659840"/>
            <a:ext cx="11277601" cy="3674160"/>
          </a:xfrm>
        </p:spPr>
        <p:txBody>
          <a:bodyPr/>
          <a:lstStyle/>
          <a:p>
            <a:r>
              <a:rPr lang="en-IN" dirty="0">
                <a:solidFill>
                  <a:srgbClr val="000000"/>
                </a:solidFill>
              </a:rPr>
              <a:t>Data moves from ADLS (parquet) to synapse (table) using concept of “</a:t>
            </a:r>
            <a:r>
              <a:rPr lang="en-IN" u="sng" dirty="0">
                <a:solidFill>
                  <a:srgbClr val="000000"/>
                </a:solidFill>
              </a:rPr>
              <a:t>External Tables</a:t>
            </a:r>
            <a:r>
              <a:rPr lang="en-IN" dirty="0">
                <a:solidFill>
                  <a:srgbClr val="000000"/>
                </a:solidFill>
              </a:rPr>
              <a:t>”. These external tables are used to load the data in staging using MERGE statement for each combination of </a:t>
            </a:r>
            <a:r>
              <a:rPr lang="en-US" i="1" dirty="0">
                <a:solidFill>
                  <a:srgbClr val="000000"/>
                </a:solidFill>
              </a:rPr>
              <a:t>HashedBusinessKey</a:t>
            </a:r>
            <a:r>
              <a:rPr lang="en-US" dirty="0">
                <a:solidFill>
                  <a:srgbClr val="000000"/>
                </a:solidFill>
              </a:rPr>
              <a:t> &amp; </a:t>
            </a:r>
            <a:r>
              <a:rPr lang="en-US" i="1" dirty="0" err="1">
                <a:solidFill>
                  <a:srgbClr val="000000"/>
                </a:solidFill>
              </a:rPr>
              <a:t>LakeValidFromTimestamp</a:t>
            </a:r>
            <a:r>
              <a:rPr lang="en-US" dirty="0">
                <a:solidFill>
                  <a:srgbClr val="000000"/>
                </a:solidFill>
              </a:rPr>
              <a:t> and </a:t>
            </a:r>
            <a:r>
              <a:rPr lang="en-IN" dirty="0">
                <a:solidFill>
                  <a:srgbClr val="000000"/>
                </a:solidFill>
              </a:rPr>
              <a:t>in synapse stored procedures.</a:t>
            </a:r>
            <a:endParaRPr lang="en-US" b="1" dirty="0">
              <a:solidFill>
                <a:srgbClr val="000000"/>
              </a:solidFill>
            </a:endParaRPr>
          </a:p>
          <a:p>
            <a:r>
              <a:rPr lang="en-US" b="1" dirty="0">
                <a:solidFill>
                  <a:srgbClr val="000000"/>
                </a:solidFill>
              </a:rPr>
              <a:t>Reconciliation:</a:t>
            </a:r>
          </a:p>
          <a:p>
            <a:r>
              <a:rPr lang="en-IN" dirty="0">
                <a:solidFill>
                  <a:srgbClr val="000000"/>
                </a:solidFill>
              </a:rPr>
              <a:t>All the reconciliation code is available on databricks notebook - </a:t>
            </a:r>
            <a:r>
              <a:rPr lang="en-US" dirty="0">
                <a:solidFill>
                  <a:srgbClr val="000000"/>
                </a:solidFill>
                <a:hlinkClick r:id="rId2"/>
              </a:rPr>
              <a:t> </a:t>
            </a:r>
            <a:r>
              <a:rPr lang="en-US" dirty="0" err="1">
                <a:solidFill>
                  <a:srgbClr val="000000"/>
                </a:solidFill>
                <a:hlinkClick r:id="rId2"/>
              </a:rPr>
              <a:t>Conf_Stg_DW_Reconciliation</a:t>
            </a:r>
            <a:r>
              <a:rPr lang="en-IN" dirty="0">
                <a:solidFill>
                  <a:srgbClr val="000000"/>
                </a:solidFill>
              </a:rPr>
              <a:t>. </a:t>
            </a:r>
          </a:p>
          <a:p>
            <a:endParaRPr lang="en-IN" dirty="0">
              <a:solidFill>
                <a:srgbClr val="000000"/>
              </a:solidFill>
            </a:endParaRPr>
          </a:p>
          <a:p>
            <a:pPr marL="285750" indent="-285750">
              <a:buFont typeface="Arial" panose="020B0604020202020204" pitchFamily="34" charset="0"/>
              <a:buChar char="•"/>
            </a:pPr>
            <a:r>
              <a:rPr lang="en-IN" dirty="0">
                <a:solidFill>
                  <a:srgbClr val="000000"/>
                </a:solidFill>
              </a:rPr>
              <a:t>Record Count validation across conformed and staging tables</a:t>
            </a:r>
            <a:endParaRPr lang="en-US" dirty="0">
              <a:solidFill>
                <a:srgbClr val="000000"/>
              </a:solidFill>
            </a:endParaRPr>
          </a:p>
          <a:p>
            <a:pPr marL="285750" indent="-285750">
              <a:buFont typeface="Arial" panose="020B0604020202020204" pitchFamily="34" charset="0"/>
              <a:buChar char="•"/>
            </a:pPr>
            <a:r>
              <a:rPr lang="en-IN" dirty="0">
                <a:solidFill>
                  <a:srgbClr val="000000"/>
                </a:solidFill>
              </a:rPr>
              <a:t>Duplication on PK/Grain i.e. </a:t>
            </a:r>
            <a:r>
              <a:rPr lang="en-US" dirty="0">
                <a:solidFill>
                  <a:srgbClr val="000000"/>
                </a:solidFill>
              </a:rPr>
              <a:t>HashedBusinessKey for active as well as inactive records</a:t>
            </a:r>
          </a:p>
          <a:p>
            <a:pPr marL="285750" indent="-285750">
              <a:buFont typeface="Arial" panose="020B0604020202020204" pitchFamily="34" charset="0"/>
              <a:buChar char="•"/>
            </a:pPr>
            <a:r>
              <a:rPr lang="en-IN" dirty="0">
                <a:solidFill>
                  <a:srgbClr val="000000"/>
                </a:solidFill>
              </a:rPr>
              <a:t>NULL check validation on the columns ensuring default values are assigned to the columns</a:t>
            </a:r>
          </a:p>
        </p:txBody>
      </p:sp>
    </p:spTree>
    <p:extLst>
      <p:ext uri="{BB962C8B-B14F-4D97-AF65-F5344CB8AC3E}">
        <p14:creationId xmlns:p14="http://schemas.microsoft.com/office/powerpoint/2010/main" val="1711683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Staging To DW </a:t>
            </a:r>
            <a:r>
              <a:rPr lang="en-US" sz="4200" b="1" dirty="0"/>
              <a:t>(Data)</a:t>
            </a:r>
          </a:p>
        </p:txBody>
      </p:sp>
      <p:sp>
        <p:nvSpPr>
          <p:cNvPr id="31" name="Subtitle 2"/>
          <p:cNvSpPr txBox="1">
            <a:spLocks/>
          </p:cNvSpPr>
          <p:nvPr/>
        </p:nvSpPr>
        <p:spPr>
          <a:xfrm>
            <a:off x="457200" y="1297439"/>
            <a:ext cx="4846320"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Where Clause while fetching data from staging (Day 1):</a:t>
            </a:r>
          </a:p>
        </p:txBody>
      </p:sp>
      <p:sp>
        <p:nvSpPr>
          <p:cNvPr id="8" name="Subtitle 2"/>
          <p:cNvSpPr txBox="1">
            <a:spLocks/>
          </p:cNvSpPr>
          <p:nvPr/>
        </p:nvSpPr>
        <p:spPr>
          <a:xfrm>
            <a:off x="457199" y="4515628"/>
            <a:ext cx="11277601" cy="317500"/>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spcAft>
                <a:spcPts val="900"/>
              </a:spcAft>
              <a:buClr>
                <a:schemeClr val="tx2"/>
              </a:buClr>
              <a:buFont typeface="Arial" panose="020B0604020202020204" pitchFamily="34" charset="0"/>
              <a:buNone/>
              <a:defRPr sz="1600" b="0" i="0" kern="1200">
                <a:solidFill>
                  <a:schemeClr val="tx2"/>
                </a:solidFill>
                <a:latin typeface="+mn-lt"/>
                <a:ea typeface="+mn-ea"/>
                <a:cs typeface="Calibri" panose="020F0502020204030204" pitchFamily="34" charset="0"/>
              </a:defRPr>
            </a:lvl1pPr>
            <a:lvl2pPr marL="457200" indent="0" algn="ctr"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2pPr>
            <a:lvl3pPr marL="914400" indent="0" algn="ctr"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3pPr>
            <a:lvl4pPr marL="13716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4pPr>
            <a:lvl5pPr marL="1828800" indent="0" algn="ctr" defTabSz="914400" rtl="0" eaLnBrk="1" latinLnBrk="0" hangingPunct="1">
              <a:lnSpc>
                <a:spcPct val="90000"/>
              </a:lnSpc>
              <a:spcBef>
                <a:spcPts val="500"/>
              </a:spcBef>
              <a:buFont typeface="System Font Regular"/>
              <a:buNone/>
              <a:tabLst/>
              <a:defRPr sz="1600" kern="1200">
                <a:solidFill>
                  <a:schemeClr val="tx2"/>
                </a:solidFill>
                <a:latin typeface="+mj-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Object Date Availability population for DW table (Day 1):</a:t>
            </a:r>
          </a:p>
        </p:txBody>
      </p:sp>
      <p:sp>
        <p:nvSpPr>
          <p:cNvPr id="4" name="Rectangle 3"/>
          <p:cNvSpPr/>
          <p:nvPr/>
        </p:nvSpPr>
        <p:spPr>
          <a:xfrm>
            <a:off x="783772" y="1614939"/>
            <a:ext cx="10248045" cy="292388"/>
          </a:xfrm>
          <a:prstGeom prst="rect">
            <a:avLst/>
          </a:prstGeom>
          <a:ln>
            <a:solidFill>
              <a:schemeClr val="tx1"/>
            </a:solidFill>
          </a:ln>
        </p:spPr>
        <p:txBody>
          <a:bodyPr wrap="square">
            <a:spAutoFit/>
          </a:bodyPr>
          <a:lstStyle/>
          <a:p>
            <a:r>
              <a:rPr lang="en-IN" sz="1300" dirty="0" err="1">
                <a:solidFill>
                  <a:srgbClr val="000000"/>
                </a:solidFill>
              </a:rPr>
              <a:t>lakeValidFromTimestamp</a:t>
            </a:r>
            <a:r>
              <a:rPr lang="en-IN" sz="1300" dirty="0">
                <a:solidFill>
                  <a:srgbClr val="000000"/>
                </a:solidFill>
              </a:rPr>
              <a:t> = BED OR </a:t>
            </a:r>
            <a:r>
              <a:rPr lang="en-IN" sz="1300" dirty="0" err="1">
                <a:solidFill>
                  <a:srgbClr val="000000"/>
                </a:solidFill>
              </a:rPr>
              <a:t>lakeDeletedTimeStamp</a:t>
            </a:r>
            <a:r>
              <a:rPr lang="en-IN" sz="1300" dirty="0">
                <a:solidFill>
                  <a:srgbClr val="000000"/>
                </a:solidFill>
              </a:rPr>
              <a:t> = BED</a:t>
            </a:r>
            <a:endParaRPr lang="en-US" sz="1300" strike="sngStrike" dirty="0">
              <a:solidFill>
                <a:schemeClr val="tx2"/>
              </a:solidFill>
              <a:cs typeface="Calibri" panose="020F0502020204030204" pitchFamily="34" charset="0"/>
            </a:endParaRPr>
          </a:p>
        </p:txBody>
      </p:sp>
      <p:sp>
        <p:nvSpPr>
          <p:cNvPr id="38" name="Rounded Rectangle 37"/>
          <p:cNvSpPr/>
          <p:nvPr/>
        </p:nvSpPr>
        <p:spPr>
          <a:xfrm>
            <a:off x="1041400" y="2569018"/>
            <a:ext cx="10172700" cy="1569698"/>
          </a:xfrm>
          <a:prstGeom prst="round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ubtitle 2"/>
          <p:cNvSpPr>
            <a:spLocks noGrp="1"/>
          </p:cNvSpPr>
          <p:nvPr>
            <p:ph type="subTitle" idx="1"/>
          </p:nvPr>
        </p:nvSpPr>
        <p:spPr>
          <a:xfrm>
            <a:off x="457200" y="2227022"/>
            <a:ext cx="11277601" cy="317500"/>
          </a:xfrm>
        </p:spPr>
        <p:txBody>
          <a:bodyPr/>
          <a:lstStyle/>
          <a:p>
            <a:r>
              <a:rPr lang="en-US" b="1" dirty="0"/>
              <a:t>Sample Data in DW (Day 1):</a:t>
            </a:r>
          </a:p>
        </p:txBody>
      </p:sp>
      <p:pic>
        <p:nvPicPr>
          <p:cNvPr id="6" name="Picture 5"/>
          <p:cNvPicPr>
            <a:picLocks noChangeAspect="1"/>
          </p:cNvPicPr>
          <p:nvPr/>
        </p:nvPicPr>
        <p:blipFill>
          <a:blip r:embed="rId2"/>
          <a:stretch>
            <a:fillRect/>
          </a:stretch>
        </p:blipFill>
        <p:spPr>
          <a:xfrm>
            <a:off x="1155697" y="2721516"/>
            <a:ext cx="9876116" cy="462187"/>
          </a:xfrm>
          <a:prstGeom prst="rect">
            <a:avLst/>
          </a:prstGeom>
        </p:spPr>
      </p:pic>
      <p:pic>
        <p:nvPicPr>
          <p:cNvPr id="7" name="Picture 6"/>
          <p:cNvPicPr>
            <a:picLocks noChangeAspect="1"/>
          </p:cNvPicPr>
          <p:nvPr/>
        </p:nvPicPr>
        <p:blipFill>
          <a:blip r:embed="rId3"/>
          <a:stretch>
            <a:fillRect/>
          </a:stretch>
        </p:blipFill>
        <p:spPr>
          <a:xfrm>
            <a:off x="1155697" y="3465112"/>
            <a:ext cx="9876120" cy="466803"/>
          </a:xfrm>
          <a:prstGeom prst="rect">
            <a:avLst/>
          </a:prstGeom>
        </p:spPr>
      </p:pic>
      <p:sp>
        <p:nvSpPr>
          <p:cNvPr id="14" name="Rectangle 13"/>
          <p:cNvSpPr/>
          <p:nvPr/>
        </p:nvSpPr>
        <p:spPr>
          <a:xfrm>
            <a:off x="783772" y="4828009"/>
            <a:ext cx="10248045" cy="292388"/>
          </a:xfrm>
          <a:prstGeom prst="rect">
            <a:avLst/>
          </a:prstGeom>
          <a:ln>
            <a:solidFill>
              <a:schemeClr val="tx1"/>
            </a:solidFill>
          </a:ln>
        </p:spPr>
        <p:txBody>
          <a:bodyPr wrap="square">
            <a:spAutoFit/>
          </a:bodyPr>
          <a:lstStyle/>
          <a:p>
            <a:r>
              <a:rPr lang="en-IN" sz="1300" strike="sngStrike" dirty="0">
                <a:solidFill>
                  <a:schemeClr val="tx2"/>
                </a:solidFill>
                <a:cs typeface="Calibri" panose="020F0502020204030204" pitchFamily="34" charset="0"/>
              </a:rPr>
              <a:t>No record in </a:t>
            </a:r>
            <a:r>
              <a:rPr lang="en-IN" sz="1300" strike="sngStrike" dirty="0" err="1">
                <a:solidFill>
                  <a:schemeClr val="tx2"/>
                </a:solidFill>
                <a:cs typeface="Calibri" panose="020F0502020204030204" pitchFamily="34" charset="0"/>
              </a:rPr>
              <a:t>object_date_availability</a:t>
            </a:r>
            <a:r>
              <a:rPr lang="en-IN" sz="1300" strike="sngStrike" dirty="0">
                <a:solidFill>
                  <a:schemeClr val="tx2"/>
                </a:solidFill>
                <a:cs typeface="Calibri" panose="020F0502020204030204" pitchFamily="34" charset="0"/>
              </a:rPr>
              <a:t> for </a:t>
            </a:r>
            <a:r>
              <a:rPr lang="en-IN" sz="1300" strike="sngStrike" dirty="0" err="1">
                <a:solidFill>
                  <a:schemeClr val="tx2"/>
                </a:solidFill>
                <a:cs typeface="Calibri" panose="020F0502020204030204" pitchFamily="34" charset="0"/>
              </a:rPr>
              <a:t>dwh</a:t>
            </a:r>
            <a:r>
              <a:rPr lang="en-IN" sz="1300" strike="sngStrike" dirty="0">
                <a:solidFill>
                  <a:schemeClr val="tx2"/>
                </a:solidFill>
                <a:cs typeface="Calibri" panose="020F0502020204030204" pitchFamily="34" charset="0"/>
              </a:rPr>
              <a:t> tables</a:t>
            </a:r>
            <a:endParaRPr lang="en-US" sz="1300" strike="sngStrike" dirty="0">
              <a:solidFill>
                <a:schemeClr val="tx2"/>
              </a:solidFill>
              <a:cs typeface="Calibri" panose="020F0502020204030204" pitchFamily="34" charset="0"/>
            </a:endParaRPr>
          </a:p>
        </p:txBody>
      </p:sp>
    </p:spTree>
    <p:extLst>
      <p:ext uri="{BB962C8B-B14F-4D97-AF65-F5344CB8AC3E}">
        <p14:creationId xmlns:p14="http://schemas.microsoft.com/office/powerpoint/2010/main" val="2646836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Staging To DW</a:t>
            </a:r>
            <a:r>
              <a:rPr lang="en-US" sz="4200" b="1" dirty="0"/>
              <a:t> (Reconciliation)</a:t>
            </a:r>
            <a:endParaRPr lang="en-US" b="1" dirty="0"/>
          </a:p>
        </p:txBody>
      </p:sp>
      <p:sp>
        <p:nvSpPr>
          <p:cNvPr id="7" name="Subtitle 2"/>
          <p:cNvSpPr>
            <a:spLocks noGrp="1"/>
          </p:cNvSpPr>
          <p:nvPr>
            <p:ph type="subTitle" idx="1"/>
          </p:nvPr>
        </p:nvSpPr>
        <p:spPr>
          <a:xfrm>
            <a:off x="457199" y="1659840"/>
            <a:ext cx="11277601" cy="3674160"/>
          </a:xfrm>
        </p:spPr>
        <p:txBody>
          <a:bodyPr/>
          <a:lstStyle/>
          <a:p>
            <a:pPr>
              <a:spcAft>
                <a:spcPts val="0"/>
              </a:spcAft>
            </a:pPr>
            <a:r>
              <a:rPr lang="en-IN" dirty="0">
                <a:solidFill>
                  <a:srgbClr val="000000"/>
                </a:solidFill>
              </a:rPr>
              <a:t>This layer hold the fact, dimension and bridge tables of the warehouse. It includes addition of surrogate keys along with business specific transformations. Data gets loaded using Batch Effective Date in the DW tables and can’t be loaded for same Batch Effective Date twice.</a:t>
            </a:r>
          </a:p>
          <a:p>
            <a:r>
              <a:rPr lang="en-IN" dirty="0">
                <a:solidFill>
                  <a:srgbClr val="000000"/>
                </a:solidFill>
              </a:rPr>
              <a:t>One major change here is that, the records marked as deleted are treated as active records till staging layer but in DW layer those records gets updated and are treated as inactive.</a:t>
            </a:r>
          </a:p>
          <a:p>
            <a:endParaRPr lang="en-US" b="1" dirty="0">
              <a:solidFill>
                <a:srgbClr val="000000"/>
              </a:solidFill>
            </a:endParaRPr>
          </a:p>
          <a:p>
            <a:r>
              <a:rPr lang="en-US" b="1" dirty="0">
                <a:solidFill>
                  <a:srgbClr val="000000"/>
                </a:solidFill>
              </a:rPr>
              <a:t>Reconciliation:</a:t>
            </a:r>
          </a:p>
          <a:p>
            <a:r>
              <a:rPr lang="en-IN" dirty="0">
                <a:solidFill>
                  <a:srgbClr val="000000"/>
                </a:solidFill>
              </a:rPr>
              <a:t>All the reconciliation code is in progress and will be available on databricks notebook - </a:t>
            </a:r>
            <a:r>
              <a:rPr lang="en-US" dirty="0">
                <a:solidFill>
                  <a:srgbClr val="000000"/>
                </a:solidFill>
                <a:hlinkClick r:id="rId2"/>
              </a:rPr>
              <a:t> </a:t>
            </a:r>
            <a:r>
              <a:rPr lang="en-US" dirty="0" err="1">
                <a:solidFill>
                  <a:srgbClr val="000000"/>
                </a:solidFill>
                <a:hlinkClick r:id="rId2"/>
              </a:rPr>
              <a:t>Conf_Stg_DW_Reconciliation</a:t>
            </a:r>
            <a:r>
              <a:rPr lang="en-IN" dirty="0">
                <a:solidFill>
                  <a:srgbClr val="000000"/>
                </a:solidFill>
              </a:rPr>
              <a:t>. </a:t>
            </a:r>
          </a:p>
          <a:p>
            <a:endParaRPr lang="en-IN" dirty="0">
              <a:solidFill>
                <a:srgbClr val="000000"/>
              </a:solidFill>
            </a:endParaRPr>
          </a:p>
          <a:p>
            <a:pPr marL="285750" indent="-285750">
              <a:buFont typeface="Arial" panose="020B0604020202020204" pitchFamily="34" charset="0"/>
              <a:buChar char="•"/>
            </a:pPr>
            <a:r>
              <a:rPr lang="en-IN" dirty="0">
                <a:solidFill>
                  <a:srgbClr val="000000"/>
                </a:solidFill>
              </a:rPr>
              <a:t>Record Count validation across staging and </a:t>
            </a:r>
            <a:r>
              <a:rPr lang="en-IN" dirty="0" err="1">
                <a:solidFill>
                  <a:srgbClr val="000000"/>
                </a:solidFill>
              </a:rPr>
              <a:t>dw</a:t>
            </a:r>
            <a:r>
              <a:rPr lang="en-IN" dirty="0">
                <a:solidFill>
                  <a:srgbClr val="000000"/>
                </a:solidFill>
              </a:rPr>
              <a:t> tables</a:t>
            </a:r>
            <a:endParaRPr lang="en-US" dirty="0">
              <a:solidFill>
                <a:srgbClr val="000000"/>
              </a:solidFill>
            </a:endParaRPr>
          </a:p>
          <a:p>
            <a:pPr marL="285750" indent="-285750">
              <a:buFont typeface="Arial" panose="020B0604020202020204" pitchFamily="34" charset="0"/>
              <a:buChar char="•"/>
            </a:pPr>
            <a:r>
              <a:rPr lang="en-IN" dirty="0">
                <a:solidFill>
                  <a:srgbClr val="000000"/>
                </a:solidFill>
              </a:rPr>
              <a:t>Duplication on PK/Grain i.e. </a:t>
            </a:r>
            <a:r>
              <a:rPr lang="en-US" dirty="0">
                <a:solidFill>
                  <a:srgbClr val="000000"/>
                </a:solidFill>
              </a:rPr>
              <a:t>HashedBusinessKey for active as well as inactive records</a:t>
            </a:r>
          </a:p>
          <a:p>
            <a:pPr marL="285750" indent="-285750">
              <a:buFont typeface="Arial" panose="020B0604020202020204" pitchFamily="34" charset="0"/>
              <a:buChar char="•"/>
            </a:pPr>
            <a:r>
              <a:rPr lang="en-IN" dirty="0">
                <a:solidFill>
                  <a:srgbClr val="000000"/>
                </a:solidFill>
              </a:rPr>
              <a:t>NULL check validation on the columns ensuring default values are assigned to the columns</a:t>
            </a:r>
          </a:p>
        </p:txBody>
      </p:sp>
    </p:spTree>
    <p:extLst>
      <p:ext uri="{BB962C8B-B14F-4D97-AF65-F5344CB8AC3E}">
        <p14:creationId xmlns:p14="http://schemas.microsoft.com/office/powerpoint/2010/main" val="480216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erson wearing glasses&#10;&#10;Description automatically generated with low confidence">
            <a:extLst>
              <a:ext uri="{FF2B5EF4-FFF2-40B4-BE49-F238E27FC236}">
                <a16:creationId xmlns:a16="http://schemas.microsoft.com/office/drawing/2014/main" id="{57F9F603-DA7B-654F-8142-C7FC127390FE}"/>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65492688-48F8-CC46-9EFB-FD8F41C65EA9}"/>
              </a:ext>
            </a:extLst>
          </p:cNvPr>
          <p:cNvSpPr>
            <a:spLocks noGrp="1"/>
          </p:cNvSpPr>
          <p:nvPr>
            <p:ph type="ctrTitle"/>
          </p:nvPr>
        </p:nvSpPr>
        <p:spPr/>
        <p:txBody>
          <a:bodyPr/>
          <a:lstStyle/>
          <a:p>
            <a:r>
              <a:rPr lang="en-US" dirty="0"/>
              <a:t>Thank You</a:t>
            </a:r>
          </a:p>
        </p:txBody>
      </p:sp>
      <p:sp>
        <p:nvSpPr>
          <p:cNvPr id="4" name="Text Placeholder 3">
            <a:extLst>
              <a:ext uri="{FF2B5EF4-FFF2-40B4-BE49-F238E27FC236}">
                <a16:creationId xmlns:a16="http://schemas.microsoft.com/office/drawing/2014/main" id="{8388FAF9-347C-E04D-8D06-EE9316062C13}"/>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069715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5272534-0774-EE4D-9223-642862275B43}"/>
              </a:ext>
            </a:extLst>
          </p:cNvPr>
          <p:cNvSpPr>
            <a:spLocks noGrp="1"/>
          </p:cNvSpPr>
          <p:nvPr>
            <p:ph type="body" sz="quarter" idx="16"/>
          </p:nvPr>
        </p:nvSpPr>
        <p:spPr/>
        <p:txBody>
          <a:bodyPr/>
          <a:lstStyle/>
          <a:p>
            <a:r>
              <a:rPr lang="en-US" dirty="0">
                <a:latin typeface="+mn-lt"/>
              </a:rPr>
              <a:t>exlservice</a:t>
            </a:r>
            <a:r>
              <a:rPr lang="en-US" dirty="0"/>
              <a:t>.com</a:t>
            </a:r>
          </a:p>
          <a:p>
            <a:endParaRPr lang="en-US" dirty="0"/>
          </a:p>
        </p:txBody>
      </p:sp>
      <p:sp>
        <p:nvSpPr>
          <p:cNvPr id="9" name="Text Placeholder 8">
            <a:extLst>
              <a:ext uri="{FF2B5EF4-FFF2-40B4-BE49-F238E27FC236}">
                <a16:creationId xmlns:a16="http://schemas.microsoft.com/office/drawing/2014/main" id="{F8852D10-2636-4D40-99D4-3C89F460AB40}"/>
              </a:ext>
            </a:extLst>
          </p:cNvPr>
          <p:cNvSpPr>
            <a:spLocks noGrp="1"/>
          </p:cNvSpPr>
          <p:nvPr>
            <p:ph type="body" sz="quarter" idx="17"/>
          </p:nvPr>
        </p:nvSpPr>
        <p:spPr/>
        <p:txBody>
          <a:bodyPr/>
          <a:lstStyle/>
          <a:p>
            <a:r>
              <a:rPr lang="en-US" dirty="0"/>
              <a:t>Global headquarters</a:t>
            </a:r>
          </a:p>
          <a:p>
            <a:endParaRPr lang="en-US" dirty="0"/>
          </a:p>
        </p:txBody>
      </p:sp>
      <p:sp>
        <p:nvSpPr>
          <p:cNvPr id="10" name="Text Placeholder 9">
            <a:extLst>
              <a:ext uri="{FF2B5EF4-FFF2-40B4-BE49-F238E27FC236}">
                <a16:creationId xmlns:a16="http://schemas.microsoft.com/office/drawing/2014/main" id="{586F3D81-412B-DB40-B080-BCD4078213F7}"/>
              </a:ext>
            </a:extLst>
          </p:cNvPr>
          <p:cNvSpPr>
            <a:spLocks noGrp="1"/>
          </p:cNvSpPr>
          <p:nvPr>
            <p:ph type="body" sz="quarter" idx="18"/>
          </p:nvPr>
        </p:nvSpPr>
        <p:spPr/>
        <p:txBody>
          <a:bodyPr/>
          <a:lstStyle/>
          <a:p>
            <a:r>
              <a:rPr lang="en-US" dirty="0"/>
              <a:t>320 Park Ave, 29th floor</a:t>
            </a:r>
            <a:br>
              <a:rPr lang="en-US" dirty="0"/>
            </a:br>
            <a:r>
              <a:rPr lang="en-US" dirty="0"/>
              <a:t>New York, NY 10022</a:t>
            </a:r>
          </a:p>
          <a:p>
            <a:r>
              <a:rPr lang="en-US" dirty="0"/>
              <a:t>T: +1(212) 277-7100</a:t>
            </a:r>
            <a:br>
              <a:rPr lang="en-US" dirty="0"/>
            </a:br>
            <a:r>
              <a:rPr lang="en-US" dirty="0"/>
              <a:t>F: +1(212) 277-7111</a:t>
            </a:r>
          </a:p>
          <a:p>
            <a:endParaRPr lang="en-US" dirty="0"/>
          </a:p>
        </p:txBody>
      </p:sp>
      <p:sp>
        <p:nvSpPr>
          <p:cNvPr id="11" name="Text Placeholder 10">
            <a:extLst>
              <a:ext uri="{FF2B5EF4-FFF2-40B4-BE49-F238E27FC236}">
                <a16:creationId xmlns:a16="http://schemas.microsoft.com/office/drawing/2014/main" id="{253252EC-6B68-5544-A652-DB088F691BAF}"/>
              </a:ext>
            </a:extLst>
          </p:cNvPr>
          <p:cNvSpPr>
            <a:spLocks noGrp="1"/>
          </p:cNvSpPr>
          <p:nvPr>
            <p:ph type="body" sz="quarter" idx="21"/>
          </p:nvPr>
        </p:nvSpPr>
        <p:spPr>
          <a:xfrm>
            <a:off x="4792607" y="4597790"/>
            <a:ext cx="3807869" cy="870124"/>
          </a:xfrm>
        </p:spPr>
        <p:txBody>
          <a:bodyPr/>
          <a:lstStyle/>
          <a:p>
            <a:r>
              <a:rPr lang="en-US" dirty="0"/>
              <a:t>United States  |  United Kingdom  | Australia</a:t>
            </a:r>
            <a:br>
              <a:rPr lang="en-US" dirty="0"/>
            </a:br>
            <a:r>
              <a:rPr lang="en-US" dirty="0"/>
              <a:t>Bulgaria  |  Colombia  |  Czech Republic</a:t>
            </a:r>
            <a:br>
              <a:rPr lang="en-US" dirty="0"/>
            </a:br>
            <a:r>
              <a:rPr lang="en-US" dirty="0"/>
              <a:t>India | Philippines | Romania | South Africa</a:t>
            </a:r>
          </a:p>
        </p:txBody>
      </p:sp>
      <p:sp>
        <p:nvSpPr>
          <p:cNvPr id="13" name="Text Placeholder 7">
            <a:extLst>
              <a:ext uri="{FF2B5EF4-FFF2-40B4-BE49-F238E27FC236}">
                <a16:creationId xmlns:a16="http://schemas.microsoft.com/office/drawing/2014/main" id="{AAA41469-ECF0-4D0A-9A69-79794ADE068A}"/>
              </a:ext>
            </a:extLst>
          </p:cNvPr>
          <p:cNvSpPr txBox="1">
            <a:spLocks/>
          </p:cNvSpPr>
          <p:nvPr/>
        </p:nvSpPr>
        <p:spPr>
          <a:xfrm>
            <a:off x="4792607" y="5726877"/>
            <a:ext cx="5535760" cy="281142"/>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1"/>
              </a:buClr>
              <a:buFont typeface="System Font Regular"/>
              <a:buNone/>
              <a:defRPr sz="1500" kern="1200">
                <a:solidFill>
                  <a:schemeClr val="tx1"/>
                </a:solidFill>
                <a:latin typeface="+mj-lt"/>
                <a:ea typeface="+mn-ea"/>
                <a:cs typeface="+mn-cs"/>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tx2"/>
                </a:solidFill>
              </a:rPr>
              <a:t>© 2021 ExlService Holdings, Inc.  All rights reserved. For more information go to www.exlservice.com/legal-disclaimer</a:t>
            </a:r>
          </a:p>
        </p:txBody>
      </p:sp>
      <p:sp>
        <p:nvSpPr>
          <p:cNvPr id="12" name="Text Placeholder 11"/>
          <p:cNvSpPr>
            <a:spLocks noGrp="1"/>
          </p:cNvSpPr>
          <p:nvPr>
            <p:ph type="body" sz="quarter" idx="10"/>
          </p:nvPr>
        </p:nvSpPr>
        <p:spPr/>
        <p:txBody>
          <a:bodyPr/>
          <a:lstStyle/>
          <a:p>
            <a:r>
              <a:rPr lang="en-US" kern="0" dirty="0">
                <a:solidFill>
                  <a:srgbClr val="000000"/>
                </a:solidFill>
                <a:cs typeface="Yantramanav Light" panose="02000000000000000000" pitchFamily="2" charset="0"/>
              </a:rPr>
              <a:t>Chitransh Srivastava</a:t>
            </a:r>
            <a:endParaRPr lang="en-US" sz="1500" b="1" kern="0" dirty="0">
              <a:solidFill>
                <a:srgbClr val="000000"/>
              </a:solidFill>
              <a:cs typeface="Yantramanav" panose="02000000000000000000" pitchFamily="2" charset="0"/>
            </a:endParaRPr>
          </a:p>
        </p:txBody>
      </p:sp>
      <p:sp>
        <p:nvSpPr>
          <p:cNvPr id="14" name="Text Placeholder 13"/>
          <p:cNvSpPr>
            <a:spLocks noGrp="1"/>
          </p:cNvSpPr>
          <p:nvPr>
            <p:ph type="body" sz="quarter" idx="11"/>
          </p:nvPr>
        </p:nvSpPr>
        <p:spPr/>
        <p:txBody>
          <a:bodyPr/>
          <a:lstStyle/>
          <a:p>
            <a:r>
              <a:rPr lang="en-US" dirty="0"/>
              <a:t>Title </a:t>
            </a:r>
            <a:r>
              <a:rPr lang="en-US" b="0" dirty="0"/>
              <a:t>Senior Consultant - C1</a:t>
            </a:r>
            <a:endParaRPr lang="en-US" dirty="0"/>
          </a:p>
        </p:txBody>
      </p:sp>
      <p:sp>
        <p:nvSpPr>
          <p:cNvPr id="15" name="Text Placeholder 14"/>
          <p:cNvSpPr>
            <a:spLocks noGrp="1"/>
          </p:cNvSpPr>
          <p:nvPr>
            <p:ph type="body" sz="quarter" idx="12"/>
          </p:nvPr>
        </p:nvSpPr>
        <p:spPr/>
        <p:txBody>
          <a:bodyPr/>
          <a:lstStyle/>
          <a:p>
            <a:r>
              <a:rPr lang="en-US" dirty="0"/>
              <a:t>Chitransh.srivastava@exlservice.com</a:t>
            </a:r>
          </a:p>
          <a:p>
            <a:r>
              <a:rPr lang="en-US" dirty="0"/>
              <a:t>M: +91-7829114323</a:t>
            </a:r>
          </a:p>
        </p:txBody>
      </p:sp>
      <p:sp>
        <p:nvSpPr>
          <p:cNvPr id="16" name="Text Placeholder 15"/>
          <p:cNvSpPr>
            <a:spLocks noGrp="1"/>
          </p:cNvSpPr>
          <p:nvPr>
            <p:ph type="body" sz="quarter" idx="13"/>
          </p:nvPr>
        </p:nvSpPr>
        <p:spPr/>
        <p:txBody>
          <a:bodyPr/>
          <a:lstStyle/>
          <a:p>
            <a:r>
              <a:rPr lang="en-IN" dirty="0"/>
              <a:t> </a:t>
            </a:r>
            <a:endParaRPr lang="en-US" dirty="0"/>
          </a:p>
        </p:txBody>
      </p:sp>
      <p:sp>
        <p:nvSpPr>
          <p:cNvPr id="17" name="Text Placeholder 16"/>
          <p:cNvSpPr>
            <a:spLocks noGrp="1"/>
          </p:cNvSpPr>
          <p:nvPr>
            <p:ph type="body" sz="quarter" idx="14"/>
          </p:nvPr>
        </p:nvSpPr>
        <p:spPr/>
        <p:txBody>
          <a:bodyPr/>
          <a:lstStyle/>
          <a:p>
            <a:r>
              <a:rPr lang="en-IN" dirty="0"/>
              <a:t> </a:t>
            </a:r>
            <a:endParaRPr lang="en-US" dirty="0"/>
          </a:p>
        </p:txBody>
      </p:sp>
      <p:sp>
        <p:nvSpPr>
          <p:cNvPr id="18" name="Text Placeholder 17"/>
          <p:cNvSpPr>
            <a:spLocks noGrp="1"/>
          </p:cNvSpPr>
          <p:nvPr>
            <p:ph type="body" sz="quarter" idx="15"/>
          </p:nvPr>
        </p:nvSpPr>
        <p:spPr/>
        <p:txBody>
          <a:bodyPr/>
          <a:lstStyle/>
          <a:p>
            <a:r>
              <a:rPr lang="en-IN" dirty="0"/>
              <a:t> </a:t>
            </a:r>
            <a:endParaRPr lang="en-US" dirty="0"/>
          </a:p>
        </p:txBody>
      </p:sp>
    </p:spTree>
    <p:extLst>
      <p:ext uri="{BB962C8B-B14F-4D97-AF65-F5344CB8AC3E}">
        <p14:creationId xmlns:p14="http://schemas.microsoft.com/office/powerpoint/2010/main" val="1770284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C8BA8-435F-584B-8D68-9E4A757FFF60}"/>
              </a:ext>
            </a:extLst>
          </p:cNvPr>
          <p:cNvSpPr>
            <a:spLocks noGrp="1"/>
          </p:cNvSpPr>
          <p:nvPr>
            <p:ph type="ctrTitle"/>
          </p:nvPr>
        </p:nvSpPr>
        <p:spPr/>
        <p:txBody>
          <a:bodyPr/>
          <a:lstStyle/>
          <a:p>
            <a:r>
              <a:rPr lang="en-US" dirty="0"/>
              <a:t>Appendix</a:t>
            </a:r>
          </a:p>
        </p:txBody>
      </p:sp>
    </p:spTree>
    <p:extLst>
      <p:ext uri="{BB962C8B-B14F-4D97-AF65-F5344CB8AC3E}">
        <p14:creationId xmlns:p14="http://schemas.microsoft.com/office/powerpoint/2010/main" val="3170033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Legends</a:t>
            </a:r>
          </a:p>
        </p:txBody>
      </p:sp>
      <p:sp>
        <p:nvSpPr>
          <p:cNvPr id="3" name="Subtitle 2"/>
          <p:cNvSpPr>
            <a:spLocks noGrp="1"/>
          </p:cNvSpPr>
          <p:nvPr>
            <p:ph type="subTitle" idx="1"/>
          </p:nvPr>
        </p:nvSpPr>
        <p:spPr>
          <a:xfrm>
            <a:off x="457199" y="1659840"/>
            <a:ext cx="11277601" cy="3496360"/>
          </a:xfrm>
        </p:spPr>
        <p:txBody>
          <a:bodyPr/>
          <a:lstStyle/>
          <a:p>
            <a:r>
              <a:rPr lang="en-IN" dirty="0"/>
              <a:t>In upcoming slides, we might find some keywords related to audit columns on data platform which are used to explain the type 2 functionality across layers:</a:t>
            </a:r>
          </a:p>
          <a:p>
            <a:endParaRPr lang="en-IN" dirty="0"/>
          </a:p>
          <a:p>
            <a:pPr marL="285750" indent="-285750">
              <a:buFont typeface="Wingdings" panose="05000000000000000000" pitchFamily="2" charset="2"/>
              <a:buChar char="q"/>
            </a:pPr>
            <a:r>
              <a:rPr lang="en-IN" dirty="0"/>
              <a:t>HBK – </a:t>
            </a:r>
            <a:r>
              <a:rPr lang="en-IN" dirty="0" err="1"/>
              <a:t>HashedBusinessKey</a:t>
            </a:r>
            <a:r>
              <a:rPr lang="en-IN" dirty="0"/>
              <a:t> (Grain/PK of tables across layer)</a:t>
            </a:r>
          </a:p>
          <a:p>
            <a:pPr marL="285750" indent="-285750">
              <a:buFont typeface="Wingdings" panose="05000000000000000000" pitchFamily="2" charset="2"/>
              <a:buChar char="q"/>
            </a:pPr>
            <a:r>
              <a:rPr lang="en-IN" dirty="0"/>
              <a:t>HV – </a:t>
            </a:r>
            <a:r>
              <a:rPr lang="en-IN" dirty="0" err="1"/>
              <a:t>HashedValue</a:t>
            </a:r>
            <a:r>
              <a:rPr lang="en-IN" dirty="0"/>
              <a:t> (Combination of all non-key columns used which tracking Insert &amp; Update DMLs in merge function)</a:t>
            </a:r>
          </a:p>
          <a:p>
            <a:pPr marL="285750" indent="-285750">
              <a:buFont typeface="Wingdings" panose="05000000000000000000" pitchFamily="2" charset="2"/>
              <a:buChar char="q"/>
            </a:pPr>
            <a:r>
              <a:rPr lang="en-IN" dirty="0"/>
              <a:t>LCT – </a:t>
            </a:r>
            <a:r>
              <a:rPr lang="en-IN" dirty="0" err="1"/>
              <a:t>LakeCreatedTimestamp</a:t>
            </a:r>
            <a:r>
              <a:rPr lang="en-IN" dirty="0"/>
              <a:t> (Identifies the creation date and time of a record)</a:t>
            </a:r>
          </a:p>
          <a:p>
            <a:pPr marL="285750" indent="-285750">
              <a:buFont typeface="Wingdings" panose="05000000000000000000" pitchFamily="2" charset="2"/>
              <a:buChar char="q"/>
            </a:pPr>
            <a:r>
              <a:rPr lang="en-IN" dirty="0"/>
              <a:t>VFT – </a:t>
            </a:r>
            <a:r>
              <a:rPr lang="en-US" dirty="0" err="1"/>
              <a:t>LakeValidFromTimestamp</a:t>
            </a:r>
            <a:r>
              <a:rPr lang="en-US" dirty="0"/>
              <a:t> (Track the date and time from which record was active in the table)</a:t>
            </a:r>
          </a:p>
          <a:p>
            <a:pPr marL="285750" indent="-285750">
              <a:buFont typeface="Wingdings" panose="05000000000000000000" pitchFamily="2" charset="2"/>
              <a:buChar char="q"/>
            </a:pPr>
            <a:r>
              <a:rPr lang="en-IN" dirty="0"/>
              <a:t>VTT – </a:t>
            </a:r>
            <a:r>
              <a:rPr lang="en-US" dirty="0" err="1"/>
              <a:t>LakeValidToTimestamp</a:t>
            </a:r>
            <a:r>
              <a:rPr lang="en-US" dirty="0"/>
              <a:t> (Track the date and time on which record became inactive in the table)</a:t>
            </a:r>
          </a:p>
          <a:p>
            <a:pPr marL="285750" indent="-285750">
              <a:buFont typeface="Wingdings" panose="05000000000000000000" pitchFamily="2" charset="2"/>
              <a:buChar char="q"/>
            </a:pPr>
            <a:r>
              <a:rPr lang="en-IN" dirty="0"/>
              <a:t>DT – </a:t>
            </a:r>
            <a:r>
              <a:rPr lang="en-US" dirty="0" err="1"/>
              <a:t>LakeDeletedTimestamp</a:t>
            </a:r>
            <a:r>
              <a:rPr lang="en-US" dirty="0"/>
              <a:t> (Track the date and time on which record was marked as deleted in the table)</a:t>
            </a:r>
          </a:p>
          <a:p>
            <a:pPr marL="285750" indent="-285750">
              <a:buFont typeface="Wingdings" panose="05000000000000000000" pitchFamily="2" charset="2"/>
              <a:buChar char="q"/>
            </a:pPr>
            <a:r>
              <a:rPr lang="en-IN" dirty="0"/>
              <a:t>BED – </a:t>
            </a:r>
            <a:r>
              <a:rPr lang="en-IN" dirty="0" err="1"/>
              <a:t>BatchEffectiveDate</a:t>
            </a:r>
            <a:r>
              <a:rPr lang="en-IN" dirty="0"/>
              <a:t> (Timestamp for which the data gets loaded into conformed layer and onwards)</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endParaRPr lang="en-IN" dirty="0"/>
          </a:p>
        </p:txBody>
      </p:sp>
    </p:spTree>
    <p:extLst>
      <p:ext uri="{BB962C8B-B14F-4D97-AF65-F5344CB8AC3E}">
        <p14:creationId xmlns:p14="http://schemas.microsoft.com/office/powerpoint/2010/main" val="1405797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High Level Orchestration</a:t>
            </a:r>
          </a:p>
        </p:txBody>
      </p:sp>
      <p:sp>
        <p:nvSpPr>
          <p:cNvPr id="3" name="Subtitle 2"/>
          <p:cNvSpPr>
            <a:spLocks noGrp="1"/>
          </p:cNvSpPr>
          <p:nvPr>
            <p:ph type="subTitle" idx="1"/>
          </p:nvPr>
        </p:nvSpPr>
        <p:spPr>
          <a:xfrm>
            <a:off x="457200" y="4282052"/>
            <a:ext cx="11277601" cy="1877448"/>
          </a:xfrm>
        </p:spPr>
        <p:txBody>
          <a:bodyPr/>
          <a:lstStyle/>
          <a:p>
            <a:r>
              <a:rPr lang="en-US" b="1" dirty="0">
                <a:solidFill>
                  <a:srgbClr val="000000"/>
                </a:solidFill>
              </a:rPr>
              <a:t>Summary:</a:t>
            </a:r>
          </a:p>
          <a:p>
            <a:pPr marL="285750" indent="-285750">
              <a:buFont typeface="Arial" panose="020B0604020202020204" pitchFamily="34" charset="0"/>
              <a:buChar char="•"/>
            </a:pPr>
            <a:r>
              <a:rPr lang="en-IN" dirty="0">
                <a:solidFill>
                  <a:srgbClr val="000000"/>
                </a:solidFill>
              </a:rPr>
              <a:t>“</a:t>
            </a:r>
            <a:r>
              <a:rPr lang="en-IN" dirty="0" err="1">
                <a:solidFill>
                  <a:srgbClr val="000000"/>
                </a:solidFill>
              </a:rPr>
              <a:t>onn_task_prepare_tasks</a:t>
            </a:r>
            <a:r>
              <a:rPr lang="en-IN" dirty="0">
                <a:solidFill>
                  <a:srgbClr val="000000"/>
                </a:solidFill>
              </a:rPr>
              <a:t>” Activity – calls SQLDB procedure, </a:t>
            </a:r>
            <a:r>
              <a:rPr lang="en-IN" dirty="0" err="1">
                <a:solidFill>
                  <a:srgbClr val="000000"/>
                </a:solidFill>
              </a:rPr>
              <a:t>usp_prepare_tasks</a:t>
            </a:r>
            <a:r>
              <a:rPr lang="en-IN" dirty="0">
                <a:solidFill>
                  <a:srgbClr val="000000"/>
                </a:solidFill>
              </a:rPr>
              <a:t> that identifies that tasks that needs to be loaded </a:t>
            </a:r>
          </a:p>
          <a:p>
            <a:pPr marL="285750" indent="-285750">
              <a:buFont typeface="Arial" panose="020B0604020202020204" pitchFamily="34" charset="0"/>
              <a:buChar char="•"/>
            </a:pPr>
            <a:r>
              <a:rPr lang="en-IN" dirty="0">
                <a:solidFill>
                  <a:srgbClr val="000000"/>
                </a:solidFill>
              </a:rPr>
              <a:t>“</a:t>
            </a:r>
            <a:r>
              <a:rPr lang="en-IN" dirty="0" err="1">
                <a:solidFill>
                  <a:srgbClr val="000000"/>
                </a:solidFill>
              </a:rPr>
              <a:t>on_task_get_tasks</a:t>
            </a:r>
            <a:r>
              <a:rPr lang="en-IN" dirty="0">
                <a:solidFill>
                  <a:srgbClr val="000000"/>
                </a:solidFill>
              </a:rPr>
              <a:t>” Activity – calls SQLDB procedure, and </a:t>
            </a:r>
            <a:r>
              <a:rPr lang="en-IN" dirty="0" err="1">
                <a:solidFill>
                  <a:srgbClr val="000000"/>
                </a:solidFill>
              </a:rPr>
              <a:t>usp_get_tasks</a:t>
            </a:r>
            <a:r>
              <a:rPr lang="en-IN" dirty="0">
                <a:solidFill>
                  <a:srgbClr val="000000"/>
                </a:solidFill>
              </a:rPr>
              <a:t> and identifies the new data that needs to be loaded as per </a:t>
            </a:r>
            <a:r>
              <a:rPr lang="en-IN" dirty="0" err="1">
                <a:solidFill>
                  <a:srgbClr val="000000"/>
                </a:solidFill>
              </a:rPr>
              <a:t>object_dates_availability</a:t>
            </a:r>
            <a:r>
              <a:rPr lang="en-IN" dirty="0">
                <a:solidFill>
                  <a:srgbClr val="000000"/>
                </a:solidFill>
              </a:rPr>
              <a:t> table from metadata</a:t>
            </a:r>
          </a:p>
          <a:p>
            <a:pPr marL="285750" indent="-285750">
              <a:buFont typeface="Arial" panose="020B0604020202020204" pitchFamily="34" charset="0"/>
              <a:buChar char="•"/>
            </a:pPr>
            <a:r>
              <a:rPr lang="en-IN" dirty="0">
                <a:solidFill>
                  <a:srgbClr val="000000"/>
                </a:solidFill>
              </a:rPr>
              <a:t>As we can see, the pipeline creates three parallel branches so that multiple entities can be processed at once at once. Threshold for each branches is 20 i.e. At any instance maximum 60 (20*3) tasks can be in progress</a:t>
            </a:r>
          </a:p>
        </p:txBody>
      </p:sp>
      <p:pic>
        <p:nvPicPr>
          <p:cNvPr id="5" name="Picture 4"/>
          <p:cNvPicPr>
            <a:picLocks noChangeAspect="1"/>
          </p:cNvPicPr>
          <p:nvPr/>
        </p:nvPicPr>
        <p:blipFill>
          <a:blip r:embed="rId2"/>
          <a:stretch>
            <a:fillRect/>
          </a:stretch>
        </p:blipFill>
        <p:spPr>
          <a:xfrm>
            <a:off x="947826" y="1272653"/>
            <a:ext cx="7490471" cy="3034799"/>
          </a:xfrm>
          <a:prstGeom prst="rect">
            <a:avLst/>
          </a:prstGeom>
        </p:spPr>
      </p:pic>
      <p:pic>
        <p:nvPicPr>
          <p:cNvPr id="6" name="Picture 5"/>
          <p:cNvPicPr>
            <a:picLocks noChangeAspect="1"/>
          </p:cNvPicPr>
          <p:nvPr/>
        </p:nvPicPr>
        <p:blipFill>
          <a:blip r:embed="rId3"/>
          <a:stretch>
            <a:fillRect/>
          </a:stretch>
        </p:blipFill>
        <p:spPr>
          <a:xfrm>
            <a:off x="9329383" y="1272653"/>
            <a:ext cx="1914792" cy="2438740"/>
          </a:xfrm>
          <a:prstGeom prst="rect">
            <a:avLst/>
          </a:prstGeom>
        </p:spPr>
      </p:pic>
      <p:sp>
        <p:nvSpPr>
          <p:cNvPr id="13" name="Curved Down Arrow 12"/>
          <p:cNvSpPr/>
          <p:nvPr/>
        </p:nvSpPr>
        <p:spPr>
          <a:xfrm>
            <a:off x="6705600" y="840852"/>
            <a:ext cx="3200400" cy="381000"/>
          </a:xfrm>
          <a:prstGeom prst="curvedDownArrow">
            <a:avLst/>
          </a:prstGeom>
          <a:solidFill>
            <a:schemeClr val="accent6"/>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71638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Source To Raw</a:t>
            </a:r>
            <a:r>
              <a:rPr lang="en-US" sz="4200" b="1" dirty="0"/>
              <a:t> (Processing)</a:t>
            </a:r>
          </a:p>
        </p:txBody>
      </p:sp>
      <p:grpSp>
        <p:nvGrpSpPr>
          <p:cNvPr id="13" name="Group 12"/>
          <p:cNvGrpSpPr/>
          <p:nvPr/>
        </p:nvGrpSpPr>
        <p:grpSpPr>
          <a:xfrm>
            <a:off x="1409577" y="1665368"/>
            <a:ext cx="9372846" cy="3527265"/>
            <a:chOff x="1409577" y="1342340"/>
            <a:chExt cx="9372846" cy="3527265"/>
          </a:xfrm>
        </p:grpSpPr>
        <p:grpSp>
          <p:nvGrpSpPr>
            <p:cNvPr id="8" name="Group 7"/>
            <p:cNvGrpSpPr/>
            <p:nvPr/>
          </p:nvGrpSpPr>
          <p:grpSpPr>
            <a:xfrm>
              <a:off x="1409577" y="1824458"/>
              <a:ext cx="1071154" cy="793559"/>
              <a:chOff x="999310" y="1342340"/>
              <a:chExt cx="1071154" cy="936386"/>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7" name="Picture 6"/>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pic>
          <p:nvPicPr>
            <p:cNvPr id="16" name="Picture 15"/>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3538733" y="1824458"/>
              <a:ext cx="936386" cy="793559"/>
            </a:xfrm>
            <a:prstGeom prst="rect">
              <a:avLst/>
            </a:prstGeom>
            <a:solidFill>
              <a:schemeClr val="tx1"/>
            </a:solidFill>
          </p:spPr>
        </p:pic>
        <p:pic>
          <p:nvPicPr>
            <p:cNvPr id="17" name="Picture 16"/>
            <p:cNvPicPr>
              <a:picLocks noChangeAspect="1"/>
            </p:cNvPicPr>
            <p:nvPr/>
          </p:nvPicPr>
          <p:blipFill>
            <a:blip r:embed="rId7">
              <a:extLst>
                <a:ext uri="{BEBA8EAE-BF5A-486C-A8C5-ECC9F3942E4B}">
                  <a14:imgProps xmlns:a14="http://schemas.microsoft.com/office/drawing/2010/main">
                    <a14:imgLayer r:embed="rId8">
                      <a14:imgEffect>
                        <a14:saturation sat="0"/>
                      </a14:imgEffect>
                      <a14:imgEffect>
                        <a14:brightnessContrast contrast="20000"/>
                      </a14:imgEffect>
                    </a14:imgLayer>
                  </a14:imgProps>
                </a:ext>
              </a:extLst>
            </a:blip>
            <a:stretch>
              <a:fillRect/>
            </a:stretch>
          </p:blipFill>
          <p:spPr>
            <a:xfrm>
              <a:off x="5533121" y="1839218"/>
              <a:ext cx="1386925" cy="778799"/>
            </a:xfrm>
            <a:prstGeom prst="rect">
              <a:avLst/>
            </a:prstGeom>
          </p:spPr>
        </p:pic>
        <p:sp>
          <p:nvSpPr>
            <p:cNvPr id="18" name="Right Arrow 17"/>
            <p:cNvSpPr/>
            <p:nvPr/>
          </p:nvSpPr>
          <p:spPr>
            <a:xfrm>
              <a:off x="2719446" y="2126060"/>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a:off x="4713834" y="2126060"/>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9026750" y="2124285"/>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9840825" y="1822682"/>
              <a:ext cx="936386" cy="793559"/>
            </a:xfrm>
            <a:prstGeom prst="rect">
              <a:avLst/>
            </a:prstGeom>
            <a:solidFill>
              <a:schemeClr val="tx1"/>
            </a:solidFill>
          </p:spPr>
        </p:pic>
        <p:sp>
          <p:nvSpPr>
            <p:cNvPr id="34" name="Freeform 33"/>
            <p:cNvSpPr/>
            <p:nvPr/>
          </p:nvSpPr>
          <p:spPr>
            <a:xfrm>
              <a:off x="4396519" y="306305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Truncate the table in raw</a:t>
              </a:r>
              <a:endParaRPr lang="en-US" sz="1300" kern="1200" dirty="0">
                <a:solidFill>
                  <a:schemeClr val="tx2">
                    <a:lumMod val="75000"/>
                    <a:lumOff val="25000"/>
                  </a:schemeClr>
                </a:solidFill>
              </a:endParaRPr>
            </a:p>
          </p:txBody>
        </p:sp>
        <p:grpSp>
          <p:nvGrpSpPr>
            <p:cNvPr id="44" name="Group 43"/>
            <p:cNvGrpSpPr/>
            <p:nvPr/>
          </p:nvGrpSpPr>
          <p:grpSpPr>
            <a:xfrm>
              <a:off x="8545691" y="3057878"/>
              <a:ext cx="1648087" cy="1203552"/>
              <a:chOff x="6065138" y="3719715"/>
              <a:chExt cx="1648087" cy="1203552"/>
            </a:xfrm>
          </p:grpSpPr>
          <p:sp>
            <p:nvSpPr>
              <p:cNvPr id="39" name="Freeform 38"/>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object date availability for raw tables</a:t>
                </a:r>
                <a:endParaRPr lang="en-US" sz="1300" kern="1200" dirty="0">
                  <a:solidFill>
                    <a:schemeClr val="tx2">
                      <a:lumMod val="75000"/>
                      <a:lumOff val="25000"/>
                    </a:schemeClr>
                  </a:solidFill>
                </a:endParaRPr>
              </a:p>
            </p:txBody>
          </p:sp>
          <p:sp>
            <p:nvSpPr>
              <p:cNvPr id="43" name="Freeform 42"/>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38" name="5-Point Star 37"/>
            <p:cNvSpPr/>
            <p:nvPr/>
          </p:nvSpPr>
          <p:spPr>
            <a:xfrm>
              <a:off x="4235772" y="2905478"/>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40" name="5-Point Star 39"/>
            <p:cNvSpPr/>
            <p:nvPr/>
          </p:nvSpPr>
          <p:spPr>
            <a:xfrm>
              <a:off x="8384946" y="2900301"/>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 name="TextBox 2"/>
            <p:cNvSpPr txBox="1"/>
            <p:nvPr/>
          </p:nvSpPr>
          <p:spPr>
            <a:xfrm>
              <a:off x="3533521" y="1439224"/>
              <a:ext cx="941598" cy="492443"/>
            </a:xfrm>
            <a:prstGeom prst="rect">
              <a:avLst/>
            </a:prstGeom>
            <a:noFill/>
          </p:spPr>
          <p:txBody>
            <a:bodyPr wrap="square" rtlCol="0">
              <a:spAutoFit/>
            </a:bodyPr>
            <a:lstStyle/>
            <a:p>
              <a:pPr algn="ctr"/>
              <a:r>
                <a:rPr lang="en-IN" sz="1300" dirty="0">
                  <a:solidFill>
                    <a:srgbClr val="424242"/>
                  </a:solidFill>
                </a:rPr>
                <a:t>On - </a:t>
              </a:r>
              <a:r>
                <a:rPr lang="en-IN" sz="1300" dirty="0" err="1">
                  <a:solidFill>
                    <a:srgbClr val="424242"/>
                  </a:solidFill>
                </a:rPr>
                <a:t>Prem</a:t>
              </a:r>
              <a:r>
                <a:rPr lang="en-IN" sz="1300" dirty="0">
                  <a:solidFill>
                    <a:srgbClr val="424242"/>
                  </a:solidFill>
                </a:rPr>
                <a:t> </a:t>
              </a:r>
            </a:p>
            <a:p>
              <a:pPr algn="ctr"/>
              <a:r>
                <a:rPr lang="en-IN" sz="1300" dirty="0">
                  <a:solidFill>
                    <a:srgbClr val="424242"/>
                  </a:solidFill>
                </a:rPr>
                <a:t>(Subscribe)</a:t>
              </a:r>
              <a:endParaRPr lang="en-US" sz="1300" dirty="0">
                <a:solidFill>
                  <a:srgbClr val="424242"/>
                </a:solidFill>
              </a:endParaRPr>
            </a:p>
          </p:txBody>
        </p:sp>
        <p:sp>
          <p:nvSpPr>
            <p:cNvPr id="26" name="TextBox 25"/>
            <p:cNvSpPr txBox="1"/>
            <p:nvPr/>
          </p:nvSpPr>
          <p:spPr>
            <a:xfrm>
              <a:off x="9840825" y="1346775"/>
              <a:ext cx="941598" cy="492443"/>
            </a:xfrm>
            <a:prstGeom prst="rect">
              <a:avLst/>
            </a:prstGeom>
            <a:noFill/>
          </p:spPr>
          <p:txBody>
            <a:bodyPr wrap="square" rtlCol="0">
              <a:spAutoFit/>
            </a:bodyPr>
            <a:lstStyle/>
            <a:p>
              <a:pPr algn="ctr"/>
              <a:r>
                <a:rPr lang="en-IN" sz="1300" dirty="0">
                  <a:solidFill>
                    <a:srgbClr val="424242"/>
                  </a:solidFill>
                </a:rPr>
                <a:t>SQLDB (Metadata)</a:t>
              </a:r>
              <a:endParaRPr lang="en-US" sz="1300" dirty="0">
                <a:solidFill>
                  <a:srgbClr val="424242"/>
                </a:solidFill>
              </a:endParaRPr>
            </a:p>
          </p:txBody>
        </p:sp>
        <p:sp>
          <p:nvSpPr>
            <p:cNvPr id="28" name="Right Arrow 27"/>
            <p:cNvSpPr/>
            <p:nvPr/>
          </p:nvSpPr>
          <p:spPr>
            <a:xfrm>
              <a:off x="7153549" y="2124284"/>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rotWithShape="1">
            <a:blip r:embed="rId9">
              <a:extLst>
                <a:ext uri="{BEBA8EAE-BF5A-486C-A8C5-ECC9F3942E4B}">
                  <a14:imgProps xmlns:a14="http://schemas.microsoft.com/office/drawing/2010/main">
                    <a14:imgLayer r:embed="rId10">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27867" r="28400"/>
            <a:stretch/>
          </p:blipFill>
          <p:spPr>
            <a:xfrm>
              <a:off x="7978048" y="1824458"/>
              <a:ext cx="815199" cy="793560"/>
            </a:xfrm>
            <a:prstGeom prst="rect">
              <a:avLst/>
            </a:prstGeom>
          </p:spPr>
        </p:pic>
        <p:sp>
          <p:nvSpPr>
            <p:cNvPr id="30" name="TextBox 29"/>
            <p:cNvSpPr txBox="1"/>
            <p:nvPr/>
          </p:nvSpPr>
          <p:spPr>
            <a:xfrm>
              <a:off x="7914848" y="1342340"/>
              <a:ext cx="941598" cy="292388"/>
            </a:xfrm>
            <a:prstGeom prst="rect">
              <a:avLst/>
            </a:prstGeom>
            <a:noFill/>
          </p:spPr>
          <p:txBody>
            <a:bodyPr wrap="square" rtlCol="0">
              <a:spAutoFit/>
            </a:bodyPr>
            <a:lstStyle/>
            <a:p>
              <a:pPr algn="ctr"/>
              <a:r>
                <a:rPr lang="en-IN" sz="1300" dirty="0">
                  <a:solidFill>
                    <a:srgbClr val="424242"/>
                  </a:solidFill>
                </a:rPr>
                <a:t>ADLS</a:t>
              </a:r>
              <a:endParaRPr lang="en-US" sz="1300" dirty="0">
                <a:solidFill>
                  <a:srgbClr val="424242"/>
                </a:solidFill>
              </a:endParaRPr>
            </a:p>
          </p:txBody>
        </p:sp>
        <p:sp>
          <p:nvSpPr>
            <p:cNvPr id="33" name="Freeform 32"/>
            <p:cNvSpPr/>
            <p:nvPr/>
          </p:nvSpPr>
          <p:spPr>
            <a:xfrm>
              <a:off x="6525059" y="3055589"/>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Loads the data in delta table</a:t>
              </a:r>
              <a:endParaRPr lang="en-US" sz="1300" kern="1200" dirty="0">
                <a:solidFill>
                  <a:schemeClr val="tx2">
                    <a:lumMod val="75000"/>
                    <a:lumOff val="25000"/>
                  </a:schemeClr>
                </a:solidFill>
              </a:endParaRPr>
            </a:p>
          </p:txBody>
        </p:sp>
        <p:sp>
          <p:nvSpPr>
            <p:cNvPr id="35" name="5-Point Star 34"/>
            <p:cNvSpPr/>
            <p:nvPr/>
          </p:nvSpPr>
          <p:spPr>
            <a:xfrm>
              <a:off x="6364312" y="2898012"/>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22" name="Group 21"/>
            <p:cNvGrpSpPr/>
            <p:nvPr/>
          </p:nvGrpSpPr>
          <p:grpSpPr>
            <a:xfrm>
              <a:off x="2077480" y="3063053"/>
              <a:ext cx="1757920" cy="1806552"/>
              <a:chOff x="765017" y="3360918"/>
              <a:chExt cx="2027311" cy="1300827"/>
            </a:xfrm>
          </p:grpSpPr>
          <p:sp>
            <p:nvSpPr>
              <p:cNvPr id="23" name="Freeform 22"/>
              <p:cNvSpPr/>
              <p:nvPr/>
            </p:nvSpPr>
            <p:spPr>
              <a:xfrm>
                <a:off x="765017" y="3360918"/>
                <a:ext cx="2027311"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Looks for active Batch in SQLDB</a:t>
                </a:r>
                <a:endParaRPr lang="en-US" sz="1300" kern="1200" dirty="0">
                  <a:solidFill>
                    <a:schemeClr val="tx2">
                      <a:lumMod val="75000"/>
                      <a:lumOff val="25000"/>
                    </a:schemeClr>
                  </a:solidFill>
                </a:endParaRPr>
              </a:p>
            </p:txBody>
          </p:sp>
          <p:sp>
            <p:nvSpPr>
              <p:cNvPr id="24" name="Freeform 23"/>
              <p:cNvSpPr/>
              <p:nvPr/>
            </p:nvSpPr>
            <p:spPr>
              <a:xfrm>
                <a:off x="765017" y="3805607"/>
                <a:ext cx="2027311"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Calls the procedure </a:t>
                </a:r>
                <a:r>
                  <a:rPr lang="en-IN" sz="1300" dirty="0" err="1">
                    <a:solidFill>
                      <a:schemeClr val="tx2">
                        <a:lumMod val="75000"/>
                        <a:lumOff val="25000"/>
                      </a:schemeClr>
                    </a:solidFill>
                  </a:rPr>
                  <a:t>usp_get_object_connectionStringDetails</a:t>
                </a:r>
                <a:endParaRPr lang="en-IN" sz="1300" dirty="0">
                  <a:solidFill>
                    <a:schemeClr val="tx2">
                      <a:lumMod val="75000"/>
                      <a:lumOff val="25000"/>
                    </a:schemeClr>
                  </a:solidFill>
                </a:endParaRPr>
              </a:p>
            </p:txBody>
          </p:sp>
          <p:sp>
            <p:nvSpPr>
              <p:cNvPr id="25" name="Freeform 24"/>
              <p:cNvSpPr/>
              <p:nvPr/>
            </p:nvSpPr>
            <p:spPr>
              <a:xfrm>
                <a:off x="765017" y="4241712"/>
                <a:ext cx="2027311"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This procedure generates a </a:t>
                </a:r>
                <a:r>
                  <a:rPr lang="en-IN" sz="1300" dirty="0" err="1">
                    <a:solidFill>
                      <a:schemeClr val="tx2">
                        <a:lumMod val="75000"/>
                        <a:lumOff val="25000"/>
                      </a:schemeClr>
                    </a:solidFill>
                  </a:rPr>
                  <a:t>where_clause</a:t>
                </a:r>
                <a:endParaRPr lang="en-IN" sz="1300" dirty="0">
                  <a:solidFill>
                    <a:schemeClr val="tx2">
                      <a:lumMod val="75000"/>
                      <a:lumOff val="25000"/>
                    </a:schemeClr>
                  </a:solidFill>
                </a:endParaRPr>
              </a:p>
            </p:txBody>
          </p:sp>
        </p:grpSp>
        <p:sp>
          <p:nvSpPr>
            <p:cNvPr id="27" name="5-Point Star 26"/>
            <p:cNvSpPr/>
            <p:nvPr/>
          </p:nvSpPr>
          <p:spPr>
            <a:xfrm>
              <a:off x="1915086" y="2912182"/>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spTree>
    <p:extLst>
      <p:ext uri="{BB962C8B-B14F-4D97-AF65-F5344CB8AC3E}">
        <p14:creationId xmlns:p14="http://schemas.microsoft.com/office/powerpoint/2010/main" val="3096906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Source To Raw</a:t>
            </a:r>
            <a:r>
              <a:rPr lang="en-US" sz="4200" b="1" dirty="0"/>
              <a:t> (Orchestration)</a:t>
            </a:r>
          </a:p>
        </p:txBody>
      </p:sp>
      <p:sp>
        <p:nvSpPr>
          <p:cNvPr id="3" name="Subtitle 2"/>
          <p:cNvSpPr>
            <a:spLocks noGrp="1"/>
          </p:cNvSpPr>
          <p:nvPr>
            <p:ph type="subTitle" idx="1"/>
          </p:nvPr>
        </p:nvSpPr>
        <p:spPr>
          <a:xfrm>
            <a:off x="457199" y="3619500"/>
            <a:ext cx="11277601" cy="2108200"/>
          </a:xfrm>
        </p:spPr>
        <p:txBody>
          <a:bodyPr/>
          <a:lstStyle/>
          <a:p>
            <a:r>
              <a:rPr lang="en-US" b="1" dirty="0">
                <a:solidFill>
                  <a:srgbClr val="000000"/>
                </a:solidFill>
              </a:rPr>
              <a:t>Summary:</a:t>
            </a:r>
          </a:p>
          <a:p>
            <a:pPr marL="285750" indent="-285750">
              <a:buFont typeface="Arial" panose="020B0604020202020204" pitchFamily="34" charset="0"/>
              <a:buChar char="•"/>
            </a:pPr>
            <a:r>
              <a:rPr lang="en-IN" dirty="0">
                <a:solidFill>
                  <a:srgbClr val="000000"/>
                </a:solidFill>
              </a:rPr>
              <a:t>“onn_task_GetConnectionStringSecret_group3” Activity – calls SQLDB procedure, </a:t>
            </a:r>
            <a:r>
              <a:rPr lang="en-IN" dirty="0" err="1">
                <a:solidFill>
                  <a:srgbClr val="000000"/>
                </a:solidFill>
              </a:rPr>
              <a:t>usp_get_object_connectionStringDetails</a:t>
            </a:r>
            <a:r>
              <a:rPr lang="en-IN" dirty="0">
                <a:solidFill>
                  <a:srgbClr val="000000"/>
                </a:solidFill>
              </a:rPr>
              <a:t> that helps generates a  connection string in order to connect to the on premises source. It also updates where clause to “</a:t>
            </a:r>
            <a:r>
              <a:rPr lang="en-IN" dirty="0" err="1">
                <a:solidFill>
                  <a:srgbClr val="000000"/>
                </a:solidFill>
              </a:rPr>
              <a:t>Full_Refresh</a:t>
            </a:r>
            <a:r>
              <a:rPr lang="en-IN" dirty="0">
                <a:solidFill>
                  <a:srgbClr val="000000"/>
                </a:solidFill>
              </a:rPr>
              <a:t>”</a:t>
            </a:r>
          </a:p>
          <a:p>
            <a:pPr marL="285750" indent="-285750">
              <a:buFont typeface="Arial" panose="020B0604020202020204" pitchFamily="34" charset="0"/>
              <a:buChar char="•"/>
            </a:pPr>
            <a:r>
              <a:rPr lang="en-IN" dirty="0">
                <a:solidFill>
                  <a:srgbClr val="000000"/>
                </a:solidFill>
              </a:rPr>
              <a:t>“onn_task_CopyOnpremmToDeltaLake_group3” Activity – Establishes connecting using connecting string, truncates the target table and loads data in raw table</a:t>
            </a:r>
          </a:p>
          <a:p>
            <a:pPr marL="285750" indent="-285750">
              <a:buFont typeface="Arial" panose="020B0604020202020204" pitchFamily="34" charset="0"/>
              <a:buChar char="•"/>
            </a:pPr>
            <a:r>
              <a:rPr lang="en-IN" dirty="0">
                <a:solidFill>
                  <a:srgbClr val="000000"/>
                </a:solidFill>
              </a:rPr>
              <a:t>“onn_task_log_task_copyOnPremToDeltaLakeend_group1” Activity – calls SQLDB procedure, </a:t>
            </a:r>
            <a:r>
              <a:rPr lang="en-IN" dirty="0" err="1">
                <a:solidFill>
                  <a:srgbClr val="000000"/>
                </a:solidFill>
              </a:rPr>
              <a:t>usp_log_sql_task_end</a:t>
            </a:r>
            <a:r>
              <a:rPr lang="en-IN" dirty="0">
                <a:solidFill>
                  <a:srgbClr val="000000"/>
                </a:solidFill>
              </a:rPr>
              <a:t> which further calls procedure, </a:t>
            </a:r>
            <a:r>
              <a:rPr lang="en-US" dirty="0" err="1">
                <a:solidFill>
                  <a:srgbClr val="000000"/>
                </a:solidFill>
              </a:rPr>
              <a:t>usp_mark_dates_loaded</a:t>
            </a:r>
            <a:r>
              <a:rPr lang="en-US" dirty="0">
                <a:solidFill>
                  <a:srgbClr val="000000"/>
                </a:solidFill>
              </a:rPr>
              <a:t>. This activity thus helps to update </a:t>
            </a:r>
            <a:r>
              <a:rPr lang="en-US" dirty="0" err="1">
                <a:solidFill>
                  <a:srgbClr val="000000"/>
                </a:solidFill>
              </a:rPr>
              <a:t>tbl_object_dates_availability</a:t>
            </a:r>
            <a:r>
              <a:rPr lang="en-US" dirty="0">
                <a:solidFill>
                  <a:srgbClr val="000000"/>
                </a:solidFill>
              </a:rPr>
              <a:t> to mark a </a:t>
            </a:r>
            <a:r>
              <a:rPr lang="en-US" dirty="0" err="1">
                <a:solidFill>
                  <a:srgbClr val="000000"/>
                </a:solidFill>
              </a:rPr>
              <a:t>batch_task_id</a:t>
            </a:r>
            <a:r>
              <a:rPr lang="en-US" dirty="0">
                <a:solidFill>
                  <a:srgbClr val="000000"/>
                </a:solidFill>
              </a:rPr>
              <a:t> for an object (raw) as loaded</a:t>
            </a:r>
            <a:endParaRPr lang="en-IN" dirty="0">
              <a:solidFill>
                <a:srgbClr val="000000"/>
              </a:solidFill>
            </a:endParaRPr>
          </a:p>
        </p:txBody>
      </p:sp>
      <p:pic>
        <p:nvPicPr>
          <p:cNvPr id="4" name="Picture 3"/>
          <p:cNvPicPr>
            <a:picLocks noChangeAspect="1"/>
          </p:cNvPicPr>
          <p:nvPr/>
        </p:nvPicPr>
        <p:blipFill>
          <a:blip r:embed="rId2"/>
          <a:stretch>
            <a:fillRect/>
          </a:stretch>
        </p:blipFill>
        <p:spPr>
          <a:xfrm>
            <a:off x="1710142" y="1547339"/>
            <a:ext cx="7982047" cy="2072161"/>
          </a:xfrm>
          <a:prstGeom prst="rect">
            <a:avLst/>
          </a:prstGeom>
        </p:spPr>
      </p:pic>
    </p:spTree>
    <p:extLst>
      <p:ext uri="{BB962C8B-B14F-4D97-AF65-F5344CB8AC3E}">
        <p14:creationId xmlns:p14="http://schemas.microsoft.com/office/powerpoint/2010/main" val="3709574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(Processing)</a:t>
            </a:r>
          </a:p>
        </p:txBody>
      </p:sp>
      <p:grpSp>
        <p:nvGrpSpPr>
          <p:cNvPr id="5" name="Group 4"/>
          <p:cNvGrpSpPr/>
          <p:nvPr/>
        </p:nvGrpSpPr>
        <p:grpSpPr>
          <a:xfrm>
            <a:off x="1394923" y="1580755"/>
            <a:ext cx="9402154" cy="3696491"/>
            <a:chOff x="926451" y="2028546"/>
            <a:chExt cx="9402154" cy="3696491"/>
          </a:xfrm>
        </p:grpSpPr>
        <p:grpSp>
          <p:nvGrpSpPr>
            <p:cNvPr id="8" name="Group 7"/>
            <p:cNvGrpSpPr/>
            <p:nvPr/>
          </p:nvGrpSpPr>
          <p:grpSpPr>
            <a:xfrm>
              <a:off x="926451" y="2582539"/>
              <a:ext cx="1071154" cy="793559"/>
              <a:chOff x="999310" y="1342340"/>
              <a:chExt cx="1071154" cy="936386"/>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7" name="Picture 6"/>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sp>
          <p:nvSpPr>
            <p:cNvPr id="18" name="Right Arrow 17"/>
            <p:cNvSpPr/>
            <p:nvPr/>
          </p:nvSpPr>
          <p:spPr>
            <a:xfrm>
              <a:off x="2236320" y="2884141"/>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a:off x="4230708" y="2884141"/>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8572932" y="2882366"/>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9387007" y="2580763"/>
              <a:ext cx="936386" cy="793559"/>
            </a:xfrm>
            <a:prstGeom prst="rect">
              <a:avLst/>
            </a:prstGeom>
            <a:solidFill>
              <a:schemeClr val="tx1"/>
            </a:solidFill>
          </p:spPr>
        </p:pic>
        <p:grpSp>
          <p:nvGrpSpPr>
            <p:cNvPr id="22" name="Group 21"/>
            <p:cNvGrpSpPr/>
            <p:nvPr/>
          </p:nvGrpSpPr>
          <p:grpSpPr>
            <a:xfrm>
              <a:off x="1702564" y="3918485"/>
              <a:ext cx="1648085" cy="1806552"/>
              <a:chOff x="955415" y="3360918"/>
              <a:chExt cx="1900644" cy="1300827"/>
            </a:xfrm>
          </p:grpSpPr>
          <p:sp>
            <p:nvSpPr>
              <p:cNvPr id="23" name="Freeform 22"/>
              <p:cNvSpPr/>
              <p:nvPr/>
            </p:nvSpPr>
            <p:spPr>
              <a:xfrm>
                <a:off x="955415" y="3360918"/>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Looks for active Batch in SQLDB</a:t>
                </a:r>
                <a:endParaRPr lang="en-US" sz="1300" kern="1200" dirty="0">
                  <a:solidFill>
                    <a:schemeClr val="tx2">
                      <a:lumMod val="75000"/>
                      <a:lumOff val="25000"/>
                    </a:schemeClr>
                  </a:solidFill>
                </a:endParaRPr>
              </a:p>
            </p:txBody>
          </p:sp>
          <p:sp>
            <p:nvSpPr>
              <p:cNvPr id="24" name="Freeform 23"/>
              <p:cNvSpPr/>
              <p:nvPr/>
            </p:nvSpPr>
            <p:spPr>
              <a:xfrm>
                <a:off x="955415" y="3805607"/>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Calls notebook load_scd2withdelete_dbdt_dbdt</a:t>
                </a:r>
              </a:p>
            </p:txBody>
          </p:sp>
          <p:sp>
            <p:nvSpPr>
              <p:cNvPr id="25" name="Freeform 24"/>
              <p:cNvSpPr/>
              <p:nvPr/>
            </p:nvSpPr>
            <p:spPr>
              <a:xfrm>
                <a:off x="955415" y="4241712"/>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27" name="5-Point Star 26"/>
            <p:cNvSpPr/>
            <p:nvPr/>
          </p:nvSpPr>
          <p:spPr>
            <a:xfrm>
              <a:off x="1540170" y="3767614"/>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44" name="Group 43"/>
            <p:cNvGrpSpPr/>
            <p:nvPr/>
          </p:nvGrpSpPr>
          <p:grpSpPr>
            <a:xfrm>
              <a:off x="8101931" y="3913310"/>
              <a:ext cx="1648087" cy="1203552"/>
              <a:chOff x="6065138" y="3719715"/>
              <a:chExt cx="1648087" cy="1203552"/>
            </a:xfrm>
          </p:grpSpPr>
          <p:sp>
            <p:nvSpPr>
              <p:cNvPr id="39" name="Freeform 38"/>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object date availability for standardised tables</a:t>
                </a:r>
                <a:endParaRPr lang="en-US" sz="1300" kern="1200" dirty="0">
                  <a:solidFill>
                    <a:schemeClr val="tx2">
                      <a:lumMod val="75000"/>
                      <a:lumOff val="25000"/>
                    </a:schemeClr>
                  </a:solidFill>
                </a:endParaRPr>
              </a:p>
            </p:txBody>
          </p:sp>
          <p:sp>
            <p:nvSpPr>
              <p:cNvPr id="43" name="Freeform 42"/>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40" name="5-Point Star 39"/>
            <p:cNvSpPr/>
            <p:nvPr/>
          </p:nvSpPr>
          <p:spPr>
            <a:xfrm>
              <a:off x="7917122" y="3755733"/>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3" name="Picture 2"/>
            <p:cNvPicPr>
              <a:picLocks noChangeAspect="1"/>
            </p:cNvPicPr>
            <p:nvPr/>
          </p:nvPicPr>
          <p:blipFill rotWithShape="1">
            <a:blip r:embed="rId7">
              <a:extLst>
                <a:ext uri="{28A0092B-C50C-407E-A947-70E740481C1C}">
                  <a14:useLocalDpi xmlns:a14="http://schemas.microsoft.com/office/drawing/2010/main" val="0"/>
                </a:ext>
              </a:extLst>
            </a:blip>
            <a:srcRect l="25822" r="26889"/>
            <a:stretch/>
          </p:blipFill>
          <p:spPr>
            <a:xfrm>
              <a:off x="5044783" y="2441677"/>
              <a:ext cx="1418308" cy="1071729"/>
            </a:xfrm>
            <a:prstGeom prst="rect">
              <a:avLst/>
            </a:prstGeom>
          </p:spPr>
        </p:pic>
        <p:grpSp>
          <p:nvGrpSpPr>
            <p:cNvPr id="4" name="Group 3"/>
            <p:cNvGrpSpPr/>
            <p:nvPr/>
          </p:nvGrpSpPr>
          <p:grpSpPr>
            <a:xfrm>
              <a:off x="3856501" y="3918487"/>
              <a:ext cx="1750033" cy="1806550"/>
              <a:chOff x="5276228" y="3918487"/>
              <a:chExt cx="1750033" cy="1806550"/>
            </a:xfrm>
          </p:grpSpPr>
          <p:grpSp>
            <p:nvGrpSpPr>
              <p:cNvPr id="42" name="Group 41"/>
              <p:cNvGrpSpPr/>
              <p:nvPr/>
            </p:nvGrpSpPr>
            <p:grpSpPr>
              <a:xfrm>
                <a:off x="5276230" y="3918487"/>
                <a:ext cx="1750031" cy="1198375"/>
                <a:chOff x="3648511" y="3724892"/>
                <a:chExt cx="1648085" cy="1198375"/>
              </a:xfrm>
            </p:grpSpPr>
            <p:sp>
              <p:nvSpPr>
                <p:cNvPr id="34" name="Freeform 33"/>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Fetches data based on entries in object dates availability</a:t>
                  </a:r>
                  <a:endParaRPr lang="en-US" sz="1300" kern="1200" dirty="0">
                    <a:solidFill>
                      <a:schemeClr val="tx2">
                        <a:lumMod val="75000"/>
                        <a:lumOff val="25000"/>
                      </a:schemeClr>
                    </a:solidFill>
                  </a:endParaRPr>
                </a:p>
              </p:txBody>
            </p:sp>
            <p:sp>
              <p:nvSpPr>
                <p:cNvPr id="41" name="Freeform 40"/>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This helps to filter only for new data from </a:t>
                  </a:r>
                  <a:r>
                    <a:rPr lang="en-IN" sz="1200" dirty="0">
                      <a:solidFill>
                        <a:schemeClr val="tx2">
                          <a:lumMod val="75000"/>
                          <a:lumOff val="25000"/>
                        </a:schemeClr>
                      </a:solidFill>
                    </a:rPr>
                    <a:t>Raw</a:t>
                  </a:r>
                </a:p>
              </p:txBody>
            </p:sp>
          </p:grpSp>
          <p:sp>
            <p:nvSpPr>
              <p:cNvPr id="47" name="Freeform 46"/>
              <p:cNvSpPr/>
              <p:nvPr/>
            </p:nvSpPr>
            <p:spPr>
              <a:xfrm>
                <a:off x="5276228" y="5141707"/>
                <a:ext cx="1750031"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Apply the merge statement - insert, update &amp; soft delete</a:t>
                </a:r>
              </a:p>
            </p:txBody>
          </p:sp>
        </p:grpSp>
        <p:sp>
          <p:nvSpPr>
            <p:cNvPr id="38" name="5-Point Star 37"/>
            <p:cNvSpPr/>
            <p:nvPr/>
          </p:nvSpPr>
          <p:spPr>
            <a:xfrm>
              <a:off x="3695756" y="3760910"/>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1" name="TextBox 30"/>
            <p:cNvSpPr txBox="1"/>
            <p:nvPr/>
          </p:nvSpPr>
          <p:spPr>
            <a:xfrm>
              <a:off x="9387007" y="2028546"/>
              <a:ext cx="941598" cy="492443"/>
            </a:xfrm>
            <a:prstGeom prst="rect">
              <a:avLst/>
            </a:prstGeom>
            <a:noFill/>
          </p:spPr>
          <p:txBody>
            <a:bodyPr wrap="square" rtlCol="0">
              <a:spAutoFit/>
            </a:bodyPr>
            <a:lstStyle/>
            <a:p>
              <a:pPr algn="ctr"/>
              <a:r>
                <a:rPr lang="en-IN" sz="1300" dirty="0">
                  <a:solidFill>
                    <a:srgbClr val="424242"/>
                  </a:solidFill>
                </a:rPr>
                <a:t>SQLDB (Metadata)</a:t>
              </a:r>
              <a:endParaRPr lang="en-US" sz="1300" dirty="0">
                <a:solidFill>
                  <a:srgbClr val="424242"/>
                </a:solidFill>
              </a:endParaRPr>
            </a:p>
          </p:txBody>
        </p:sp>
        <p:sp>
          <p:nvSpPr>
            <p:cNvPr id="32" name="Right Arrow 31"/>
            <p:cNvSpPr/>
            <p:nvPr/>
          </p:nvSpPr>
          <p:spPr>
            <a:xfrm>
              <a:off x="6696594" y="2882364"/>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p:cNvPicPr>
              <a:picLocks noChangeAspect="1"/>
            </p:cNvPicPr>
            <p:nvPr/>
          </p:nvPicPr>
          <p:blipFill rotWithShape="1">
            <a:blip r:embed="rId8">
              <a:extLst>
                <a:ext uri="{BEBA8EAE-BF5A-486C-A8C5-ECC9F3942E4B}">
                  <a14:imgProps xmlns:a14="http://schemas.microsoft.com/office/drawing/2010/main">
                    <a14:imgLayer r:embed="rId9">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27867" r="28400"/>
            <a:stretch/>
          </p:blipFill>
          <p:spPr>
            <a:xfrm>
              <a:off x="7521093" y="2582538"/>
              <a:ext cx="815199" cy="793560"/>
            </a:xfrm>
            <a:prstGeom prst="rect">
              <a:avLst/>
            </a:prstGeom>
          </p:spPr>
        </p:pic>
        <p:sp>
          <p:nvSpPr>
            <p:cNvPr id="36" name="TextBox 35"/>
            <p:cNvSpPr txBox="1"/>
            <p:nvPr/>
          </p:nvSpPr>
          <p:spPr>
            <a:xfrm>
              <a:off x="7457893" y="2100420"/>
              <a:ext cx="941598" cy="292388"/>
            </a:xfrm>
            <a:prstGeom prst="rect">
              <a:avLst/>
            </a:prstGeom>
            <a:noFill/>
          </p:spPr>
          <p:txBody>
            <a:bodyPr wrap="square" rtlCol="0">
              <a:spAutoFit/>
            </a:bodyPr>
            <a:lstStyle/>
            <a:p>
              <a:pPr algn="ctr"/>
              <a:r>
                <a:rPr lang="en-IN" sz="1300" dirty="0">
                  <a:solidFill>
                    <a:srgbClr val="424242"/>
                  </a:solidFill>
                </a:rPr>
                <a:t>ADLS</a:t>
              </a:r>
              <a:endParaRPr lang="en-US" sz="1300" dirty="0">
                <a:solidFill>
                  <a:srgbClr val="424242"/>
                </a:solidFill>
              </a:endParaRPr>
            </a:p>
          </p:txBody>
        </p:sp>
        <p:sp>
          <p:nvSpPr>
            <p:cNvPr id="50" name="Freeform 49"/>
            <p:cNvSpPr/>
            <p:nvPr/>
          </p:nvSpPr>
          <p:spPr>
            <a:xfrm>
              <a:off x="6055591" y="3910284"/>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Loads the data in delta table</a:t>
              </a:r>
              <a:endParaRPr lang="en-US" sz="1300" dirty="0">
                <a:solidFill>
                  <a:schemeClr val="tx2">
                    <a:lumMod val="75000"/>
                    <a:lumOff val="25000"/>
                  </a:schemeClr>
                </a:solidFill>
              </a:endParaRPr>
            </a:p>
          </p:txBody>
        </p:sp>
        <p:sp>
          <p:nvSpPr>
            <p:cNvPr id="52" name="5-Point Star 51"/>
            <p:cNvSpPr/>
            <p:nvPr/>
          </p:nvSpPr>
          <p:spPr>
            <a:xfrm>
              <a:off x="5870780" y="375270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115" name="Picture 114"/>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994253" y="2450600"/>
              <a:ext cx="1053881" cy="1053881"/>
            </a:xfrm>
            <a:prstGeom prst="rect">
              <a:avLst/>
            </a:prstGeom>
          </p:spPr>
        </p:pic>
      </p:grpSp>
    </p:spTree>
    <p:extLst>
      <p:ext uri="{BB962C8B-B14F-4D97-AF65-F5344CB8AC3E}">
        <p14:creationId xmlns:p14="http://schemas.microsoft.com/office/powerpoint/2010/main" val="3148477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Raw To Standardised</a:t>
            </a:r>
            <a:r>
              <a:rPr lang="en-US" sz="4200" b="1" dirty="0"/>
              <a:t> (Orchestration)</a:t>
            </a:r>
          </a:p>
        </p:txBody>
      </p:sp>
      <p:sp>
        <p:nvSpPr>
          <p:cNvPr id="3" name="Subtitle 2"/>
          <p:cNvSpPr>
            <a:spLocks noGrp="1"/>
          </p:cNvSpPr>
          <p:nvPr>
            <p:ph type="subTitle" idx="1"/>
          </p:nvPr>
        </p:nvSpPr>
        <p:spPr>
          <a:xfrm>
            <a:off x="457199" y="3619499"/>
            <a:ext cx="11277601" cy="1919151"/>
          </a:xfrm>
        </p:spPr>
        <p:txBody>
          <a:bodyPr/>
          <a:lstStyle/>
          <a:p>
            <a:r>
              <a:rPr lang="en-US" b="1" dirty="0">
                <a:solidFill>
                  <a:srgbClr val="000000"/>
                </a:solidFill>
              </a:rPr>
              <a:t>Summary:</a:t>
            </a:r>
          </a:p>
          <a:p>
            <a:pPr marL="285750" indent="-285750">
              <a:buFont typeface="Arial" panose="020B0604020202020204" pitchFamily="34" charset="0"/>
              <a:buChar char="•"/>
            </a:pPr>
            <a:r>
              <a:rPr lang="en-IN" dirty="0">
                <a:solidFill>
                  <a:srgbClr val="000000"/>
                </a:solidFill>
              </a:rPr>
              <a:t>“onn_task_dbnotebook_group1” Activity – calls generic notebook, load_scd2withdelete_dbdt_dbdt that uses object date availability to create a </a:t>
            </a:r>
            <a:r>
              <a:rPr lang="en-IN" dirty="0" err="1">
                <a:solidFill>
                  <a:srgbClr val="000000"/>
                </a:solidFill>
              </a:rPr>
              <a:t>where_clause</a:t>
            </a:r>
            <a:r>
              <a:rPr lang="en-IN" dirty="0">
                <a:solidFill>
                  <a:srgbClr val="000000"/>
                </a:solidFill>
              </a:rPr>
              <a:t>. This </a:t>
            </a:r>
            <a:r>
              <a:rPr lang="en-IN" dirty="0" err="1">
                <a:solidFill>
                  <a:srgbClr val="000000"/>
                </a:solidFill>
              </a:rPr>
              <a:t>where_clause</a:t>
            </a:r>
            <a:r>
              <a:rPr lang="en-IN" dirty="0">
                <a:solidFill>
                  <a:srgbClr val="000000"/>
                </a:solidFill>
              </a:rPr>
              <a:t> gets applied as data gets loaded from standardised to conformed</a:t>
            </a:r>
          </a:p>
          <a:p>
            <a:pPr marL="285750" indent="-285750">
              <a:buFont typeface="Arial" panose="020B0604020202020204" pitchFamily="34" charset="0"/>
              <a:buChar char="•"/>
            </a:pPr>
            <a:r>
              <a:rPr lang="en-IN" dirty="0">
                <a:solidFill>
                  <a:srgbClr val="000000"/>
                </a:solidFill>
              </a:rPr>
              <a:t>The generic notebook further calls procedure, </a:t>
            </a:r>
            <a:r>
              <a:rPr lang="en-US" dirty="0" err="1">
                <a:solidFill>
                  <a:srgbClr val="000000"/>
                </a:solidFill>
              </a:rPr>
              <a:t>usp_mark_dates_loaded</a:t>
            </a:r>
            <a:r>
              <a:rPr lang="en-US" dirty="0">
                <a:solidFill>
                  <a:srgbClr val="000000"/>
                </a:solidFill>
              </a:rPr>
              <a:t>. This activity thus helps to update </a:t>
            </a:r>
            <a:r>
              <a:rPr lang="en-US" dirty="0" err="1">
                <a:solidFill>
                  <a:srgbClr val="000000"/>
                </a:solidFill>
              </a:rPr>
              <a:t>tbl_object_dates_availability</a:t>
            </a:r>
            <a:r>
              <a:rPr lang="en-US" dirty="0">
                <a:solidFill>
                  <a:srgbClr val="000000"/>
                </a:solidFill>
              </a:rPr>
              <a:t> to mark a </a:t>
            </a:r>
            <a:r>
              <a:rPr lang="en-US" dirty="0" err="1">
                <a:solidFill>
                  <a:srgbClr val="000000"/>
                </a:solidFill>
              </a:rPr>
              <a:t>batch_task_id</a:t>
            </a:r>
            <a:r>
              <a:rPr lang="en-US" dirty="0">
                <a:solidFill>
                  <a:srgbClr val="000000"/>
                </a:solidFill>
              </a:rPr>
              <a:t> for an object (standardised) as loaded</a:t>
            </a:r>
            <a:endParaRPr lang="en-IN" dirty="0">
              <a:solidFill>
                <a:srgbClr val="000000"/>
              </a:solidFill>
            </a:endParaRPr>
          </a:p>
        </p:txBody>
      </p:sp>
      <p:pic>
        <p:nvPicPr>
          <p:cNvPr id="5" name="Picture 4"/>
          <p:cNvPicPr>
            <a:picLocks noChangeAspect="1"/>
          </p:cNvPicPr>
          <p:nvPr/>
        </p:nvPicPr>
        <p:blipFill>
          <a:blip r:embed="rId2"/>
          <a:stretch>
            <a:fillRect/>
          </a:stretch>
        </p:blipFill>
        <p:spPr>
          <a:xfrm>
            <a:off x="3885891" y="1795394"/>
            <a:ext cx="4420217" cy="981212"/>
          </a:xfrm>
          <a:prstGeom prst="rect">
            <a:avLst/>
          </a:prstGeom>
        </p:spPr>
      </p:pic>
    </p:spTree>
    <p:extLst>
      <p:ext uri="{BB962C8B-B14F-4D97-AF65-F5344CB8AC3E}">
        <p14:creationId xmlns:p14="http://schemas.microsoft.com/office/powerpoint/2010/main" val="378699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(Processing)</a:t>
            </a:r>
          </a:p>
        </p:txBody>
      </p:sp>
      <p:grpSp>
        <p:nvGrpSpPr>
          <p:cNvPr id="4" name="Group 3"/>
          <p:cNvGrpSpPr/>
          <p:nvPr/>
        </p:nvGrpSpPr>
        <p:grpSpPr>
          <a:xfrm>
            <a:off x="245027" y="970006"/>
            <a:ext cx="11701947" cy="4917989"/>
            <a:chOff x="245027" y="970006"/>
            <a:chExt cx="11701947" cy="4917989"/>
          </a:xfrm>
        </p:grpSpPr>
        <p:grpSp>
          <p:nvGrpSpPr>
            <p:cNvPr id="49" name="Group 48"/>
            <p:cNvGrpSpPr/>
            <p:nvPr/>
          </p:nvGrpSpPr>
          <p:grpSpPr>
            <a:xfrm>
              <a:off x="245027" y="1499341"/>
              <a:ext cx="1071154" cy="793559"/>
              <a:chOff x="999310" y="1342340"/>
              <a:chExt cx="1071154" cy="936386"/>
            </a:xfrm>
          </p:grpSpPr>
          <p:pic>
            <p:nvPicPr>
              <p:cNvPr id="76" name="Picture 75"/>
              <p:cNvPicPr>
                <a:picLocks noChangeAspect="1"/>
              </p:cNvPicPr>
              <p:nvPr/>
            </p:nvPicPr>
            <p:blipFill rotWithShape="1">
              <a:blip r:embed="rId2">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77" name="Picture 76"/>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sp>
          <p:nvSpPr>
            <p:cNvPr id="51" name="Right Arrow 50"/>
            <p:cNvSpPr/>
            <p:nvPr/>
          </p:nvSpPr>
          <p:spPr>
            <a:xfrm>
              <a:off x="1554896" y="180094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ight Arrow 51"/>
            <p:cNvSpPr/>
            <p:nvPr/>
          </p:nvSpPr>
          <p:spPr>
            <a:xfrm>
              <a:off x="3549284" y="180094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ight Arrow 52"/>
            <p:cNvSpPr/>
            <p:nvPr/>
          </p:nvSpPr>
          <p:spPr>
            <a:xfrm>
              <a:off x="10200443" y="180476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Picture 53"/>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010588" y="1499341"/>
              <a:ext cx="936386" cy="793559"/>
            </a:xfrm>
            <a:prstGeom prst="rect">
              <a:avLst/>
            </a:prstGeom>
            <a:solidFill>
              <a:schemeClr val="tx1"/>
            </a:solidFill>
          </p:spPr>
        </p:pic>
        <p:grpSp>
          <p:nvGrpSpPr>
            <p:cNvPr id="55" name="Group 54"/>
            <p:cNvGrpSpPr/>
            <p:nvPr/>
          </p:nvGrpSpPr>
          <p:grpSpPr>
            <a:xfrm>
              <a:off x="754837" y="2844485"/>
              <a:ext cx="1576531" cy="1806552"/>
              <a:chOff x="955415" y="3360918"/>
              <a:chExt cx="1900644" cy="1300827"/>
            </a:xfrm>
          </p:grpSpPr>
          <p:sp>
            <p:nvSpPr>
              <p:cNvPr id="73" name="Freeform 72"/>
              <p:cNvSpPr/>
              <p:nvPr/>
            </p:nvSpPr>
            <p:spPr>
              <a:xfrm>
                <a:off x="955415" y="3360918"/>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Looks for active Batch and BED in SQLDB</a:t>
                </a:r>
                <a:endParaRPr lang="en-US" sz="1300" kern="1200" dirty="0">
                  <a:solidFill>
                    <a:schemeClr val="tx2">
                      <a:lumMod val="75000"/>
                      <a:lumOff val="25000"/>
                    </a:schemeClr>
                  </a:solidFill>
                </a:endParaRPr>
              </a:p>
            </p:txBody>
          </p:sp>
          <p:sp>
            <p:nvSpPr>
              <p:cNvPr id="74" name="Freeform 73"/>
              <p:cNvSpPr/>
              <p:nvPr/>
            </p:nvSpPr>
            <p:spPr>
              <a:xfrm>
                <a:off x="955415" y="3805607"/>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Calls custom notebook for individual entity</a:t>
                </a:r>
              </a:p>
            </p:txBody>
          </p:sp>
          <p:sp>
            <p:nvSpPr>
              <p:cNvPr id="75" name="Freeform 74"/>
              <p:cNvSpPr/>
              <p:nvPr/>
            </p:nvSpPr>
            <p:spPr>
              <a:xfrm>
                <a:off x="955415" y="4241712"/>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56" name="5-Point Star 55"/>
            <p:cNvSpPr/>
            <p:nvPr/>
          </p:nvSpPr>
          <p:spPr>
            <a:xfrm>
              <a:off x="592443" y="2693614"/>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57" name="Group 56"/>
            <p:cNvGrpSpPr/>
            <p:nvPr/>
          </p:nvGrpSpPr>
          <p:grpSpPr>
            <a:xfrm>
              <a:off x="3004640" y="2844485"/>
              <a:ext cx="1638119" cy="1198375"/>
              <a:chOff x="3648511" y="3724892"/>
              <a:chExt cx="1648085" cy="1198375"/>
            </a:xfrm>
          </p:grpSpPr>
          <p:sp>
            <p:nvSpPr>
              <p:cNvPr id="71" name="Freeform 70"/>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indent="-457200" defTabSz="1555750">
                  <a:lnSpc>
                    <a:spcPct val="90000"/>
                  </a:lnSpc>
                  <a:spcBef>
                    <a:spcPct val="0"/>
                  </a:spcBef>
                  <a:spcAft>
                    <a:spcPct val="15000"/>
                  </a:spcAft>
                </a:pPr>
                <a:r>
                  <a:rPr lang="en-IN" sz="1300" dirty="0">
                    <a:solidFill>
                      <a:schemeClr val="tx2">
                        <a:lumMod val="75000"/>
                        <a:lumOff val="25000"/>
                      </a:schemeClr>
                    </a:solidFill>
                  </a:rPr>
                  <a:t>Fetches data based on entries in object dates availability </a:t>
                </a:r>
                <a:endParaRPr lang="en-US" sz="1300" kern="1200" dirty="0">
                  <a:solidFill>
                    <a:schemeClr val="tx2">
                      <a:lumMod val="75000"/>
                      <a:lumOff val="25000"/>
                    </a:schemeClr>
                  </a:solidFill>
                </a:endParaRPr>
              </a:p>
            </p:txBody>
          </p:sp>
          <p:sp>
            <p:nvSpPr>
              <p:cNvPr id="72" name="Freeform 71"/>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This helps to filter only for new data from </a:t>
                </a:r>
                <a:r>
                  <a:rPr lang="en-IN" sz="1200" dirty="0">
                    <a:solidFill>
                      <a:schemeClr val="tx2">
                        <a:lumMod val="75000"/>
                        <a:lumOff val="25000"/>
                      </a:schemeClr>
                    </a:solidFill>
                  </a:rPr>
                  <a:t>standardised</a:t>
                </a:r>
              </a:p>
            </p:txBody>
          </p:sp>
        </p:grpSp>
        <p:grpSp>
          <p:nvGrpSpPr>
            <p:cNvPr id="58" name="Group 57"/>
            <p:cNvGrpSpPr/>
            <p:nvPr/>
          </p:nvGrpSpPr>
          <p:grpSpPr>
            <a:xfrm>
              <a:off x="9806686" y="2834917"/>
              <a:ext cx="1648087" cy="1203552"/>
              <a:chOff x="6065138" y="3719715"/>
              <a:chExt cx="1648087" cy="1203552"/>
            </a:xfrm>
          </p:grpSpPr>
          <p:sp>
            <p:nvSpPr>
              <p:cNvPr id="69" name="Freeform 68"/>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object date availability for conformed tables</a:t>
                </a:r>
                <a:endParaRPr lang="en-US" sz="1300" kern="1200" dirty="0">
                  <a:solidFill>
                    <a:schemeClr val="tx2">
                      <a:lumMod val="75000"/>
                      <a:lumOff val="25000"/>
                    </a:schemeClr>
                  </a:solidFill>
                </a:endParaRPr>
              </a:p>
            </p:txBody>
          </p:sp>
          <p:sp>
            <p:nvSpPr>
              <p:cNvPr id="70" name="Freeform 69"/>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59" name="5-Point Star 58"/>
            <p:cNvSpPr/>
            <p:nvPr/>
          </p:nvSpPr>
          <p:spPr>
            <a:xfrm>
              <a:off x="2843893" y="2686908"/>
              <a:ext cx="319547"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60" name="5-Point Star 59"/>
            <p:cNvSpPr/>
            <p:nvPr/>
          </p:nvSpPr>
          <p:spPr>
            <a:xfrm>
              <a:off x="9645941" y="2677340"/>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61" name="Picture 60"/>
            <p:cNvPicPr>
              <a:picLocks noChangeAspect="1"/>
            </p:cNvPicPr>
            <p:nvPr/>
          </p:nvPicPr>
          <p:blipFill rotWithShape="1">
            <a:blip r:embed="rId7">
              <a:extLst>
                <a:ext uri="{28A0092B-C50C-407E-A947-70E740481C1C}">
                  <a14:useLocalDpi xmlns:a14="http://schemas.microsoft.com/office/drawing/2010/main" val="0"/>
                </a:ext>
              </a:extLst>
            </a:blip>
            <a:srcRect l="25822" r="26889"/>
            <a:stretch/>
          </p:blipFill>
          <p:spPr>
            <a:xfrm>
              <a:off x="6697645" y="1349145"/>
              <a:ext cx="1418308" cy="1071729"/>
            </a:xfrm>
            <a:prstGeom prst="rect">
              <a:avLst/>
            </a:prstGeom>
          </p:spPr>
        </p:pic>
        <p:pic>
          <p:nvPicPr>
            <p:cNvPr id="62" name="Picture 61"/>
            <p:cNvPicPr>
              <a:picLocks noChangeAspect="1"/>
            </p:cNvPicPr>
            <p:nvPr/>
          </p:nvPicPr>
          <p:blipFill rotWithShape="1">
            <a:blip r:embed="rId8">
              <a:extLst>
                <a:ext uri="{BEBA8EAE-BF5A-486C-A8C5-ECC9F3942E4B}">
                  <a14:imgProps xmlns:a14="http://schemas.microsoft.com/office/drawing/2010/main">
                    <a14:imgLayer r:embed="rId9">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10999" r="9061"/>
            <a:stretch/>
          </p:blipFill>
          <p:spPr>
            <a:xfrm>
              <a:off x="4363359" y="1417800"/>
              <a:ext cx="1290638" cy="934421"/>
            </a:xfrm>
            <a:prstGeom prst="rect">
              <a:avLst/>
            </a:prstGeom>
          </p:spPr>
        </p:pic>
        <p:sp>
          <p:nvSpPr>
            <p:cNvPr id="63" name="Freeform 62"/>
            <p:cNvSpPr/>
            <p:nvPr/>
          </p:nvSpPr>
          <p:spPr>
            <a:xfrm>
              <a:off x="5365212" y="2848054"/>
              <a:ext cx="1740988"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Apply the merge statement - insert, update &amp; soft delete</a:t>
              </a:r>
            </a:p>
          </p:txBody>
        </p:sp>
        <p:sp>
          <p:nvSpPr>
            <p:cNvPr id="64" name="5-Point Star 63"/>
            <p:cNvSpPr/>
            <p:nvPr/>
          </p:nvSpPr>
          <p:spPr>
            <a:xfrm>
              <a:off x="5204465" y="269047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65" name="Right Arrow 64"/>
            <p:cNvSpPr/>
            <p:nvPr/>
          </p:nvSpPr>
          <p:spPr>
            <a:xfrm>
              <a:off x="5887500" y="180476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65"/>
            <p:cNvSpPr/>
            <p:nvPr/>
          </p:nvSpPr>
          <p:spPr>
            <a:xfrm>
              <a:off x="3003666" y="4074575"/>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Custom SQL helps to fetch data as per target structure </a:t>
              </a:r>
              <a:endParaRPr lang="en-IN" sz="1200" dirty="0">
                <a:solidFill>
                  <a:schemeClr val="tx2">
                    <a:lumMod val="75000"/>
                    <a:lumOff val="25000"/>
                  </a:schemeClr>
                </a:solidFill>
              </a:endParaRPr>
            </a:p>
          </p:txBody>
        </p:sp>
        <p:sp>
          <p:nvSpPr>
            <p:cNvPr id="67" name="Freeform 66"/>
            <p:cNvSpPr/>
            <p:nvPr/>
          </p:nvSpPr>
          <p:spPr>
            <a:xfrm>
              <a:off x="3020023" y="4690323"/>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BED filter is applied in custom SQL Notebook</a:t>
              </a:r>
              <a:endParaRPr lang="en-IN" sz="1200" dirty="0">
                <a:solidFill>
                  <a:schemeClr val="tx2">
                    <a:lumMod val="75000"/>
                    <a:lumOff val="25000"/>
                  </a:schemeClr>
                </a:solidFill>
              </a:endParaRPr>
            </a:p>
          </p:txBody>
        </p:sp>
        <p:sp>
          <p:nvSpPr>
            <p:cNvPr id="68" name="Freeform 67"/>
            <p:cNvSpPr/>
            <p:nvPr/>
          </p:nvSpPr>
          <p:spPr>
            <a:xfrm>
              <a:off x="3020023" y="5304665"/>
              <a:ext cx="1639093"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NULLs are assigned to respective DEFAULT values</a:t>
              </a:r>
              <a:endParaRPr lang="en-IN" sz="1200" dirty="0">
                <a:solidFill>
                  <a:schemeClr val="tx2">
                    <a:lumMod val="75000"/>
                    <a:lumOff val="25000"/>
                  </a:schemeClr>
                </a:solidFill>
              </a:endParaRPr>
            </a:p>
          </p:txBody>
        </p:sp>
        <p:pic>
          <p:nvPicPr>
            <p:cNvPr id="36" name="Picture 35"/>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312829" y="1359521"/>
              <a:ext cx="1053881" cy="1053881"/>
            </a:xfrm>
            <a:prstGeom prst="rect">
              <a:avLst/>
            </a:prstGeom>
          </p:spPr>
        </p:pic>
        <p:sp>
          <p:nvSpPr>
            <p:cNvPr id="33" name="TextBox 32"/>
            <p:cNvSpPr txBox="1"/>
            <p:nvPr/>
          </p:nvSpPr>
          <p:spPr>
            <a:xfrm>
              <a:off x="11005376" y="970006"/>
              <a:ext cx="941598" cy="492443"/>
            </a:xfrm>
            <a:prstGeom prst="rect">
              <a:avLst/>
            </a:prstGeom>
            <a:noFill/>
          </p:spPr>
          <p:txBody>
            <a:bodyPr wrap="square" rtlCol="0">
              <a:spAutoFit/>
            </a:bodyPr>
            <a:lstStyle/>
            <a:p>
              <a:pPr algn="ctr"/>
              <a:r>
                <a:rPr lang="en-IN" sz="1300" dirty="0">
                  <a:solidFill>
                    <a:srgbClr val="424242"/>
                  </a:solidFill>
                </a:rPr>
                <a:t>SQLDB (Metadata)</a:t>
              </a:r>
              <a:endParaRPr lang="en-US" sz="1300" dirty="0">
                <a:solidFill>
                  <a:srgbClr val="424242"/>
                </a:solidFill>
              </a:endParaRPr>
            </a:p>
          </p:txBody>
        </p:sp>
        <p:sp>
          <p:nvSpPr>
            <p:cNvPr id="34" name="Right Arrow 33"/>
            <p:cNvSpPr/>
            <p:nvPr/>
          </p:nvSpPr>
          <p:spPr>
            <a:xfrm>
              <a:off x="8345526" y="1795354"/>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p:cNvPicPr>
              <a:picLocks noChangeAspect="1"/>
            </p:cNvPicPr>
            <p:nvPr/>
          </p:nvPicPr>
          <p:blipFill rotWithShape="1">
            <a:blip r:embed="rId12">
              <a:extLst>
                <a:ext uri="{BEBA8EAE-BF5A-486C-A8C5-ECC9F3942E4B}">
                  <a14:imgProps xmlns:a14="http://schemas.microsoft.com/office/drawing/2010/main">
                    <a14:imgLayer r:embed="rId13">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27867" r="28400"/>
            <a:stretch/>
          </p:blipFill>
          <p:spPr>
            <a:xfrm>
              <a:off x="9155671" y="1508437"/>
              <a:ext cx="815199" cy="793560"/>
            </a:xfrm>
            <a:prstGeom prst="rect">
              <a:avLst/>
            </a:prstGeom>
          </p:spPr>
        </p:pic>
        <p:sp>
          <p:nvSpPr>
            <p:cNvPr id="37" name="TextBox 36"/>
            <p:cNvSpPr txBox="1"/>
            <p:nvPr/>
          </p:nvSpPr>
          <p:spPr>
            <a:xfrm>
              <a:off x="9155670" y="1032129"/>
              <a:ext cx="815200" cy="292388"/>
            </a:xfrm>
            <a:prstGeom prst="rect">
              <a:avLst/>
            </a:prstGeom>
            <a:noFill/>
          </p:spPr>
          <p:txBody>
            <a:bodyPr wrap="square" rtlCol="0">
              <a:spAutoFit/>
            </a:bodyPr>
            <a:lstStyle/>
            <a:p>
              <a:pPr algn="ctr"/>
              <a:r>
                <a:rPr lang="en-IN" sz="1300" dirty="0">
                  <a:solidFill>
                    <a:srgbClr val="424242"/>
                  </a:solidFill>
                </a:rPr>
                <a:t>ADLS</a:t>
              </a:r>
              <a:endParaRPr lang="en-US" sz="1300" dirty="0">
                <a:solidFill>
                  <a:srgbClr val="424242"/>
                </a:solidFill>
              </a:endParaRPr>
            </a:p>
          </p:txBody>
        </p:sp>
        <p:sp>
          <p:nvSpPr>
            <p:cNvPr id="38" name="Freeform 37"/>
            <p:cNvSpPr/>
            <p:nvPr/>
          </p:nvSpPr>
          <p:spPr>
            <a:xfrm>
              <a:off x="7680116" y="2836183"/>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Loads the data in delta table</a:t>
              </a:r>
              <a:endParaRPr lang="en-US" sz="1300" dirty="0">
                <a:solidFill>
                  <a:schemeClr val="tx2">
                    <a:lumMod val="75000"/>
                    <a:lumOff val="25000"/>
                  </a:schemeClr>
                </a:solidFill>
              </a:endParaRPr>
            </a:p>
          </p:txBody>
        </p:sp>
        <p:sp>
          <p:nvSpPr>
            <p:cNvPr id="39" name="5-Point Star 38"/>
            <p:cNvSpPr/>
            <p:nvPr/>
          </p:nvSpPr>
          <p:spPr>
            <a:xfrm>
              <a:off x="7495305" y="2678606"/>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sp>
        <p:nvSpPr>
          <p:cNvPr id="40" name="Freeform 39"/>
          <p:cNvSpPr/>
          <p:nvPr/>
        </p:nvSpPr>
        <p:spPr>
          <a:xfrm>
            <a:off x="5365212" y="3459530"/>
            <a:ext cx="1740988"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Merge joins are done on Partition Key and HBK</a:t>
            </a:r>
          </a:p>
        </p:txBody>
      </p:sp>
    </p:spTree>
    <p:extLst>
      <p:ext uri="{BB962C8B-B14F-4D97-AF65-F5344CB8AC3E}">
        <p14:creationId xmlns:p14="http://schemas.microsoft.com/office/powerpoint/2010/main" val="576012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(Orchestration)</a:t>
            </a:r>
          </a:p>
        </p:txBody>
      </p:sp>
      <p:sp>
        <p:nvSpPr>
          <p:cNvPr id="3" name="Subtitle 2"/>
          <p:cNvSpPr>
            <a:spLocks noGrp="1"/>
          </p:cNvSpPr>
          <p:nvPr>
            <p:ph type="subTitle" idx="1"/>
          </p:nvPr>
        </p:nvSpPr>
        <p:spPr>
          <a:xfrm>
            <a:off x="457199" y="3619499"/>
            <a:ext cx="11277601" cy="2036717"/>
          </a:xfrm>
        </p:spPr>
        <p:txBody>
          <a:bodyPr/>
          <a:lstStyle/>
          <a:p>
            <a:r>
              <a:rPr lang="en-US" b="1" dirty="0">
                <a:solidFill>
                  <a:srgbClr val="000000"/>
                </a:solidFill>
              </a:rPr>
              <a:t>Summary:</a:t>
            </a:r>
          </a:p>
          <a:p>
            <a:pPr marL="285750" indent="-285750">
              <a:buFont typeface="Arial" panose="020B0604020202020204" pitchFamily="34" charset="0"/>
              <a:buChar char="•"/>
            </a:pPr>
            <a:r>
              <a:rPr lang="en-IN" dirty="0">
                <a:solidFill>
                  <a:srgbClr val="000000"/>
                </a:solidFill>
              </a:rPr>
              <a:t>“onn_task_dbnotebook_group1” Activity – calls custom notebook for individual entity that uses object date availability to create a </a:t>
            </a:r>
            <a:r>
              <a:rPr lang="en-IN" dirty="0" err="1">
                <a:solidFill>
                  <a:srgbClr val="000000"/>
                </a:solidFill>
              </a:rPr>
              <a:t>where_clause</a:t>
            </a:r>
            <a:r>
              <a:rPr lang="en-IN" dirty="0">
                <a:solidFill>
                  <a:srgbClr val="000000"/>
                </a:solidFill>
              </a:rPr>
              <a:t>. This </a:t>
            </a:r>
            <a:r>
              <a:rPr lang="en-IN" dirty="0" err="1">
                <a:solidFill>
                  <a:srgbClr val="000000"/>
                </a:solidFill>
              </a:rPr>
              <a:t>where_clause</a:t>
            </a:r>
            <a:r>
              <a:rPr lang="en-IN" dirty="0">
                <a:solidFill>
                  <a:srgbClr val="000000"/>
                </a:solidFill>
              </a:rPr>
              <a:t> gets applied as data gets loaded from standardised to conformed</a:t>
            </a:r>
          </a:p>
          <a:p>
            <a:pPr marL="285750" indent="-285750">
              <a:buFont typeface="Arial" panose="020B0604020202020204" pitchFamily="34" charset="0"/>
              <a:buChar char="•"/>
            </a:pPr>
            <a:r>
              <a:rPr lang="en-IN" dirty="0">
                <a:solidFill>
                  <a:srgbClr val="000000"/>
                </a:solidFill>
              </a:rPr>
              <a:t>The notebook has set of commands that gets executed only when flag (generated by using history of transaction performed on delta table) </a:t>
            </a:r>
            <a:r>
              <a:rPr lang="en-IN" dirty="0" err="1">
                <a:solidFill>
                  <a:srgbClr val="000000"/>
                </a:solidFill>
              </a:rPr>
              <a:t>dependentTableIsUpdated</a:t>
            </a:r>
            <a:r>
              <a:rPr lang="en-IN" dirty="0">
                <a:solidFill>
                  <a:srgbClr val="000000"/>
                </a:solidFill>
              </a:rPr>
              <a:t> = true i.e. if none of source table are update the commands won’t get executed</a:t>
            </a:r>
          </a:p>
          <a:p>
            <a:pPr marL="285750" indent="-285750">
              <a:buFont typeface="Arial" panose="020B0604020202020204" pitchFamily="34" charset="0"/>
              <a:buChar char="•"/>
            </a:pPr>
            <a:r>
              <a:rPr lang="en-IN" dirty="0">
                <a:solidFill>
                  <a:srgbClr val="000000"/>
                </a:solidFill>
              </a:rPr>
              <a:t>The notebook further calls procedure, </a:t>
            </a:r>
            <a:r>
              <a:rPr lang="en-US" dirty="0" err="1">
                <a:solidFill>
                  <a:srgbClr val="000000"/>
                </a:solidFill>
              </a:rPr>
              <a:t>usp_mark_dates_loaded</a:t>
            </a:r>
            <a:r>
              <a:rPr lang="en-US" dirty="0">
                <a:solidFill>
                  <a:srgbClr val="000000"/>
                </a:solidFill>
              </a:rPr>
              <a:t>. This activity thus helps to update </a:t>
            </a:r>
            <a:r>
              <a:rPr lang="en-US" dirty="0" err="1">
                <a:solidFill>
                  <a:srgbClr val="000000"/>
                </a:solidFill>
              </a:rPr>
              <a:t>tbl_object_dates_availability</a:t>
            </a:r>
            <a:r>
              <a:rPr lang="en-US" dirty="0">
                <a:solidFill>
                  <a:srgbClr val="000000"/>
                </a:solidFill>
              </a:rPr>
              <a:t> to mark a </a:t>
            </a:r>
            <a:r>
              <a:rPr lang="en-US" dirty="0" err="1">
                <a:solidFill>
                  <a:srgbClr val="000000"/>
                </a:solidFill>
              </a:rPr>
              <a:t>batch_task_id</a:t>
            </a:r>
            <a:r>
              <a:rPr lang="en-US" dirty="0">
                <a:solidFill>
                  <a:srgbClr val="000000"/>
                </a:solidFill>
              </a:rPr>
              <a:t> for an object (conformed) as loaded</a:t>
            </a:r>
            <a:endParaRPr lang="en-IN" dirty="0">
              <a:solidFill>
                <a:srgbClr val="000000"/>
              </a:solidFill>
            </a:endParaRPr>
          </a:p>
        </p:txBody>
      </p:sp>
      <p:pic>
        <p:nvPicPr>
          <p:cNvPr id="5" name="Picture 4"/>
          <p:cNvPicPr>
            <a:picLocks noChangeAspect="1"/>
          </p:cNvPicPr>
          <p:nvPr/>
        </p:nvPicPr>
        <p:blipFill>
          <a:blip r:embed="rId2"/>
          <a:stretch>
            <a:fillRect/>
          </a:stretch>
        </p:blipFill>
        <p:spPr>
          <a:xfrm>
            <a:off x="3885891" y="1795394"/>
            <a:ext cx="4420217" cy="981212"/>
          </a:xfrm>
          <a:prstGeom prst="rect">
            <a:avLst/>
          </a:prstGeom>
        </p:spPr>
      </p:pic>
      <p:sp>
        <p:nvSpPr>
          <p:cNvPr id="4" name="AutoShape 2" descr="data:image/jpg;base64,%20/9j/4AAQSkZJRgABAQEAYABgAAD/2wBDAAUDBAQEAwUEBAQFBQUGBwwIBwcHBw8LCwkMEQ8SEhEPERETFhwXExQaFRERGCEYGh0dHx8fExciJCIeJBweHx7/2wBDAQUFBQcGBw4ICA4eFBEUHh4eHh4eHh4eHh4eHh4eHh4eHh4eHh4eHh4eHh4eHh4eHh4eHh4eHh4eHh4eHh4eHh7/wAARCACrAl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LooooAKKKKACiiigAoqCW48u8gt/ImbzVY+Yq5RNuOGPbOePoa5jR/iJ4d1PcY/7Qt1+xy3sLXNm8a3EMRAkeMkYbGRx15HFAHXUVyMfxB0dvDh8QSafrUNiTbiEy2Dq1wZ2Cx+WvVsll+mRWt4c8Sabrz3UFp9pgu7NlW5tLqBoZotwypKsM4IBwRkHB54NAGxRWNpHifR9W1/UdEsLh5bvTlQ3P7pgg3FlwrEYbBRgcZwRitmgAooooAKKKKACiiigAooooAKKKKACiiigAooooAKKKKACiiigAooqCW48u8gt/ImbzQx8xVyibcfePbOePoaAJ6K5XR/H2g6pqS2MS38Dy+f9nkuLR447jyGIlEbEYYrg8egzUFt8RdEm8MzeJDZazDpccMcyTy2DqJlkYKnljqxJYce9AHY0Vi+HfE2ma5dXVlbrd219aqrT2l5btDMiNna+1hypwcMMjIIqL/hLtJXxPD4emjv7e6uHkjtpJrORIZ3RdzKkhGGIUE++DjOKAN+iiigAooooAKKKKACiiigAooooAKKKKACiiigAooooAKKKKACiiigAooqpqWoW+nqj3Ak2tu+ZULBQqM5Jx04U/jigC3RXG2XxJ8N3OlXuouNRtY7TThqbJc2bxvJakZEqAj5xxjjnOPWrF1460210uG/utL1yAXF2lnbwvYOJZpHUsu1e4wp59qAOqorK8N+INN8QW88unvKHtpTDcwTxNFNBIADtdGAIOCCOxBBGai8PeKNG1+/1Oy0q4eeTTZFjuGMTKmWBI2kjDDg8jI4oA2qKKKACiqWsapa6VbfaLsS+UA7MyRltoRGck46cKfxwK5qH4k+G20nUNSmGo2iWFkl/LFcWTxyNbvnbIikfOCQRx3FAHZUVy15430+z0+3u7vS9cga5vBZ29u9gwmlkKF/lTuMK3PtWr4c1/Tdfs5rjT5Jc28phuIZomjlgkABKOjAFTgg+4II4NAGpRWBoHi3StZ1ifSIY7+2voYFuPJvLSSBpISxUSKHAyuRj1HcVv0AFFFFABRRRQAUUUUAFFFFABRRRQAUUUUAZt6F/t/TWKxFhHNgmYqw4XOE/i9/T8a8i8LeA/FVqtsh0+6tHg0i+sbp7zU1uIpvNB8tYEy3lDeFJPy8DBB7evXp/4n2nDdjMc3Hkbs/d/j/g+nf8K0aAPILHwtrkHwxttGtfCl5a6jZzaZNJHPqiTC5aCWNpNhMjBOEOAdoORXY+FdN1ifxjqvivWLFNMN1ZwWNvZiZZXCRNI5eRl+XJMhAAJwB15wOuooA4vSote/4WnqOoz+HpoNMnsYrSO6NzCwzE8zbtgbdhvMUDjPriu0oooAKKKqXF/FDqlpp7K5kukkdGHQBNuc/99CgC3RRRQAUUUUAFFFFABRRRQAUUUUAFFFFABRRRQAUUUUAFZt8F/t/TWKxFhHNgtMVYcL0T+L39PxrSrOvT/wAT3ThuxlJuPI3Z4X+P+D6d/wAKAPLPCfgnxLZ+IdOuJNPu7YWc+om4mudSWe3lhnaQqsEOT5bFjGS2E4Vgc5xTNJ8Ha9b/AAgn8Mw+Frq11VbSzV2l1RJY7mSKRGYJmQhBhWI4UcivZ6KAOP8AD2nazfeOrnxZq2nLpSLpy6fbWpnWWVx5hkeRymVHO0KAT/ET1xVGK18Sah8Tl1LWvDsw03Tnkh0iSK6hMcYZcPcyLu3l2GVCgfKpPUk476igAooooAKKKKACiiigAooooAKKKKACiiigAooooAKKKKACiiigAooooAKxvFUE11DBbwqzPJ5yDE4RcmGQDcD98ZI47de1bNZurGP+0tJ3m3DG5bZ5kZZifKf7hH3Tjue2RQB43p3w/wDFh8MalZrpl1bSzeEjpMkd/qi3JnuQo2eUdzeVGP3mRuAO5fl4zXS3mh6z/YOiDS/CN9bSaZrsF9Ja3GqRzPMixurMrtIwHLD5SRXqNFAHKeB9J1SHWtf8RaxaxWNxrE0OyzSUSGGKKPYu9hwXJ3E4yAMDJxVXwpDr0fxA8Q3994emsrC/SBYJ2uYX/wBUrLyqsSN27I4+uK7WigAooooAwPHNpcX+lGztVZpp454kHniNdzQSAbgfvDJHHbr2rykfD/xZN4Y1y0h0u6t2vPDSaa0OoaotzJPcIQU8t9zeVGAZONwBLA7RjNex6uY/7Q0nebcMbptnmRlmJ8p/uEfdOM8ntkVpUAeZ3+j6wNO0GbSfCV9bnS9cF5JZz6nHLLJH5EiFldpGHVx8pYdDXQ+B9K1S1v8AxBr+rWsVrd6xcxyrZRyiTyY44ljQM/ALnaSccDIGTjNdXRQBwXw9tfEcviXUde8V+H5bLUruIRJILqGSC3t0YlIIwrFiTuLMxAyfQACu9oooAKKKKACiiigAooooAKjuJ4bdPMmkWNfVjipK4jUrp7y7eZ2JXJCDsq15ea5nHL6Sm1dvZHThsO68rXsjqP7Y03/n6X/vk/4Uf2xpv/P0v/fJ/wAK46ivmP8AWyv/AM+1+J6P9mQ/mZ2P9sab/wA/S/8AfJ/wo/tjTf8An6X/AL5P+FeceK9YOg6UupNbia3S5hjuTux5UTuEaTpzt3AkegNZN1480fT5b86ozW1vBeSWtu6I0rT+UimZ9qgkKjMVJ/2a1hxNi5q8aSf3kPL6Sesj0+61SybWLKRZpTGqSh2VyEUnbjcuPm749OfWr39sab/z9L/3yf8ACvKpvHHhyM3GLq5mEEsULNDaSyK8kiqyIhC4dirKcLng5om8ZaXa3FzDdtKZY7jyY4Le2mlnYeQkzFowmRhZATjIGRk5OA/9ZcZ/z5X4h/Z9L+Y9V/tjTf8An6X/AL5P+FH9sab/AM/S/wDfJ/wryy38beG7jUbext76SV7gwiOVLeQwkypviBk27QWXoCeenWp77Wrq18YaZon9m5tb6GZ/tZmAw8YB2hMZPB5JI7Yzzhf6zYu9nSS69R/2fS/mPTP7Y03/AJ+l/wC+T/hR/bGm/wDP0v8A3yf8K46isv8AWyv/AM+1+JX9mQ/mZ2aatpzsFW6TJ9cj+dR3dhJca7p2opIgjtoplZe7b9mMf98muQqzot9cjxVpen+c/kGC5cruOCR5WAR+Jx6ZNeplXEP1ysqNSNm9rHNicB7KHPF3O3ooor6c84KKKKACiiigAopC6K6oWUM2doJ5OOuKWgAooooAKKKKACiiigAooooAKoXgb+27AgS7dk2SswVRwvVOrex7fjV+sy+Mf/CQaYGNvv8ALn2hkJk6LnaegHrnrxQBp0UUUAFFFFABRRRQAUUUUAFFFFABRRRQAUUUUAFFFFABRRRQAUUUUAIzKqlmIAHUk9KrHUtPBwbyD/vsVzviO8kuL17cMRDEdu3sT3JrLr5XH8TLD1nSpw5raN36npUMuc4KUna52v8AaWn/APP5B/32KP7S0/8A5/IP++xXFVn+I9Wg0PRLrV7qKWS3tUEkwiALKmRubnsoyx9ga448WVZNJUl9/wDwDZ5ZFa8x6L/aWn/8/kH/AH2Ko6jqVob3TvLvH2idt/lOuzHlt9/P8OcdO+K8+ufFGj2t/f215dx2kVisPm3MzqkReUMVQEnltqhiPRhUlx4l8O28jRz67psbrALhla5UERHGH6/dORg981X+tFf/AJ8/i/8AIX9nQ/nPS/7S0/8A5/IP++xR/aWn/wDP5B/32K8xbxPosazzT6jaQWcUUMgunuY/LcS7tmOcjO04yBntnBw9vE3h1ZrSFtd00SXio1qv2lMzK5IUrzyCQQMdTxR/rTX/AOfP4v8AyD+zYfznpf8AaWn/APP5B/32KP7S0/8A5/IP++xXmmsa9Bpmr6VpstpeSNqU5hSaOP8AdRNtZhvYkddpwBk/hWtUviuqkm6S18/+ACyyL+0dr/aWn/8AP5B/32KVdRsGYKt5ASf9sVxNFJcXVOtJff8A8Af9lr+Y7LUvM+2ad5f2nb9oO/ysbceW338/w5x074q9XF6ZdE6rplpN5LqLhmiMrkMh8t87MdTgng8YzXaV9ZgcZDGUI1obM8ytSdKbiwooorrMgooooAKKKKACiiigAooooAK4nU7R7K7eJlOwkmNuxFdtTJ4Yp02TRpIvowzXmZrlkcwpKDdmtmdOGxDoSvY4Kiuy/sjTf+fRP1o/sjTf+fRP1r5j/VKt/wA/F9zPQ/tSH8pwmrWNtqml3em3ib7a7heGVfVWBB/nXMT/AA80WXS9IsvtF35mlJIkVzIsU0kolIMpkEiMrMzAMTtBz0xXsX9kab/z6J+tH9kab/z6J+taw4YxMPhqr7mS8xpveJ5Ve+ELC40jUtMW6uIYdRuBPPiOJ+RGibQroygYRe2QeQRVUeA9PhnW6sNU1axu0b5bmKVGkCmCKFlO9WBBWGM5IzuGQRXqV1p9hHq9lbi3tQsqSllaRg7bduNq9D15z04q7/ZGm/8APon601w1iltVX3A8wpP7J5PZeCNFsoI7e1+0xQxXFnPGgcEKbZVWMcjOMKM9z6irmqaAb/xHp2tf2vf27aeGEdvEsXlNvGH3bkLcgAcMMY4xXpn9kab/AM+ifrR/ZGm/8+ifrS/1ZxLd3VX3B/aNP+U42iuy/sjTf+fRP1o/sjTf+fRP1rL/AFSrf8/F9zK/tSH8pxtanh0Qw6xam4hPnXEUv2Zio4Vdu857Zyv1xXQR6Xp8bBltIsj1Gf51keLFuIdT0zULdkUQpPEc9RvCYI7fw134HJIZZJ4qvO/KnsjGtjHiEqUFudHRXn76wy6jHp76lKLuWNpkiMrBmRSAzD2BZfzFGn6u2oWaXllqMtxbyZ2SJKxVsEg4/EGrfFWH39nL8P8AMn+zZ/zI9AorhvtV5/z9XP8A38b/ABqKz1OW8tY7q2vriSGRdyOJGGR+NL/WzDfyS/D/ADH/AGZU/mR31FcN9qvP+fq4/wC/rf41m6f4psdQ1O40yy1wz3lsCZYVmbcoDbSfcBhgkZweKa4qw7Tapy/D/MP7Nn/MjsdVjkbxbokioxRY7ncwHAyqYzW1XKaLrt1/bdnpMw85LmOV/MY/MmwLx753fpXV172DxdPF0VWp7M4atKVKbjIKKKK6jMKKKKACiiigAooooAKo3fm/2zY7ftPl7Jd+zHl9Fxv759Me9Xqzb4R/8JBphYW+8Rz7S8hEnRc7R0I9c9OKANKiiigAooooAKKKKACiimyErGzDqATQA6ivmqX44+MlldRDpWFYj/UN6/71N/4Xn4z/AOeOlf8Afhv/AIqvY/sPF9l95w/2jR7n0vRXzR/wvPxn/wA8dK/78N/8VR/wvPxn/wA8dK/78N/8VR/YWL7L7w/tGh3PpesvxfeS6f4W1S/g/wBbbWskyZ9VUkfyr58/4Xn4z/546V/34b/4qqurfGXxZqel3WnXMOmeTdQtDJthYHawwcfN15qoZHiuZXSt6ilmNG2jPo7wrrNt4g8PWWsWjAxXUQfH9091P0ORWnXgf7Mvinybq58J3UnyS5ns8now++o+o5/A175XBjsM8NXlT6dPQ6MPWVampBRRRXIbhRRRQBx2vW72+pylh8srF0Prnr+tUK7u6t4LqLy541dfft9Kzj4f0/P/AC2H/A6+NzHhmrWryqUZK0nezv8A5M9ahmMYwUZrY5Wory3hvLSa0uYxJBPG0ciHoysMEfka6/8A4R/T/wDpt/33R/wj+n/9Nv8AvuuFcK4z+aP3v/I2/tKl2f8AXzPEl+Ge3w/p1lJrTXOoWV612buaJws+YvJCuqSK3yxBFBDDlc9yK0YvAtvb6ZqNnayWQW7tbO3SOS1byohbg7SAsgbqcjDAqQDk165/wj+n/wDTb/vuqt5o9pDdWcSKzLPKUctcBSoCMcqP4jkDgdsntXQ+H8ye9SP497/y9zNY7D/yv+vmeTL4Evo7q11JfERn1S1+ytHPdWvmq7wpOhLrvBO5ZzjkEFQcnmmwfDmGHT7m1Gp7nuIII3kNuBh0u3umYDPALSEBf4QBya9l/wCEf0//AKbf990f8I/p/wD02/77o/1fzH+eP/Df9uh9dw/Z/wBfM838V6PqmrX+kXFjqVnaR6fdi6ZJrRpTIwVkxkOuBhz2POK3q6r/AIR/T/8Apt/33R/wj+n/APTb/vusXwvjWknKOnr/AJFrMaK6P+vmcrRXVf8ACP6f/wBNv++6VdA09WyVlb2L1K4Uxf8ANH73/kP+06XZ/wBfM57R4pW1qwmUSiNJmVikIcEmNuCf4R7+uB3rtq5/xQ66fFprW0SqVuSExLsCkxvzt/j+n49q5+61poby2trjUpI7i7ZlgQykGQqu5gPoAT9BXt/XMPkdKGFacpWu7f1/Vjj9lPGSdRaI9Aorz+y1dr2OSS01GWZIpXhcpKxCuhwy/UEEVP8Aarz/AJ+rn/v43+NZvivDLeEvw/zK/syp/MjuaK4G01OW7iaW3vriRFd4yRIwwysVYc+hBFS/arzH/H1cf9/W/wAaHxXhl9iX4f5h/ZlT+ZHc0V5zJ4ghj1qLRX1hhqM0DXEdt57b2iUgM+PQEgV0fhzUbhrsWk8jSq4O0sckEc9a6sJxDh8TWjS5WnLa5nVwE6cXK6djo6KKK984QooooAKKKKACiiigAooooAoXhb+27AAybTHNkCEMv8PV+q+w7/hV+s68H/E9087c4jm58/bj7v8AB/H9e341o0AFFFFABRRRQAVx/j2aVdb0SFZGEci3JdQeGIVMZ+mTXYVlazHp11f2djdRE3UqStbyBRmMLt3YPbOR9a5Mfh5YjDTpR3aNaM1TqKT6HlPxH0jWb+0stQ8N+UNZspXWIyPsXypkMcmT7ZWQDuYwKwG8F6za+NLCSzub0aNYx2kdl5FwiLAkS7ZEdW5IfqdoO7ODjANeznw3Jni8TH/XP/69H/CNy/8AP4n/AH7P+NfEQybM4R5VBfev8/6uz13i8O3e54xYeEta0+DwiYLeae8syj6k098Xg3lk8x2y24uAp2lcjsRg1TtPCfi9fsKXIkluo4rMQXw1IgWBjkLTgpn95vX2O7ODgCvc/wDhG5f+fxP+/Z/xo/4RuX/n8T/v2f8AGr/srNP+fa+9evcX1nDfzHlfgvw1qmj61a3s7S4ltrxb/ddtKHka4V4OCSOI944xjOKs6Ba61ceOL7WNa0d7VUhez090uI3jS33hskA7i8hAY5AChQPUn0v/AIRuX/n8T/v2f8aP+Ebl/wCfxP8Av2f8azlkuZSbbpq781/n/SKWLw6t7xm+HrRJvE1pdtJte3hmCpx827aD+WK7WuNv7WHRPEWjXL75W8u5BYLjkqmF9ulXj4knzxax4/3z/hX0WCr0Mow0KGKmlLV21e78jhrQniqjnTWh0lFc3/wkdx/z6xf99mj/AISO4/59Yv8Avs10f6wZd/z8/B/5Gf1Gv/L+R0lFc3/wkdx/z6xf99mj/hI7j/n1i/77NH+sGXf8/Pwf+QfUa/8AL+R0lZet3M8Gp6HFFIUS4vmjlA/iUW074/76VT+FZ/8Awkdx/wA+sX/fZqW31nT729sIb2EJdmdvsg5I8zypCSD2+Tf19a3w+b4PEzVOnO7+a/NEVMLVpx5pR0N+iiivSOcKoXhb+29PAMm0pNkCEMvRer9V9vX8Kv1nXo/4nunHbnCTc+ftxwv8H8f17fjQBo0UUUAFFFFABRRRQAU2b/Uv/umnU2QFo2UdSCKAPhy4/wCPiX/fb+dMr06X4JeN2ldgum4LEj/ST6/7tN/4Uj44/u6Z/wCBJ/8Aia+/WZYW38RHzLwlb+VnmdFemf8ACkfHH93TP/Ak/wDxNH/CkfHH93TP/Ak//E0f2lhf+fiD6pW/lZ5nRXpn/CkfHH93TP8AwJP/AMTVbVPg94x03TLnULoacILaJpZNtwSdqjJwMe1NZjhW7KohPC1l9lnJ+DP7S/4SzS/7HyL77Unkkeue/tjOfavtCPd5a7wA2BuA6ZrwT9mXwt51zceKrqP5IswWmR1b+Jh/L8698r5rPcRGpiFCP2dP69P8z18upOFLmfUKKKK8Q9AKKKKACiiigAooooAKztVKjUdKDGME3DY3Q7yf3T9D/Aff8O9aNUNS8z7dpuwTlfPbf5cgVQPLb74P3hnsO+D2oAv0UUUAFFFFABRRRQBzfjwjydNyUB+2cZi3H/Vv0P8AD9fwrgvH2m6jf6LFc6LFHLq+m3Ud7YpI+xXkQ4ZC3YMjOpP+1Xpuv2wu5bCBluDGbg7zFKFA/dtgsD94ZxwO+DVFvDcm47bxcdsx8/zr5XPMqxWJxMK1BJ2VrX83+Duelg8TThTcJs8OufA3iGLUtEjgvrxrK1tYd72tykZjuvOaSeVg/USFuoycAjHOanvvCOtx6day2lvNc6p/a9zdSiW+Jt2Rp3MXmAsDhYyNoTlT2Ne0/wDCNy/8/if9+z/jR/wjcv8Az+J/37P+NeV/ZWa6fu196/zOn6zhv5jw/WvCni25F0vly3TSi9WwkXUzF/Z80l1I8VwQD8wEbR8DJGzbjBNbWi+GdXs/FcOsSSysz6jetdObpir2zp+6XYTtGHAOAOOfU16t/wAI3L/z+J/37P8AjR/wjcv/AD+J/wB+z/jSllGaNcvs116rr8wWKw978x5RbeF/EMHxOh8RyXun3Nm/2vzm8hlmjjYRCKIHeQQAh5AxksSMtx6V4c/5DMH/AAL/ANBNXf8AhG5f+fxP+/Z/xrR0jSY7BjK0hllIxuxgAewrpwGTY5YqnUrRSUfNdPQiti6Ps5Rg7tmlRRRX2544UUUUAFFFFABRRRQAUUUUAZt6V/t/TQWjDGObAMJZjwvR/wCH3Hf8K0qo3fmf2zY7RcbNku7ZIBH/AA43L1PtjpzV6gAooooAKKKKACs29sZpvEOm36FPKtop0cE85fZjH/fJrSooAKKKKACiiigAooooA5fxxemG70uy8vIuWlYtn7uxQen41578Q9Vk8OR6Z4mkuZY9Msbgx6nGCdpglXaHI7lZPLOewLetem+KNGbUriyvIpcS2fmbYsf6zeADz2xisOXTrt1MclhM6nqrREg18PxBha7xqqxpuUWuiv6+h7GBqQ9i4uVmeTad4u8UadrOl+H7mzgnuJYra6vXu7hEdjdSuWSLdIvEQ+UAK+cAcdTcj8b63FYaNqWof2NBaajePE2xGeSNBKIkAQyBnLE8soO3IypHNelvpdxJIkj6bI8kf3GaAkr9DjimnSZWaNm0tyYzmMm3+4fUccV47o1X/wAw7+5/5HWpRX21955O3xA1KytpY4l05DaxvP5N5NI81+TeTQ+VAS2dwEY/vcuowBXQ+HfFGs33iSG0vLfT1sbu51G3txEHEyG1l2BnJJB3DPAAwQOTnjuDpUxZGOmOWjJKEwcqT1I44pw025BBGnzAgkgiE8E9e3elPD1ZJ2w8vuf+Xz/AFOK+2jzmx1ST/hb6WNvqks1pPbXQliXURcqZUaPAaH/l32fMAf4i2DzivQtPtpZ/E2iyxqCtvcySSZPRTbyp+PLCnppc6SvKmmyLI+N7iAhm+pxzUsEV7Yazos8hNvDNdvFIHABZfs0z856DKA/hXZlmExE8bSl7NpR3bTWxliKsFRkuZO521FZra5pqsR5zH3CHH8qT+3dN/wCer/8Aftq+7eOwq/5ex+9f5ni+xqfyv7jTrNviv9v6aC0YYxzYBhLMeF6P/D7+v4Un9u6b/wA9X/79tVO51mzbVLORZLrykWTft4TJxjcuMt3xjpzS+v4X/n7H/wACX+Y/Y1P5X9xv0Vmf27pv/PV/+/bUf27pv/PV/wDv21H1/C/8/Y/+BL/MPY1P5X9xp0VWsr61vAfs8oYjqpGCPwNWa6YTjOPNF3Rm007MKKKKoQUUUUAFFFFABRRRQAVleL7SS/8AC2qWMP8ArLm1khT6spA/nWrRTi2mmhNXVjM8K6PbeH/D9lo9ooEVtEEz/ePc/ia06KKJScm29wSSVkFFFFIYUUUUAFFFFABRRRQAVmav5f8AaWkb/s277S2zzQ27PlP9zHGcZ69s1p1R1EyfbtO2faNvntv8tAy48tvvk9BnuO+KAL1FFFABRRRQAUUUUAZmseV/aGk+Z9m3fam2eaG3Z8p/uY43Yz14xmtOqOpGT7Zp2z7Rt+0Hf5aBlx5bffJ6DOOR3xV6gAooooAKKKKACiiigAooooAKKKKACiiigAooooAKKKKAMy+8v/hIdM3fZt/lz7d+7zOiZ2Y4x659sVp1Qu/M/tqw2m42bJd2yMGP+HG5uoPpjrzV+gAooooAKKKKACiiigAooooAKKKKACiiigDD1YN/wl2hkA48u6z/AN8pW5RRQAUUUUAFFFFABWJ4xhilsLd5EDNDcB4z/dbY65/JiPxrbrI8WJO+nxCGBpQJgZCCPkUK3ze/OBx61x5ipPCVVHflf5GtBr2sb90efeI9Xl0i70ctFG1leXy2dxIxIMJdT5TDtgyBVOf7wrm4viboltFaNrD/AGeS+ZprdYxnbamYxwyvk5+fAOFBOD0wK6zxHo9j4g0O60fUVka1uVCv5blHGCCGVhyrAgEEdCKoz+E9IkvrO8hF1aS2lulqv2acxh4UOUjYDqAc46Hk881+XU5UOW1RO/8AX9fI+jkp391lP/hO9J3RBbPUz59/JYQEwKomljZlk2lmAIBRvc9gahfx7plpBO11Hd3DW73L3LWlqzLbQQzvEZJMnoCh6ZJ2sQMVf1Dwfo99oo0aZrxbA3Es8kKTlRK0khkYN6jcxIxjHY1BeeA/D9yZNy3sSzCZblYrpkFxHLK0rxyAfeTczcdgSM4Jqk8L1uJqoT6d4w0q+17+x4Yb5ZDNNbxzvBiGWWIBnRWzyQpz0wQDzkYqsniqaf4iReHbW2hfT/InEt0WO83MflkxqOmFWQZPqcdjWnbeG9Kt7yC7hikWWC7mvI/nOBJKhR+PTB4Haoh4R8Nr4jg8Qx6PZxanCZWWeOFVZmlxvZiBy3HU88n1qVKgm9Ht+P8AVh2qHU6EzJq9vtOMsVP0wa7OuP8AD8Ly6rCyqSIyWY+gxXYV91wupLBPm/mdvw/U8bMWvbadgooor6M4AooooAKKKKACiiigAooooAKKKKACiiigAooooAKKKKACiiigArN1YKdS0ncISRcNt3zFGB8p/uj+I+3pk9q0qz9UONQ0v5iM3DceRvz+7f8Ai/g+v4d6ANCiiigAooooAKKKKAM3Vwp1DStwhJFy23fKUIPlP90fxH29MntWlWfqpxfaX8xGbk/8sN+f3b/xfwfX8O9aFABRRRQAUUUUAFFFFABRRRQAUUUUAFFFFABRRRQAUUUUAZ16F/t/TiViLCObBMxVhwvRf4vf0/GtGs69P/E904bsfu5uPI3Z+7/H/B9O/wCFaNABRRRQAUUUUAFFFFABRRRQAUUUUAFFFFABRRRQAUUUUAFFFFABWZrN3Pb6josML7Uur1ophgHcot5nx7fMin8K06huLWC4mtppk3PbSmWE5PysUZM+/wArsPxoAa1hYsxZrOAk9SYxSf2fYf8APlb/APfsVZoqPZx7D5n3K39n2H/Plb/9+xVC7srJdasEFpaAMkuQX2k4C9E6P9e341sVnXp/4nunDdj5JuPI3Z4X+P8Ag+nf8KPZw7BzPuWP7PsP+fK3/wC/Yo/s+w/58rf/AL9irNFHs4dg5n3GQwxQrthiSNfRVxT6KKtKwgooooAKKKKACiiigAooooAKKKKACiiigAooooAKKKKACiiigAooooAKoamGN/pm1ZCBO2ds4QD92/Vf4x7fj2q/Wbqxj/tLSd5gDfaW2+ZGWYnyn+6R90+57ZFAGlRRRQAUUUUAFFFFAFDVAxvdMKrIQLg52zhAB5b9R/GPb8e1X6zdXMf9oaTvMAP2ptvmRlmJ8p/ukfdPue2R3rSoAKKKKACiiigAooooAKKKKACiiigAooooAKKKKACiiigCjdRytrFjIscxjRJQ7rLhFJ243L/FnnHpz61eoooAKKKKACiiigAooooAKKKKACiikV1ZmVWUsv3gDyKAFoooJABJOAOpoAKKYksbkBZEYkbgA2cj1p9ABRRSK6MWCsrFThgD0NAC0UUUAFFFFABRRRQAVRu45W1ixkWOYxokodll2opIXG5f4s849OfWr1FABRRRQAUUUUAFFFFABRRRQAUUUUAFFFFABRRRQAUUUUAFFFFABRRRQAUUUUAFFFFABVHURKb7TvL+1bRO2/yiNmPLb7+f4c46d8VepsckcmfLkR8HB2nOKAHUUUEhQSSAB1JoAKKgsryzvoTNZXUFzEGKl4ZA65HUZHep6bTW4XCiiikBR1IS/bNO8v7Vt887/Kxtx5bffz/DnHTvir1FRR3NtJcy20dxE88QBkjVwWQHpkdRmiwEtFFFABRRRQAUUUUAFFFFABRRRQAUUUUAFFFFABRRRQAUUUUAFFFFABRRRQAV45o9vdeHPG6p4msbmTU9RvZhpWtrdPJA7OCEjkiDAAAHp/8Arr2OuY03wH4bsNWh1KG2uHlt3Z7eOW6kkigZupRGJCn6CuzC140ozUuq/rW/+dzCtTc3FrocD4F8Q+INN+HF1ql/4gsBu1J7eCS8gmmcNvYMAFYs5PG1RjGDzU9t8SPEc+iHyYbCTUI9fi0wSSW8kMciOpIYox3Ic9Qa7Fvh34XNtd2wtrlIrm5F1tW6kAhlBJDx8/IcselPtPh/4atohHHb3JH2+PUCXuXdmnQYDEk5Pv612SxWEk5SlG7bvsjBUa6SSfTucpP498S2drqWmXEOmTaxBrMGlw3CoywHzV3B2UkngA8ZqhpOrapoWt+Pb3UdQ0m21FbmwjadoZGhYmMgbY1JcsRj5c9c816BqHgfw7fpqa3VpI/9p3CXNwfOYESoMKykH5SPaqqfDnwqtle2n2S4ZbySKWZ2upDIZI87ZA5OQ3zHnPepjisKotctr2vou8W+vk9BujWunfb/AIJxifErxG2gXzQw2M9/aaxb2KO9tJAkySg4JjY7kOR3q94h13xpcNqXhsnRFuLHRHutSl2SFJt+4BYucr8o6nPNdPB8PfDMMEsKwXTia7hvJGkundnmi+6xYnJ6nPrVrxH4K8P6/qS6jqVrK1wIfIdop3jEsec7HCkbhnsaPrOFU7xjp6enn6h7Kty6v+v6sea+Bb+5sk0dtM0i2vNRj8GtNbkhvNkYTHEec42k9sZ960D8SNci8NxsGsr3WLjUI7MQR2EsclqzIWYPCzbmbg4wQDXbweBvD0EcccUFwoj046ahFw4IgLbsZBznPfrUA+Hnhc6bcWMlpcTfaJ1uJLiW6kacyKMK3mE7gQCQOaqWLws5OU4t6/r6iVGtFWizmV8b+MP7NsLG40qKx1e/1b7DbXF5avFG0W3d5vlFt2e2N1Xfg39s/tXxn/aBgN3/AGyRMYAfLLeWvK55x9a3ZvAfh6bR/wCzJ0vZkFyLpZpLyVp1lAwGEhbcDjjg1f8AC/hnSPDUd0mkwSRLdSiWbfKzln2gZyxJ5xz71jVxFB0pRgrN+Xnfv+BcKVTnTk9v8jZooorzTrCiiigAooooAKKKKACiiigAooooAKKKKACiiigAooooAKKKKACiiigAooooAKKKKACiiigAooooAKKKKAOF+Od7d2Xw/mNrPJbrNcwwXE0Zw0cTOAxz244/Gqfie30P4e+Gp9W8K2NnbX80cVuhLkoyvIqiV1z82M53frXf39na6hZS2V7bx3FtMpSSKRcqwPYisKw8CeEbK1urW30O3EN1H5UyuWk3JnO3LEkDPOBjkV3UMTTjTjCV9HdpbNab6+Rz1KUnJyXb7jiPEPizxZ4b/wCEi0u61S01K5stKj1C2u0tVjKEyBCjKCQRzkU3W9W8WNB4k8P6lrFrKW8O/wBpRzQ2gTy8kh4gM8gjI3Hkda7q18DeFLXS73TYdGhW2vlC3Kl3LSKOgLE7sD0zV658O6Lc3U91NYo81xZfYZW3t80Gc7Ov69fetli6CtaHzsvL7tnoZ+wqP7X4vzPMfB1xrtraeGfCOi6lY6cb3Sjqct39gQkjACxhcgMR3Y8ml0/xl4015/DunabfadZ3l99tiuJ2t98bGBgBIo9wDx05r0PU/BvhnUrGysr3SYpYbGPy7Ub2VokxjaGBDYwPWrFp4a0K0uNOntdNhhfTY3is9mQIlf7wAzg59805Yyg7ycLvXot9fv3WnSwKhUWnNp6vy/4J5jr3jHxrZxeItSt9TsRb6Nq6Wa272gPnBto5bOQBntzyeelWNX8ceKPDqeKNPvLi11K8sBZm1nW3ESqZyAQVzyFzxk/U16DdeEvDtzbX9tPpiPFqFyLq6Uu37yUYw3XjoOmBUl34X0C7uNQnutMhmk1KJIrsvkiVE+6CM4GPbFCxeG0Tp/gv7v8A9t9/3DoVekvxfn/wDzu58WePtJ0G9/tS2EEs15a21he3kEUZUykhyyRuykLjg5781ofDSK+h+KPjKHUr6K+ukitFe4jiEYf5TjKgkA4611Ft4F8J2+l3emR6NEbW82+eju7l9v3eWJIx2weKueHvC+g+H5ZpdH06O0knVUlZWYlwucZyTk8nnrU1MXRdOcYxs35JdvN22eg40anNFye3n6/5mxRRRXmHWFFFFABRRRQAUUUUAFFFFABRRRQAUUUUAFFFFABRRRQAUUUUAFFFFABRRRQAUUUUAFFFFABRRRQAUUUUAFFFFABRRRQAUUUUAFFFFABRRRQAUUUUAFFFFABRRRQAUUUUAFFFFABRRRQAUUUUAFFFFABRRRQAUUUUAFFFFABRRRQAUUUUAFFFFABRRRQAUUUUAFFFFABRRRQAUUUUAFFFFABRRRQAUUUUAf/Z"/>
          <p:cNvSpPr>
            <a:spLocks noChangeAspect="1" noChangeArrowheads="1"/>
          </p:cNvSpPr>
          <p:nvPr/>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719806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Standardised To Conformed</a:t>
            </a:r>
            <a:r>
              <a:rPr lang="en-US" sz="4200" b="1" dirty="0"/>
              <a:t> (BED)</a:t>
            </a:r>
          </a:p>
        </p:txBody>
      </p:sp>
      <p:sp>
        <p:nvSpPr>
          <p:cNvPr id="4" name="AutoShape 2" descr="data:image/jpg;base64,%20/9j/4AAQSkZJRgABAQEAYABgAAD/2wBDAAUDBAQEAwUEBAQFBQUGBwwIBwcHBw8LCwkMEQ8SEhEPERETFhwXExQaFRERGCEYGh0dHx8fExciJCIeJBweHx7/2wBDAQUFBQcGBw4ICA4eFBEUHh4eHh4eHh4eHh4eHh4eHh4eHh4eHh4eHh4eHh4eHh4eHh4eHh4eHh4eHh4eHh4eHh7/wAARCACrAl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LooooAKKKKACiiigAoqCW48u8gt/ImbzVY+Yq5RNuOGPbOePoa5jR/iJ4d1PcY/7Qt1+xy3sLXNm8a3EMRAkeMkYbGRx15HFAHXUVyMfxB0dvDh8QSafrUNiTbiEy2Dq1wZ2Cx+WvVsll+mRWt4c8Sabrz3UFp9pgu7NlW5tLqBoZotwypKsM4IBwRkHB54NAGxRWNpHifR9W1/UdEsLh5bvTlQ3P7pgg3FlwrEYbBRgcZwRitmgAooooAKKKKACiiigAooooAKKKKACiiigAooooAKKKKACiiigAooqCW48u8gt/ImbzQx8xVyibcfePbOePoaAJ6K5XR/H2g6pqS2MS38Dy+f9nkuLR447jyGIlEbEYYrg8egzUFt8RdEm8MzeJDZazDpccMcyTy2DqJlkYKnljqxJYce9AHY0Vi+HfE2ma5dXVlbrd219aqrT2l5btDMiNna+1hypwcMMjIIqL/hLtJXxPD4emjv7e6uHkjtpJrORIZ3RdzKkhGGIUE++DjOKAN+iiigAooooAKKKKACiiigAooooAKKKKACiiigAooooAKKKKACiiigAooqpqWoW+nqj3Ak2tu+ZULBQqM5Jx04U/jigC3RXG2XxJ8N3OlXuouNRtY7TThqbJc2bxvJakZEqAj5xxjjnOPWrF1460210uG/utL1yAXF2lnbwvYOJZpHUsu1e4wp59qAOqorK8N+INN8QW88unvKHtpTDcwTxNFNBIADtdGAIOCCOxBBGai8PeKNG1+/1Oy0q4eeTTZFjuGMTKmWBI2kjDDg8jI4oA2qKKKACiqWsapa6VbfaLsS+UA7MyRltoRGck46cKfxwK5qH4k+G20nUNSmGo2iWFkl/LFcWTxyNbvnbIikfOCQRx3FAHZUVy15430+z0+3u7vS9cga5vBZ29u9gwmlkKF/lTuMK3PtWr4c1/Tdfs5rjT5Jc28phuIZomjlgkABKOjAFTgg+4II4NAGpRWBoHi3StZ1ifSIY7+2voYFuPJvLSSBpISxUSKHAyuRj1HcVv0AFFFFABRRRQAUUUUAFFFFABRRRQAUUUUAZt6F/t/TWKxFhHNgmYqw4XOE/i9/T8a8i8LeA/FVqtsh0+6tHg0i+sbp7zU1uIpvNB8tYEy3lDeFJPy8DBB7evXp/4n2nDdjMc3Hkbs/d/j/g+nf8K0aAPILHwtrkHwxttGtfCl5a6jZzaZNJHPqiTC5aCWNpNhMjBOEOAdoORXY+FdN1ifxjqvivWLFNMN1ZwWNvZiZZXCRNI5eRl+XJMhAAJwB15wOuooA4vSote/4WnqOoz+HpoNMnsYrSO6NzCwzE8zbtgbdhvMUDjPriu0oooAKKKqXF/FDqlpp7K5kukkdGHQBNuc/99CgC3RRRQAUUUUAFFFFABRRRQAUUUUAFFFFABRRRQAUUUUAFZt8F/t/TWKxFhHNgtMVYcL0T+L39PxrSrOvT/wAT3ThuxlJuPI3Z4X+P+D6d/wAKAPLPCfgnxLZ+IdOuJNPu7YWc+om4mudSWe3lhnaQqsEOT5bFjGS2E4Vgc5xTNJ8Ha9b/AAgn8Mw+Frq11VbSzV2l1RJY7mSKRGYJmQhBhWI4UcivZ6KAOP8AD2nazfeOrnxZq2nLpSLpy6fbWpnWWVx5hkeRymVHO0KAT/ET1xVGK18Sah8Tl1LWvDsw03Tnkh0iSK6hMcYZcPcyLu3l2GVCgfKpPUk476igAooooAKKKKACiiigAooooAKKKKACiiigAooooAKKKKACiiigAooooAKxvFUE11DBbwqzPJ5yDE4RcmGQDcD98ZI47de1bNZurGP+0tJ3m3DG5bZ5kZZifKf7hH3Tjue2RQB43p3w/wDFh8MalZrpl1bSzeEjpMkd/qi3JnuQo2eUdzeVGP3mRuAO5fl4zXS3mh6z/YOiDS/CN9bSaZrsF9Ja3GqRzPMixurMrtIwHLD5SRXqNFAHKeB9J1SHWtf8RaxaxWNxrE0OyzSUSGGKKPYu9hwXJ3E4yAMDJxVXwpDr0fxA8Q3994emsrC/SBYJ2uYX/wBUrLyqsSN27I4+uK7WigAooooAwPHNpcX+lGztVZpp454kHniNdzQSAbgfvDJHHbr2rykfD/xZN4Y1y0h0u6t2vPDSaa0OoaotzJPcIQU8t9zeVGAZONwBLA7RjNex6uY/7Q0nebcMbptnmRlmJ8p/uEfdOM8ntkVpUAeZ3+j6wNO0GbSfCV9bnS9cF5JZz6nHLLJH5EiFldpGHVx8pYdDXQ+B9K1S1v8AxBr+rWsVrd6xcxyrZRyiTyY44ljQM/ALnaSccDIGTjNdXRQBwXw9tfEcviXUde8V+H5bLUruIRJILqGSC3t0YlIIwrFiTuLMxAyfQACu9oooAKKKKACiiigAooooAKjuJ4bdPMmkWNfVjipK4jUrp7y7eZ2JXJCDsq15ea5nHL6Sm1dvZHThsO68rXsjqP7Y03/n6X/vk/4Uf2xpv/P0v/fJ/wAK46ivmP8AWyv/AM+1+J6P9mQ/mZ2P9sab/wA/S/8AfJ/wo/tjTf8An6X/AL5P+FeceK9YOg6UupNbia3S5hjuTux5UTuEaTpzt3AkegNZN1480fT5b86ozW1vBeSWtu6I0rT+UimZ9qgkKjMVJ/2a1hxNi5q8aSf3kPL6Sesj0+61SybWLKRZpTGqSh2VyEUnbjcuPm749OfWr39sab/z9L/3yf8ACvKpvHHhyM3GLq5mEEsULNDaSyK8kiqyIhC4dirKcLng5om8ZaXa3FzDdtKZY7jyY4Le2mlnYeQkzFowmRhZATjIGRk5OA/9ZcZ/z5X4h/Z9L+Y9V/tjTf8An6X/AL5P+FH9sab/AM/S/wDfJ/wryy38beG7jUbext76SV7gwiOVLeQwkypviBk27QWXoCeenWp77Wrq18YaZon9m5tb6GZ/tZmAw8YB2hMZPB5JI7Yzzhf6zYu9nSS69R/2fS/mPTP7Y03/AJ+l/wC+T/hR/bGm/wDP0v8A3yf8K46isv8AWyv/AM+1+JX9mQ/mZ2aatpzsFW6TJ9cj+dR3dhJca7p2opIgjtoplZe7b9mMf98muQqzot9cjxVpen+c/kGC5cruOCR5WAR+Jx6ZNeplXEP1ysqNSNm9rHNicB7KHPF3O3ooor6c84KKKKACiiigAopC6K6oWUM2doJ5OOuKWgAooooAKKKKACiiigAooooAKoXgb+27AgS7dk2SswVRwvVOrex7fjV+sy+Mf/CQaYGNvv8ALn2hkJk6LnaegHrnrxQBp0UUUAFFFFABRRRQAUUUUAFFFFABRRRQAUUUUAFFFFABRRRQAUUUUAIzKqlmIAHUk9KrHUtPBwbyD/vsVzviO8kuL17cMRDEdu3sT3JrLr5XH8TLD1nSpw5raN36npUMuc4KUna52v8AaWn/APP5B/32KP7S0/8A5/IP++xXFVn+I9Wg0PRLrV7qKWS3tUEkwiALKmRubnsoyx9ga448WVZNJUl9/wDwDZ5ZFa8x6L/aWn/8/kH/AH2Ko6jqVob3TvLvH2idt/lOuzHlt9/P8OcdO+K8+ufFGj2t/f215dx2kVisPm3MzqkReUMVQEnltqhiPRhUlx4l8O28jRz67psbrALhla5UERHGH6/dORg981X+tFf/AJ8/i/8AIX9nQ/nPS/7S0/8A5/IP++xR/aWn/wDP5B/32K8xbxPosazzT6jaQWcUUMgunuY/LcS7tmOcjO04yBntnBw9vE3h1ZrSFtd00SXio1qv2lMzK5IUrzyCQQMdTxR/rTX/AOfP4v8AyD+zYfznpf8AaWn/APP5B/32KP7S0/8A5/IP++xXmmsa9Bpmr6VpstpeSNqU5hSaOP8AdRNtZhvYkddpwBk/hWtUviuqkm6S18/+ACyyL+0dr/aWn/8AP5B/32KVdRsGYKt5ASf9sVxNFJcXVOtJff8A8Af9lr+Y7LUvM+2ad5f2nb9oO/ysbceW338/w5x074q9XF6ZdE6rplpN5LqLhmiMrkMh8t87MdTgng8YzXaV9ZgcZDGUI1obM8ytSdKbiwooorrMgooooAKKKKACiiigAooooAK4nU7R7K7eJlOwkmNuxFdtTJ4Yp02TRpIvowzXmZrlkcwpKDdmtmdOGxDoSvY4Kiuy/sjTf+fRP1o/sjTf+fRP1r5j/VKt/wA/F9zPQ/tSH8pwmrWNtqml3em3ib7a7heGVfVWBB/nXMT/AA80WXS9IsvtF35mlJIkVzIsU0kolIMpkEiMrMzAMTtBz0xXsX9kab/z6J+tH9kab/z6J+taw4YxMPhqr7mS8xpveJ5Ve+ELC40jUtMW6uIYdRuBPPiOJ+RGibQroygYRe2QeQRVUeA9PhnW6sNU1axu0b5bmKVGkCmCKFlO9WBBWGM5IzuGQRXqV1p9hHq9lbi3tQsqSllaRg7bduNq9D15z04q7/ZGm/8APon601w1iltVX3A8wpP7J5PZeCNFsoI7e1+0xQxXFnPGgcEKbZVWMcjOMKM9z6irmqaAb/xHp2tf2vf27aeGEdvEsXlNvGH3bkLcgAcMMY4xXpn9kab/AM+ifrR/ZGm/8+ifrS/1ZxLd3VX3B/aNP+U42iuy/sjTf+fRP1o/sjTf+fRP1rL/AFSrf8/F9zK/tSH8pxtanh0Qw6xam4hPnXEUv2Zio4Vdu857Zyv1xXQR6Xp8bBltIsj1Gf51keLFuIdT0zULdkUQpPEc9RvCYI7fw134HJIZZJ4qvO/KnsjGtjHiEqUFudHRXn76wy6jHp76lKLuWNpkiMrBmRSAzD2BZfzFGn6u2oWaXllqMtxbyZ2SJKxVsEg4/EGrfFWH39nL8P8AMn+zZ/zI9AorhvtV5/z9XP8A38b/ABqKz1OW8tY7q2vriSGRdyOJGGR+NL/WzDfyS/D/ADH/AGZU/mR31FcN9qvP+fq4/wC/rf41m6f4psdQ1O40yy1wz3lsCZYVmbcoDbSfcBhgkZweKa4qw7Tapy/D/MP7Nn/MjsdVjkbxbokioxRY7ncwHAyqYzW1XKaLrt1/bdnpMw85LmOV/MY/MmwLx753fpXV172DxdPF0VWp7M4atKVKbjIKKKK6jMKKKKACiiigAooooAKo3fm/2zY7ftPl7Jd+zHl9Fxv759Me9Xqzb4R/8JBphYW+8Rz7S8hEnRc7R0I9c9OKANKiiigAooooAKKKKACiimyErGzDqATQA6ivmqX44+MlldRDpWFYj/UN6/71N/4Xn4z/AOeOlf8Afhv/AIqvY/sPF9l95w/2jR7n0vRXzR/wvPxn/wA8dK/78N/8VR/wvPxn/wA8dK/78N/8VR/YWL7L7w/tGh3PpesvxfeS6f4W1S/g/wBbbWskyZ9VUkfyr58/4Xn4z/546V/34b/4qqurfGXxZqel3WnXMOmeTdQtDJthYHawwcfN15qoZHiuZXSt6ilmNG2jPo7wrrNt4g8PWWsWjAxXUQfH9091P0ORWnXgf7Mvinybq58J3UnyS5ns8now++o+o5/A175XBjsM8NXlT6dPQ6MPWVampBRRRXIbhRRRQBx2vW72+pylh8srF0Prnr+tUK7u6t4LqLy541dfft9Kzj4f0/P/AC2H/A6+NzHhmrWryqUZK0nezv8A5M9ahmMYwUZrY5Wory3hvLSa0uYxJBPG0ciHoysMEfka6/8A4R/T/wDpt/33R/wj+n/9Nv8AvuuFcK4z+aP3v/I2/tKl2f8AXzPEl+Ge3w/p1lJrTXOoWV612buaJws+YvJCuqSK3yxBFBDDlc9yK0YvAtvb6ZqNnayWQW7tbO3SOS1byohbg7SAsgbqcjDAqQDk165/wj+n/wDTb/vuqt5o9pDdWcSKzLPKUctcBSoCMcqP4jkDgdsntXQ+H8ye9SP497/y9zNY7D/yv+vmeTL4Evo7q11JfERn1S1+ytHPdWvmq7wpOhLrvBO5ZzjkEFQcnmmwfDmGHT7m1Gp7nuIII3kNuBh0u3umYDPALSEBf4QBya9l/wCEf0//AKbf990f8I/p/wD02/77o/1fzH+eP/Df9uh9dw/Z/wBfM838V6PqmrX+kXFjqVnaR6fdi6ZJrRpTIwVkxkOuBhz2POK3q6r/AIR/T/8Apt/33R/wj+n/APTb/vusXwvjWknKOnr/AJFrMaK6P+vmcrRXVf8ACP6f/wBNv++6VdA09WyVlb2L1K4Uxf8ANH73/kP+06XZ/wBfM57R4pW1qwmUSiNJmVikIcEmNuCf4R7+uB3rtq5/xQ66fFprW0SqVuSExLsCkxvzt/j+n49q5+61poby2trjUpI7i7ZlgQykGQqu5gPoAT9BXt/XMPkdKGFacpWu7f1/Vjj9lPGSdRaI9Aorz+y1dr2OSS01GWZIpXhcpKxCuhwy/UEEVP8Aarz/AJ+rn/v43+NZvivDLeEvw/zK/syp/MjuaK4G01OW7iaW3vriRFd4yRIwwysVYc+hBFS/arzH/H1cf9/W/wAaHxXhl9iX4f5h/ZlT+ZHc0V5zJ4ghj1qLRX1hhqM0DXEdt57b2iUgM+PQEgV0fhzUbhrsWk8jSq4O0sckEc9a6sJxDh8TWjS5WnLa5nVwE6cXK6djo6KKK984QooooAKKKKACiiigAooooAoXhb+27AAybTHNkCEMv8PV+q+w7/hV+s68H/E9087c4jm58/bj7v8AB/H9e341o0AFFFFABRRRQAVx/j2aVdb0SFZGEci3JdQeGIVMZ+mTXYVlazHp11f2djdRE3UqStbyBRmMLt3YPbOR9a5Mfh5YjDTpR3aNaM1TqKT6HlPxH0jWb+0stQ8N+UNZspXWIyPsXypkMcmT7ZWQDuYwKwG8F6za+NLCSzub0aNYx2kdl5FwiLAkS7ZEdW5IfqdoO7ODjANeznw3Jni8TH/XP/69H/CNy/8AP4n/AH7P+NfEQybM4R5VBfev8/6uz13i8O3e54xYeEta0+DwiYLeae8syj6k098Xg3lk8x2y24uAp2lcjsRg1TtPCfi9fsKXIkluo4rMQXw1IgWBjkLTgpn95vX2O7ODgCvc/wDhG5f+fxP+/Z/xo/4RuX/n8T/v2f8AGr/srNP+fa+9evcX1nDfzHlfgvw1qmj61a3s7S4ltrxb/ddtKHka4V4OCSOI944xjOKs6Ba61ceOL7WNa0d7VUhez090uI3jS33hskA7i8hAY5AChQPUn0v/AIRuX/n8T/v2f8aP+Ebl/wCfxP8Av2f8azlkuZSbbpq781/n/SKWLw6t7xm+HrRJvE1pdtJte3hmCpx827aD+WK7WuNv7WHRPEWjXL75W8u5BYLjkqmF9ulXj4knzxax4/3z/hX0WCr0Mow0KGKmlLV21e78jhrQniqjnTWh0lFc3/wkdx/z6xf99mj/AISO4/59Yv8Avs10f6wZd/z8/B/5Gf1Gv/L+R0lFc3/wkdx/z6xf99mj/hI7j/n1i/77NH+sGXf8/Pwf+QfUa/8AL+R0lZet3M8Gp6HFFIUS4vmjlA/iUW074/76VT+FZ/8Awkdx/wA+sX/fZqW31nT729sIb2EJdmdvsg5I8zypCSD2+Tf19a3w+b4PEzVOnO7+a/NEVMLVpx5pR0N+iiivSOcKoXhb+29PAMm0pNkCEMvRer9V9vX8Kv1nXo/4nunHbnCTc+ftxwv8H8f17fjQBo0UUUAFFFFABRRRQAU2b/Uv/umnU2QFo2UdSCKAPhy4/wCPiX/fb+dMr06X4JeN2ldgum4LEj/ST6/7tN/4Uj44/u6Z/wCBJ/8Aia+/WZYW38RHzLwlb+VnmdFemf8ACkfHH93TP/Ak/wDxNH/CkfHH93TP/Ak//E0f2lhf+fiD6pW/lZ5nRXpn/CkfHH93TP8AwJP/AMTVbVPg94x03TLnULoacILaJpZNtwSdqjJwMe1NZjhW7KohPC1l9lnJ+DP7S/4SzS/7HyL77Unkkeue/tjOfavtCPd5a7wA2BuA6ZrwT9mXwt51zceKrqP5IswWmR1b+Jh/L8698r5rPcRGpiFCP2dP69P8z18upOFLmfUKKKK8Q9AKKKKACiiigAooooAKztVKjUdKDGME3DY3Q7yf3T9D/Aff8O9aNUNS8z7dpuwTlfPbf5cgVQPLb74P3hnsO+D2oAv0UUUAFFFFABRRRQBzfjwjydNyUB+2cZi3H/Vv0P8AD9fwrgvH2m6jf6LFc6LFHLq+m3Ud7YpI+xXkQ4ZC3YMjOpP+1Xpuv2wu5bCBluDGbg7zFKFA/dtgsD94ZxwO+DVFvDcm47bxcdsx8/zr5XPMqxWJxMK1BJ2VrX83+Duelg8TThTcJs8OufA3iGLUtEjgvrxrK1tYd72tykZjuvOaSeVg/USFuoycAjHOanvvCOtx6day2lvNc6p/a9zdSiW+Jt2Rp3MXmAsDhYyNoTlT2Ne0/wDCNy/8/if9+z/jR/wjcv8Az+J/37P+NeV/ZWa6fu196/zOn6zhv5jw/WvCni25F0vly3TSi9WwkXUzF/Z80l1I8VwQD8wEbR8DJGzbjBNbWi+GdXs/FcOsSSysz6jetdObpir2zp+6XYTtGHAOAOOfU16t/wAI3L/z+J/37P8AjR/wjcv/AD+J/wB+z/jSllGaNcvs116rr8wWKw978x5RbeF/EMHxOh8RyXun3Nm/2vzm8hlmjjYRCKIHeQQAh5AxksSMtx6V4c/5DMH/AAL/ANBNXf8AhG5f+fxP+/Z/xrR0jSY7BjK0hllIxuxgAewrpwGTY5YqnUrRSUfNdPQiti6Ps5Rg7tmlRRRX2544UUUUAFFFFABRRRQAUUUUAZt6V/t/TQWjDGObAMJZjwvR/wCH3Hf8K0qo3fmf2zY7RcbNku7ZIBH/AA43L1PtjpzV6gAooooAKKKKACs29sZpvEOm36FPKtop0cE85fZjH/fJrSooAKKKKACiiigAooooA5fxxemG70uy8vIuWlYtn7uxQen41578Q9Vk8OR6Z4mkuZY9Msbgx6nGCdpglXaHI7lZPLOewLetem+KNGbUriyvIpcS2fmbYsf6zeADz2xisOXTrt1MclhM6nqrREg18PxBha7xqqxpuUWuiv6+h7GBqQ9i4uVmeTad4u8UadrOl+H7mzgnuJYra6vXu7hEdjdSuWSLdIvEQ+UAK+cAcdTcj8b63FYaNqWof2NBaajePE2xGeSNBKIkAQyBnLE8soO3IypHNelvpdxJIkj6bI8kf3GaAkr9DjimnSZWaNm0tyYzmMm3+4fUccV47o1X/wAw7+5/5HWpRX21955O3xA1KytpY4l05DaxvP5N5NI81+TeTQ+VAS2dwEY/vcuowBXQ+HfFGs33iSG0vLfT1sbu51G3txEHEyG1l2BnJJB3DPAAwQOTnjuDpUxZGOmOWjJKEwcqT1I44pw025BBGnzAgkgiE8E9e3elPD1ZJ2w8vuf+Xz/AFOK+2jzmx1ST/hb6WNvqks1pPbXQliXURcqZUaPAaH/l32fMAf4i2DzivQtPtpZ/E2iyxqCtvcySSZPRTbyp+PLCnppc6SvKmmyLI+N7iAhm+pxzUsEV7Yazos8hNvDNdvFIHABZfs0z856DKA/hXZlmExE8bSl7NpR3bTWxliKsFRkuZO521FZra5pqsR5zH3CHH8qT+3dN/wCer/8Aftq+7eOwq/5ex+9f5ni+xqfyv7jTrNviv9v6aC0YYxzYBhLMeF6P/D7+v4Un9u6b/wA9X/79tVO51mzbVLORZLrykWTft4TJxjcuMt3xjpzS+v4X/n7H/wACX+Y/Y1P5X9xv0Vmf27pv/PV/+/bUf27pv/PV/wDv21H1/C/8/Y/+BL/MPY1P5X9xp0VWsr61vAfs8oYjqpGCPwNWa6YTjOPNF3Rm007MKKKKoQUUUUAFFFFABRRRQAVleL7SS/8AC2qWMP8ArLm1khT6spA/nWrRTi2mmhNXVjM8K6PbeH/D9lo9ooEVtEEz/ePc/ia06KKJScm29wSSVkFFFFIYUUUUAFFFFABRRRQAVmav5f8AaWkb/s277S2zzQ27PlP9zHGcZ69s1p1R1EyfbtO2faNvntv8tAy48tvvk9BnuO+KAL1FFFABRRRQAUUUUAZmseV/aGk+Z9m3fam2eaG3Z8p/uY43Yz14xmtOqOpGT7Zp2z7Rt+0Hf5aBlx5bffJ6DOOR3xV6gAooooAKKKKACiiigAooooAKKKKACiiigAooooAKKKKAMy+8v/hIdM3fZt/lz7d+7zOiZ2Y4x659sVp1Qu/M/tqw2m42bJd2yMGP+HG5uoPpjrzV+gAooooAKKKKACiiigAooooAKKKKACiiigDD1YN/wl2hkA48u6z/AN8pW5RRQAUUUUAFFFFABWJ4xhilsLd5EDNDcB4z/dbY65/JiPxrbrI8WJO+nxCGBpQJgZCCPkUK3ze/OBx61x5ipPCVVHflf5GtBr2sb90efeI9Xl0i70ctFG1leXy2dxIxIMJdT5TDtgyBVOf7wrm4viboltFaNrD/AGeS+ZprdYxnbamYxwyvk5+fAOFBOD0wK6zxHo9j4g0O60fUVka1uVCv5blHGCCGVhyrAgEEdCKoz+E9IkvrO8hF1aS2lulqv2acxh4UOUjYDqAc46Hk881+XU5UOW1RO/8AX9fI+jkp391lP/hO9J3RBbPUz59/JYQEwKomljZlk2lmAIBRvc9gahfx7plpBO11Hd3DW73L3LWlqzLbQQzvEZJMnoCh6ZJ2sQMVf1Dwfo99oo0aZrxbA3Es8kKTlRK0khkYN6jcxIxjHY1BeeA/D9yZNy3sSzCZblYrpkFxHLK0rxyAfeTczcdgSM4Jqk8L1uJqoT6d4w0q+17+x4Yb5ZDNNbxzvBiGWWIBnRWzyQpz0wQDzkYqsniqaf4iReHbW2hfT/InEt0WO83MflkxqOmFWQZPqcdjWnbeG9Kt7yC7hikWWC7mvI/nOBJKhR+PTB4Haoh4R8Nr4jg8Qx6PZxanCZWWeOFVZmlxvZiBy3HU88n1qVKgm9Ht+P8AVh2qHU6EzJq9vtOMsVP0wa7OuP8AD8Ly6rCyqSIyWY+gxXYV91wupLBPm/mdvw/U8bMWvbadgooor6M4AooooAKKKKACiiigAooooAKKKKACiiigAooooAKKKKACiiigArN1YKdS0ncISRcNt3zFGB8p/uj+I+3pk9q0qz9UONQ0v5iM3DceRvz+7f8Ai/g+v4d6ANCiiigAooooAKKKKAM3Vwp1DStwhJFy23fKUIPlP90fxH29MntWlWfqpxfaX8xGbk/8sN+f3b/xfwfX8O9aFABRRRQAUUUUAFFFFABRRRQAUUUUAFFFFABRRRQAUUUUAZ16F/t/TiViLCObBMxVhwvRf4vf0/GtGs69P/E904bsfu5uPI3Z+7/H/B9O/wCFaNABRRRQAUUUUAFFFFABRRRQAUUUUAFFFFABRRRQAUUUUAFFFFABWZrN3Pb6josML7Uur1ophgHcot5nx7fMin8K06huLWC4mtppk3PbSmWE5PysUZM+/wArsPxoAa1hYsxZrOAk9SYxSf2fYf8APlb/APfsVZoqPZx7D5n3K39n2H/Plb/9+xVC7srJdasEFpaAMkuQX2k4C9E6P9e341sVnXp/4nunDdj5JuPI3Z4X+P8Ag+nf8KPZw7BzPuWP7PsP+fK3/wC/Yo/s+w/58rf/AL9irNFHs4dg5n3GQwxQrthiSNfRVxT6KKtKwgooooAKKKKACiiigAooooAKKKKACiiigAooooAKKKKACiiigAooooAKoamGN/pm1ZCBO2ds4QD92/Vf4x7fj2q/Wbqxj/tLSd5gDfaW2+ZGWYnyn+6R90+57ZFAGlRRRQAUUUUAFFFFAFDVAxvdMKrIQLg52zhAB5b9R/GPb8e1X6zdXMf9oaTvMAP2ptvmRlmJ8p/ukfdPue2R3rSoAKKKKACiiigAooooAKKKKACiiigAooooAKKKKACiiigCjdRytrFjIscxjRJQ7rLhFJ243L/FnnHpz61eoooAKKKKACiiigAooooAKKKKACiikV1ZmVWUsv3gDyKAFoooJABJOAOpoAKKYksbkBZEYkbgA2cj1p9ABRRSK6MWCsrFThgD0NAC0UUUAFFFFABRRRQAVRu45W1ixkWOYxokodll2opIXG5f4s849OfWr1FABRRRQAUUUUAFFFFABRRRQAUUUUAFFFFABRRRQAUUUUAFFFFABRRRQAUUUUAFFFFABVHURKb7TvL+1bRO2/yiNmPLb7+f4c46d8VepsckcmfLkR8HB2nOKAHUUUEhQSSAB1JoAKKgsryzvoTNZXUFzEGKl4ZA65HUZHep6bTW4XCiiikBR1IS/bNO8v7Vt887/Kxtx5bffz/DnHTvir1FRR3NtJcy20dxE88QBkjVwWQHpkdRmiwEtFFFABRRRQAUUUUAFFFFABRRRQAUUUUAFFFFABRRRQAUUUUAFFFFABRRRQAV45o9vdeHPG6p4msbmTU9RvZhpWtrdPJA7OCEjkiDAAAHp/8Arr2OuY03wH4bsNWh1KG2uHlt3Z7eOW6kkigZupRGJCn6CuzC140ozUuq/rW/+dzCtTc3FrocD4F8Q+INN+HF1ql/4gsBu1J7eCS8gmmcNvYMAFYs5PG1RjGDzU9t8SPEc+iHyYbCTUI9fi0wSSW8kMciOpIYox3Ic9Qa7Fvh34XNtd2wtrlIrm5F1tW6kAhlBJDx8/IcselPtPh/4atohHHb3JH2+PUCXuXdmnQYDEk5Pv612SxWEk5SlG7bvsjBUa6SSfTucpP498S2drqWmXEOmTaxBrMGlw3CoywHzV3B2UkngA8ZqhpOrapoWt+Pb3UdQ0m21FbmwjadoZGhYmMgbY1JcsRj5c9c816BqHgfw7fpqa3VpI/9p3CXNwfOYESoMKykH5SPaqqfDnwqtle2n2S4ZbySKWZ2upDIZI87ZA5OQ3zHnPepjisKotctr2vou8W+vk9BujWunfb/AIJxifErxG2gXzQw2M9/aaxb2KO9tJAkySg4JjY7kOR3q94h13xpcNqXhsnRFuLHRHutSl2SFJt+4BYucr8o6nPNdPB8PfDMMEsKwXTia7hvJGkundnmi+6xYnJ6nPrVrxH4K8P6/qS6jqVrK1wIfIdop3jEsec7HCkbhnsaPrOFU7xjp6enn6h7Kty6v+v6sea+Bb+5sk0dtM0i2vNRj8GtNbkhvNkYTHEec42k9sZ960D8SNci8NxsGsr3WLjUI7MQR2EsclqzIWYPCzbmbg4wQDXbweBvD0EcccUFwoj046ahFw4IgLbsZBznPfrUA+Hnhc6bcWMlpcTfaJ1uJLiW6kacyKMK3mE7gQCQOaqWLws5OU4t6/r6iVGtFWizmV8b+MP7NsLG40qKx1e/1b7DbXF5avFG0W3d5vlFt2e2N1Xfg39s/tXxn/aBgN3/AGyRMYAfLLeWvK55x9a3ZvAfh6bR/wCzJ0vZkFyLpZpLyVp1lAwGEhbcDjjg1f8AC/hnSPDUd0mkwSRLdSiWbfKzln2gZyxJ5xz71jVxFB0pRgrN+Xnfv+BcKVTnTk9v8jZooorzTrCiiigAooooAKKKKACiiigAooooAKKKKACiiigAooooAKKKKACiiigAooooAKKKKACiiigAooooAKKKKAOF+Od7d2Xw/mNrPJbrNcwwXE0Zw0cTOAxz244/Gqfie30P4e+Gp9W8K2NnbX80cVuhLkoyvIqiV1z82M53frXf39na6hZS2V7bx3FtMpSSKRcqwPYisKw8CeEbK1urW30O3EN1H5UyuWk3JnO3LEkDPOBjkV3UMTTjTjCV9HdpbNab6+Rz1KUnJyXb7jiPEPizxZ4b/wCEi0u61S01K5stKj1C2u0tVjKEyBCjKCQRzkU3W9W8WNB4k8P6lrFrKW8O/wBpRzQ2gTy8kh4gM8gjI3Hkda7q18DeFLXS73TYdGhW2vlC3Kl3LSKOgLE7sD0zV658O6Lc3U91NYo81xZfYZW3t80Gc7Ov69fetli6CtaHzsvL7tnoZ+wqP7X4vzPMfB1xrtraeGfCOi6lY6cb3Sjqct39gQkjACxhcgMR3Y8ml0/xl4015/DunabfadZ3l99tiuJ2t98bGBgBIo9wDx05r0PU/BvhnUrGysr3SYpYbGPy7Ub2VokxjaGBDYwPWrFp4a0K0uNOntdNhhfTY3is9mQIlf7wAzg59805Yyg7ycLvXot9fv3WnSwKhUWnNp6vy/4J5jr3jHxrZxeItSt9TsRb6Nq6Wa272gPnBto5bOQBntzyeelWNX8ceKPDqeKNPvLi11K8sBZm1nW3ESqZyAQVzyFzxk/U16DdeEvDtzbX9tPpiPFqFyLq6Uu37yUYw3XjoOmBUl34X0C7uNQnutMhmk1KJIrsvkiVE+6CM4GPbFCxeG0Tp/gv7v8A9t9/3DoVekvxfn/wDzu58WePtJ0G9/tS2EEs15a21he3kEUZUykhyyRuykLjg5781ofDSK+h+KPjKHUr6K+ukitFe4jiEYf5TjKgkA4611Ft4F8J2+l3emR6NEbW82+eju7l9v3eWJIx2weKueHvC+g+H5ZpdH06O0knVUlZWYlwucZyTk8nnrU1MXRdOcYxs35JdvN22eg40anNFye3n6/5mxRRRXmHWFFFFABRRRQAUUUUAFFFFABRRRQAUUUUAFFFFABRRRQAUUUUAFFFFABRRRQAUUUUAFFFFABRRRQAUUUUAFFFFABRRRQAUUUUAFFFFABRRRQAUUUUAFFFFABRRRQAUUUUAFFFFABRRRQAUUUUAFFFFABRRRQAUUUUAFFFFABRRRQAUUUUAFFFFABRRRQAUUUUAFFFFABRRRQAUUUUAFFFFABRRRQAUUUUAf/Z"/>
          <p:cNvSpPr>
            <a:spLocks noChangeAspect="1" noChangeArrowheads="1"/>
          </p:cNvSpPr>
          <p:nvPr/>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 Placeholder 6">
            <a:extLst>
              <a:ext uri="{FF2B5EF4-FFF2-40B4-BE49-F238E27FC236}">
                <a16:creationId xmlns:a16="http://schemas.microsoft.com/office/drawing/2014/main" id="{D963BD07-D3C0-E541-984A-8A097F788756}"/>
              </a:ext>
            </a:extLst>
          </p:cNvPr>
          <p:cNvSpPr txBox="1">
            <a:spLocks/>
          </p:cNvSpPr>
          <p:nvPr/>
        </p:nvSpPr>
        <p:spPr>
          <a:xfrm>
            <a:off x="517525" y="3732843"/>
            <a:ext cx="10693310" cy="2236883"/>
          </a:xfrm>
          <a:prstGeom prst="rect">
            <a:avLst/>
          </a:prstGeom>
        </p:spPr>
        <p:txBody>
          <a:bodyPr/>
          <a:lstStyle>
            <a:lvl1pPr marL="228600" indent="-228600" algn="l" defTabSz="914400" rtl="0" eaLnBrk="1" latinLnBrk="0" hangingPunct="1">
              <a:lnSpc>
                <a:spcPct val="90000"/>
              </a:lnSpc>
              <a:spcBef>
                <a:spcPts val="1000"/>
              </a:spcBef>
              <a:buClr>
                <a:schemeClr val="tx1"/>
              </a:buClr>
              <a:buFont typeface="System Font Regular"/>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00"/>
                </a:solidFill>
                <a:latin typeface="+mn-lt"/>
              </a:rPr>
              <a:t>The essence of the BED approach can be captured as follows:</a:t>
            </a:r>
          </a:p>
          <a:p>
            <a:pPr>
              <a:buClrTx/>
              <a:buFont typeface="Wingdings" panose="05000000000000000000" pitchFamily="2" charset="2"/>
              <a:buChar char="§"/>
            </a:pPr>
            <a:r>
              <a:rPr lang="en-US" sz="1600" dirty="0">
                <a:solidFill>
                  <a:srgbClr val="000000"/>
                </a:solidFill>
                <a:latin typeface="+mn-lt"/>
              </a:rPr>
              <a:t>Incremental loads will be conducted in batches during which a clearly-defined window of data will be processed to Conformed.  There can be multiple such batches processed per day.  Each batch has an associated “Batch Effective Date”, which is the latest time considered during processing of that batch</a:t>
            </a:r>
          </a:p>
          <a:p>
            <a:pPr>
              <a:buClrTx/>
              <a:buFont typeface="Wingdings" panose="05000000000000000000" pitchFamily="2" charset="2"/>
              <a:buChar char="§"/>
            </a:pPr>
            <a:r>
              <a:rPr lang="en-US" sz="1600" dirty="0">
                <a:solidFill>
                  <a:srgbClr val="000000"/>
                </a:solidFill>
                <a:latin typeface="+mn-lt"/>
              </a:rPr>
              <a:t>Within a batch, if the same source record is updated multiple times, only the latest version of that record will be processed to Conformed</a:t>
            </a:r>
          </a:p>
          <a:p>
            <a:pPr>
              <a:buClrTx/>
              <a:buFont typeface="Wingdings" panose="05000000000000000000" pitchFamily="2" charset="2"/>
              <a:buChar char="§"/>
            </a:pPr>
            <a:r>
              <a:rPr lang="en-US" sz="1600" dirty="0">
                <a:solidFill>
                  <a:srgbClr val="000000"/>
                </a:solidFill>
                <a:latin typeface="+mn-lt"/>
              </a:rPr>
              <a:t>All records created/updated/deleted in Conformed as a result of the batch will receive </a:t>
            </a:r>
            <a:r>
              <a:rPr lang="en-US" sz="1600" dirty="0" err="1">
                <a:solidFill>
                  <a:srgbClr val="000000"/>
                </a:solidFill>
                <a:latin typeface="+mn-lt"/>
              </a:rPr>
              <a:t>ValidFrom</a:t>
            </a:r>
            <a:r>
              <a:rPr lang="en-US" sz="1600" dirty="0">
                <a:solidFill>
                  <a:srgbClr val="000000"/>
                </a:solidFill>
                <a:latin typeface="+mn-lt"/>
              </a:rPr>
              <a:t> / </a:t>
            </a:r>
            <a:r>
              <a:rPr lang="en-US" sz="1600" dirty="0" err="1">
                <a:solidFill>
                  <a:srgbClr val="000000"/>
                </a:solidFill>
                <a:latin typeface="+mn-lt"/>
              </a:rPr>
              <a:t>ValidTo</a:t>
            </a:r>
            <a:r>
              <a:rPr lang="en-US" sz="1600" dirty="0">
                <a:solidFill>
                  <a:srgbClr val="000000"/>
                </a:solidFill>
                <a:latin typeface="+mn-lt"/>
              </a:rPr>
              <a:t> timestamps equal to the BED of that batch</a:t>
            </a:r>
          </a:p>
        </p:txBody>
      </p:sp>
      <p:pic>
        <p:nvPicPr>
          <p:cNvPr id="13" name="Picture 12">
            <a:extLst>
              <a:ext uri="{FF2B5EF4-FFF2-40B4-BE49-F238E27FC236}">
                <a16:creationId xmlns:a16="http://schemas.microsoft.com/office/drawing/2014/main" id="{51D7AA04-069D-4421-9B73-5837DC818647}"/>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contrast="20000"/>
                    </a14:imgEffect>
                  </a14:imgLayer>
                </a14:imgProps>
              </a:ext>
            </a:extLst>
          </a:blip>
          <a:stretch>
            <a:fillRect/>
          </a:stretch>
        </p:blipFill>
        <p:spPr>
          <a:xfrm>
            <a:off x="2322936" y="1336939"/>
            <a:ext cx="7082487" cy="2038169"/>
          </a:xfrm>
          <a:prstGeom prst="rect">
            <a:avLst/>
          </a:prstGeom>
        </p:spPr>
      </p:pic>
    </p:spTree>
    <p:extLst>
      <p:ext uri="{BB962C8B-B14F-4D97-AF65-F5344CB8AC3E}">
        <p14:creationId xmlns:p14="http://schemas.microsoft.com/office/powerpoint/2010/main" val="1409301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Conformed To Staging</a:t>
            </a:r>
            <a:r>
              <a:rPr lang="en-US" sz="4200" b="1" dirty="0"/>
              <a:t> (Processing)</a:t>
            </a:r>
            <a:endParaRPr lang="en-US" b="1" dirty="0"/>
          </a:p>
        </p:txBody>
      </p:sp>
      <p:grpSp>
        <p:nvGrpSpPr>
          <p:cNvPr id="4" name="Group 3"/>
          <p:cNvGrpSpPr/>
          <p:nvPr/>
        </p:nvGrpSpPr>
        <p:grpSpPr>
          <a:xfrm>
            <a:off x="1059495" y="1579194"/>
            <a:ext cx="10073011" cy="3699612"/>
            <a:chOff x="1059495" y="1384070"/>
            <a:chExt cx="10073011" cy="3699612"/>
          </a:xfrm>
        </p:grpSpPr>
        <p:grpSp>
          <p:nvGrpSpPr>
            <p:cNvPr id="33" name="Group 32"/>
            <p:cNvGrpSpPr/>
            <p:nvPr/>
          </p:nvGrpSpPr>
          <p:grpSpPr>
            <a:xfrm>
              <a:off x="1059495" y="1941184"/>
              <a:ext cx="1071154" cy="793559"/>
              <a:chOff x="999310" y="1342340"/>
              <a:chExt cx="1071154" cy="936386"/>
            </a:xfrm>
          </p:grpSpPr>
          <p:pic>
            <p:nvPicPr>
              <p:cNvPr id="46" name="Picture 45"/>
              <p:cNvPicPr>
                <a:picLocks noChangeAspect="1"/>
              </p:cNvPicPr>
              <p:nvPr/>
            </p:nvPicPr>
            <p:blipFill rotWithShape="1">
              <a:blip r:embed="rId2">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48" name="Picture 47"/>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sp>
          <p:nvSpPr>
            <p:cNvPr id="50" name="Right Arrow 49"/>
            <p:cNvSpPr/>
            <p:nvPr/>
          </p:nvSpPr>
          <p:spPr>
            <a:xfrm>
              <a:off x="2369364" y="2242786"/>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ight Arrow 50"/>
            <p:cNvSpPr/>
            <p:nvPr/>
          </p:nvSpPr>
          <p:spPr>
            <a:xfrm>
              <a:off x="4471232" y="2242786"/>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ight Arrow 51"/>
            <p:cNvSpPr/>
            <p:nvPr/>
          </p:nvSpPr>
          <p:spPr>
            <a:xfrm>
              <a:off x="9382045" y="2215008"/>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0196120" y="1913405"/>
              <a:ext cx="936386" cy="793559"/>
            </a:xfrm>
            <a:prstGeom prst="rect">
              <a:avLst/>
            </a:prstGeom>
            <a:solidFill>
              <a:schemeClr val="tx1"/>
            </a:solidFill>
          </p:spPr>
        </p:pic>
        <p:grpSp>
          <p:nvGrpSpPr>
            <p:cNvPr id="54" name="Group 53"/>
            <p:cNvGrpSpPr/>
            <p:nvPr/>
          </p:nvGrpSpPr>
          <p:grpSpPr>
            <a:xfrm>
              <a:off x="1835608" y="3277130"/>
              <a:ext cx="1648085" cy="1806552"/>
              <a:chOff x="955415" y="3360918"/>
              <a:chExt cx="1900644" cy="1300827"/>
            </a:xfrm>
          </p:grpSpPr>
          <p:sp>
            <p:nvSpPr>
              <p:cNvPr id="55" name="Freeform 54"/>
              <p:cNvSpPr/>
              <p:nvPr/>
            </p:nvSpPr>
            <p:spPr>
              <a:xfrm>
                <a:off x="955415" y="3360918"/>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Looks for active Batch and BED in SQLDB</a:t>
                </a:r>
                <a:endParaRPr lang="en-US" sz="1300" kern="1200" dirty="0">
                  <a:solidFill>
                    <a:schemeClr val="tx2">
                      <a:lumMod val="75000"/>
                      <a:lumOff val="25000"/>
                    </a:schemeClr>
                  </a:solidFill>
                </a:endParaRPr>
              </a:p>
            </p:txBody>
          </p:sp>
          <p:sp>
            <p:nvSpPr>
              <p:cNvPr id="56" name="Freeform 55"/>
              <p:cNvSpPr/>
              <p:nvPr/>
            </p:nvSpPr>
            <p:spPr>
              <a:xfrm>
                <a:off x="955415" y="3805607"/>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Calls the notebook </a:t>
                </a:r>
                <a:r>
                  <a:rPr lang="en-IN" sz="1400" dirty="0" err="1">
                    <a:solidFill>
                      <a:srgbClr val="424242"/>
                    </a:solidFill>
                  </a:rPr>
                  <a:t>load_bed_dbdt_sqdw</a:t>
                </a:r>
                <a:endParaRPr lang="en-IN" sz="1300" dirty="0">
                  <a:solidFill>
                    <a:schemeClr val="tx2">
                      <a:lumMod val="75000"/>
                      <a:lumOff val="25000"/>
                    </a:schemeClr>
                  </a:solidFill>
                </a:endParaRPr>
              </a:p>
            </p:txBody>
          </p:sp>
          <p:sp>
            <p:nvSpPr>
              <p:cNvPr id="57" name="Freeform 56"/>
              <p:cNvSpPr/>
              <p:nvPr/>
            </p:nvSpPr>
            <p:spPr>
              <a:xfrm>
                <a:off x="955415" y="4241712"/>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58" name="5-Point Star 57"/>
            <p:cNvSpPr/>
            <p:nvPr/>
          </p:nvSpPr>
          <p:spPr>
            <a:xfrm>
              <a:off x="1673214" y="3126259"/>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nvGrpSpPr>
            <p:cNvPr id="59" name="Group 58"/>
            <p:cNvGrpSpPr/>
            <p:nvPr/>
          </p:nvGrpSpPr>
          <p:grpSpPr>
            <a:xfrm>
              <a:off x="6349930" y="3261274"/>
              <a:ext cx="1750031" cy="1198375"/>
              <a:chOff x="3648511" y="3724892"/>
              <a:chExt cx="1648085" cy="1198375"/>
            </a:xfrm>
          </p:grpSpPr>
          <p:sp>
            <p:nvSpPr>
              <p:cNvPr id="60" name="Freeform 59"/>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Apply the merge statement – insert and update</a:t>
                </a:r>
              </a:p>
            </p:txBody>
          </p:sp>
          <p:sp>
            <p:nvSpPr>
              <p:cNvPr id="61" name="Freeform 60"/>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Merge logic is based on HBK and VFT</a:t>
                </a:r>
              </a:p>
            </p:txBody>
          </p:sp>
        </p:grpSp>
        <p:grpSp>
          <p:nvGrpSpPr>
            <p:cNvPr id="62" name="Group 61"/>
            <p:cNvGrpSpPr/>
            <p:nvPr/>
          </p:nvGrpSpPr>
          <p:grpSpPr>
            <a:xfrm>
              <a:off x="8755769" y="3271955"/>
              <a:ext cx="1648087" cy="1203552"/>
              <a:chOff x="6065138" y="3719715"/>
              <a:chExt cx="1648087" cy="1203552"/>
            </a:xfrm>
          </p:grpSpPr>
          <p:sp>
            <p:nvSpPr>
              <p:cNvPr id="63" name="Freeform 62"/>
              <p:cNvSpPr/>
              <p:nvPr/>
            </p:nvSpPr>
            <p:spPr>
              <a:xfrm>
                <a:off x="6065140" y="3719715"/>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object date availability for staging tables</a:t>
                </a:r>
                <a:endParaRPr lang="en-US" sz="1300" kern="1200" dirty="0">
                  <a:solidFill>
                    <a:schemeClr val="tx2">
                      <a:lumMod val="75000"/>
                      <a:lumOff val="25000"/>
                    </a:schemeClr>
                  </a:solidFill>
                </a:endParaRPr>
              </a:p>
            </p:txBody>
          </p:sp>
          <p:sp>
            <p:nvSpPr>
              <p:cNvPr id="64" name="Freeform 63"/>
              <p:cNvSpPr/>
              <p:nvPr/>
            </p:nvSpPr>
            <p:spPr>
              <a:xfrm>
                <a:off x="6065138"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66" name="5-Point Star 65"/>
            <p:cNvSpPr/>
            <p:nvPr/>
          </p:nvSpPr>
          <p:spPr>
            <a:xfrm>
              <a:off x="6189184" y="3114378"/>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68" name="Picture 67"/>
            <p:cNvPicPr>
              <a:picLocks noChangeAspect="1"/>
            </p:cNvPicPr>
            <p:nvPr/>
          </p:nvPicPr>
          <p:blipFill rotWithShape="1">
            <a:blip r:embed="rId7">
              <a:extLst>
                <a:ext uri="{28A0092B-C50C-407E-A947-70E740481C1C}">
                  <a14:useLocalDpi xmlns:a14="http://schemas.microsoft.com/office/drawing/2010/main" val="0"/>
                </a:ext>
              </a:extLst>
            </a:blip>
            <a:srcRect l="25822" r="26889"/>
            <a:stretch/>
          </p:blipFill>
          <p:spPr>
            <a:xfrm>
              <a:off x="7751193" y="1774319"/>
              <a:ext cx="1418308" cy="1071729"/>
            </a:xfrm>
            <a:prstGeom prst="rect">
              <a:avLst/>
            </a:prstGeom>
          </p:spPr>
        </p:pic>
        <p:pic>
          <p:nvPicPr>
            <p:cNvPr id="9" name="Picture 8"/>
            <p:cNvPicPr>
              <a:picLocks noChangeAspect="1"/>
            </p:cNvPicPr>
            <p:nvPr/>
          </p:nvPicPr>
          <p:blipFill>
            <a:blip r:embed="rId8">
              <a:extLst>
                <a:ext uri="{BEBA8EAE-BF5A-486C-A8C5-ECC9F3942E4B}">
                  <a14:imgProps xmlns:a14="http://schemas.microsoft.com/office/drawing/2010/main">
                    <a14:imgLayer r:embed="rId9">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3183848" y="1809245"/>
              <a:ext cx="1053881" cy="1053881"/>
            </a:xfrm>
            <a:prstGeom prst="rect">
              <a:avLst/>
            </a:prstGeom>
          </p:spPr>
        </p:pic>
        <p:grpSp>
          <p:nvGrpSpPr>
            <p:cNvPr id="70" name="Group 69"/>
            <p:cNvGrpSpPr/>
            <p:nvPr/>
          </p:nvGrpSpPr>
          <p:grpSpPr>
            <a:xfrm>
              <a:off x="3989544" y="3274821"/>
              <a:ext cx="1750031" cy="1198375"/>
              <a:chOff x="3648511" y="3724892"/>
              <a:chExt cx="1648085" cy="1198375"/>
            </a:xfrm>
          </p:grpSpPr>
          <p:sp>
            <p:nvSpPr>
              <p:cNvPr id="71" name="Freeform 70"/>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Fetches data based on BED condition</a:t>
                </a:r>
                <a:endParaRPr lang="en-US" sz="1300" dirty="0">
                  <a:solidFill>
                    <a:schemeClr val="tx2">
                      <a:lumMod val="75000"/>
                      <a:lumOff val="25000"/>
                    </a:schemeClr>
                  </a:solidFill>
                </a:endParaRPr>
              </a:p>
            </p:txBody>
          </p:sp>
          <p:sp>
            <p:nvSpPr>
              <p:cNvPr id="72" name="Freeform 71"/>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Overwrites the data into (external table) parquet location</a:t>
                </a:r>
              </a:p>
            </p:txBody>
          </p:sp>
        </p:grpSp>
        <p:sp>
          <p:nvSpPr>
            <p:cNvPr id="73" name="5-Point Star 72"/>
            <p:cNvSpPr/>
            <p:nvPr/>
          </p:nvSpPr>
          <p:spPr>
            <a:xfrm>
              <a:off x="3828793" y="3117244"/>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74" name="Picture 73"/>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5285307" y="1965200"/>
              <a:ext cx="1418308" cy="683551"/>
            </a:xfrm>
            <a:prstGeom prst="rect">
              <a:avLst/>
            </a:prstGeom>
          </p:spPr>
        </p:pic>
        <p:sp>
          <p:nvSpPr>
            <p:cNvPr id="34" name="5-Point Star 33"/>
            <p:cNvSpPr/>
            <p:nvPr/>
          </p:nvSpPr>
          <p:spPr>
            <a:xfrm>
              <a:off x="8595024" y="3134478"/>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5" name="Right Arrow 34"/>
            <p:cNvSpPr/>
            <p:nvPr/>
          </p:nvSpPr>
          <p:spPr>
            <a:xfrm>
              <a:off x="6937118" y="2211798"/>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3989538" y="4500352"/>
              <a:ext cx="1750031"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Moves the data from external to Staging table</a:t>
              </a:r>
              <a:endParaRPr lang="en-US" sz="1300" kern="1200" dirty="0">
                <a:solidFill>
                  <a:schemeClr val="tx2">
                    <a:lumMod val="75000"/>
                    <a:lumOff val="25000"/>
                  </a:schemeClr>
                </a:solidFill>
              </a:endParaRPr>
            </a:p>
          </p:txBody>
        </p:sp>
        <p:sp>
          <p:nvSpPr>
            <p:cNvPr id="37" name="Freeform 36"/>
            <p:cNvSpPr/>
            <p:nvPr/>
          </p:nvSpPr>
          <p:spPr>
            <a:xfrm>
              <a:off x="6351492" y="4500352"/>
              <a:ext cx="1750031"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Addition of </a:t>
              </a:r>
              <a:r>
                <a:rPr lang="en-IN" sz="1300" dirty="0" err="1">
                  <a:solidFill>
                    <a:schemeClr val="tx2">
                      <a:lumMod val="75000"/>
                      <a:lumOff val="25000"/>
                    </a:schemeClr>
                  </a:solidFill>
                </a:rPr>
                <a:t>dwh</a:t>
              </a:r>
              <a:r>
                <a:rPr lang="en-IN" sz="1300" dirty="0">
                  <a:solidFill>
                    <a:schemeClr val="tx2">
                      <a:lumMod val="75000"/>
                      <a:lumOff val="25000"/>
                    </a:schemeClr>
                  </a:solidFill>
                </a:rPr>
                <a:t> audit columns</a:t>
              </a:r>
            </a:p>
          </p:txBody>
        </p:sp>
        <p:sp>
          <p:nvSpPr>
            <p:cNvPr id="38" name="TextBox 37"/>
            <p:cNvSpPr txBox="1"/>
            <p:nvPr/>
          </p:nvSpPr>
          <p:spPr>
            <a:xfrm>
              <a:off x="10190908" y="1384070"/>
              <a:ext cx="941598" cy="492443"/>
            </a:xfrm>
            <a:prstGeom prst="rect">
              <a:avLst/>
            </a:prstGeom>
            <a:noFill/>
          </p:spPr>
          <p:txBody>
            <a:bodyPr wrap="square" rtlCol="0">
              <a:spAutoFit/>
            </a:bodyPr>
            <a:lstStyle/>
            <a:p>
              <a:pPr algn="ctr"/>
              <a:r>
                <a:rPr lang="en-IN" sz="1300" dirty="0">
                  <a:solidFill>
                    <a:srgbClr val="424242"/>
                  </a:solidFill>
                </a:rPr>
                <a:t>SQLDB (Metadata)</a:t>
              </a:r>
              <a:endParaRPr lang="en-US" sz="1300" dirty="0">
                <a:solidFill>
                  <a:srgbClr val="424242"/>
                </a:solidFill>
              </a:endParaRPr>
            </a:p>
          </p:txBody>
        </p:sp>
      </p:grpSp>
    </p:spTree>
    <p:extLst>
      <p:ext uri="{BB962C8B-B14F-4D97-AF65-F5344CB8AC3E}">
        <p14:creationId xmlns:p14="http://schemas.microsoft.com/office/powerpoint/2010/main" val="696507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Conformed To Staging</a:t>
            </a:r>
            <a:r>
              <a:rPr lang="en-US" sz="4200" b="1" dirty="0"/>
              <a:t> (Orchestration)</a:t>
            </a:r>
          </a:p>
        </p:txBody>
      </p:sp>
      <p:sp>
        <p:nvSpPr>
          <p:cNvPr id="3" name="Subtitle 2"/>
          <p:cNvSpPr>
            <a:spLocks noGrp="1"/>
          </p:cNvSpPr>
          <p:nvPr>
            <p:ph type="subTitle" idx="1"/>
          </p:nvPr>
        </p:nvSpPr>
        <p:spPr>
          <a:xfrm>
            <a:off x="457199" y="3619499"/>
            <a:ext cx="11277601" cy="1958341"/>
          </a:xfrm>
        </p:spPr>
        <p:txBody>
          <a:bodyPr/>
          <a:lstStyle/>
          <a:p>
            <a:r>
              <a:rPr lang="en-US" b="1" dirty="0">
                <a:solidFill>
                  <a:srgbClr val="000000"/>
                </a:solidFill>
              </a:rPr>
              <a:t>Summary:</a:t>
            </a:r>
          </a:p>
          <a:p>
            <a:pPr marL="285750" indent="-285750">
              <a:spcAft>
                <a:spcPts val="0"/>
              </a:spcAft>
              <a:buFont typeface="Arial" panose="020B0604020202020204" pitchFamily="34" charset="0"/>
              <a:buChar char="•"/>
            </a:pPr>
            <a:r>
              <a:rPr lang="en-IN" dirty="0">
                <a:solidFill>
                  <a:srgbClr val="000000"/>
                </a:solidFill>
              </a:rPr>
              <a:t>“onn_task_dbnotebook_group1” Activity – calls generic notebook, </a:t>
            </a:r>
            <a:r>
              <a:rPr lang="en-IN" dirty="0" err="1">
                <a:solidFill>
                  <a:srgbClr val="000000"/>
                </a:solidFill>
              </a:rPr>
              <a:t>load_bed_dbdt_sqdw</a:t>
            </a:r>
            <a:r>
              <a:rPr lang="en-IN" dirty="0">
                <a:solidFill>
                  <a:srgbClr val="000000"/>
                </a:solidFill>
              </a:rPr>
              <a:t> which suffices two objective, mentioned below:</a:t>
            </a:r>
          </a:p>
          <a:p>
            <a:pPr marL="857250" lvl="1" indent="-400050" algn="l">
              <a:buFont typeface="+mj-lt"/>
              <a:buAutoNum type="romanLcPeriod"/>
            </a:pPr>
            <a:r>
              <a:rPr lang="en-IN" sz="1600" dirty="0">
                <a:solidFill>
                  <a:srgbClr val="000000"/>
                </a:solidFill>
                <a:latin typeface="+mn-lt"/>
              </a:rPr>
              <a:t>Overwrite the data from conformed delta table to (external table) parquet location based on BED </a:t>
            </a:r>
            <a:r>
              <a:rPr lang="en-IN" sz="1600" dirty="0" err="1">
                <a:solidFill>
                  <a:srgbClr val="000000"/>
                </a:solidFill>
                <a:latin typeface="+mn-lt"/>
              </a:rPr>
              <a:t>i.e</a:t>
            </a:r>
            <a:r>
              <a:rPr lang="en-IN" sz="1600" dirty="0">
                <a:solidFill>
                  <a:srgbClr val="000000"/>
                </a:solidFill>
                <a:latin typeface="+mn-lt"/>
              </a:rPr>
              <a:t> move only data satisfying the condition: </a:t>
            </a:r>
            <a:r>
              <a:rPr lang="en-IN" sz="1600" i="1" dirty="0" err="1">
                <a:solidFill>
                  <a:srgbClr val="000000"/>
                </a:solidFill>
                <a:latin typeface="+mn-lt"/>
              </a:rPr>
              <a:t>lakeValidFromTimestamp</a:t>
            </a:r>
            <a:r>
              <a:rPr lang="en-IN" sz="1600" i="1" dirty="0">
                <a:solidFill>
                  <a:srgbClr val="000000"/>
                </a:solidFill>
                <a:latin typeface="+mn-lt"/>
              </a:rPr>
              <a:t> = BED OR </a:t>
            </a:r>
            <a:r>
              <a:rPr lang="en-IN" sz="1600" i="1" dirty="0" err="1">
                <a:solidFill>
                  <a:srgbClr val="000000"/>
                </a:solidFill>
                <a:latin typeface="+mn-lt"/>
              </a:rPr>
              <a:t>lakeDeletedTimeStamp</a:t>
            </a:r>
            <a:r>
              <a:rPr lang="en-IN" sz="1600" i="1" dirty="0">
                <a:solidFill>
                  <a:srgbClr val="000000"/>
                </a:solidFill>
                <a:latin typeface="+mn-lt"/>
              </a:rPr>
              <a:t> = BED OR </a:t>
            </a:r>
            <a:r>
              <a:rPr lang="en-IN" sz="1600" i="1" dirty="0" err="1">
                <a:solidFill>
                  <a:srgbClr val="000000"/>
                </a:solidFill>
                <a:latin typeface="+mn-lt"/>
              </a:rPr>
              <a:t>lakeValidToTimestamp</a:t>
            </a:r>
            <a:r>
              <a:rPr lang="en-IN" sz="1600" i="1" dirty="0">
                <a:solidFill>
                  <a:srgbClr val="000000"/>
                </a:solidFill>
                <a:latin typeface="+mn-lt"/>
              </a:rPr>
              <a:t> = BED</a:t>
            </a:r>
          </a:p>
          <a:p>
            <a:pPr marL="857250" lvl="1" indent="-400050" algn="l">
              <a:buFont typeface="+mj-lt"/>
              <a:buAutoNum type="romanLcPeriod"/>
            </a:pPr>
            <a:r>
              <a:rPr lang="en-IN" sz="1600" dirty="0">
                <a:solidFill>
                  <a:srgbClr val="000000"/>
                </a:solidFill>
                <a:latin typeface="+mn-lt"/>
              </a:rPr>
              <a:t>Execute the stored procedure in synapse to load data from external table to corresponding staging table. Additional </a:t>
            </a:r>
            <a:r>
              <a:rPr lang="en-IN" sz="1600" dirty="0" err="1">
                <a:solidFill>
                  <a:srgbClr val="000000"/>
                </a:solidFill>
                <a:latin typeface="+mn-lt"/>
              </a:rPr>
              <a:t>dwh</a:t>
            </a:r>
            <a:r>
              <a:rPr lang="en-IN" sz="1600" dirty="0">
                <a:solidFill>
                  <a:srgbClr val="000000"/>
                </a:solidFill>
                <a:latin typeface="+mn-lt"/>
              </a:rPr>
              <a:t> audit columns (</a:t>
            </a:r>
            <a:r>
              <a:rPr lang="en-IN" sz="1600" dirty="0" err="1">
                <a:solidFill>
                  <a:srgbClr val="000000"/>
                </a:solidFill>
                <a:latin typeface="+mn-lt"/>
              </a:rPr>
              <a:t>dwhCreatedTimestamp</a:t>
            </a:r>
            <a:r>
              <a:rPr lang="en-IN" sz="1600" dirty="0">
                <a:solidFill>
                  <a:srgbClr val="000000"/>
                </a:solidFill>
                <a:latin typeface="+mn-lt"/>
              </a:rPr>
              <a:t>, </a:t>
            </a:r>
            <a:r>
              <a:rPr lang="en-IN" sz="1600" dirty="0" err="1">
                <a:solidFill>
                  <a:srgbClr val="000000"/>
                </a:solidFill>
                <a:latin typeface="+mn-lt"/>
              </a:rPr>
              <a:t>dwhLastUpdateTimestamp</a:t>
            </a:r>
            <a:r>
              <a:rPr lang="en-IN" sz="1600" dirty="0">
                <a:solidFill>
                  <a:srgbClr val="000000"/>
                </a:solidFill>
                <a:latin typeface="+mn-lt"/>
              </a:rPr>
              <a:t>, </a:t>
            </a:r>
            <a:r>
              <a:rPr lang="en-IN" sz="1600" dirty="0" err="1">
                <a:solidFill>
                  <a:srgbClr val="000000"/>
                </a:solidFill>
                <a:latin typeface="+mn-lt"/>
              </a:rPr>
              <a:t>dwhCreatedBatchID</a:t>
            </a:r>
            <a:r>
              <a:rPr lang="en-IN" sz="1600" dirty="0">
                <a:solidFill>
                  <a:srgbClr val="000000"/>
                </a:solidFill>
                <a:latin typeface="+mn-lt"/>
              </a:rPr>
              <a:t> and </a:t>
            </a:r>
            <a:r>
              <a:rPr lang="en-IN" sz="1600" dirty="0" err="1">
                <a:solidFill>
                  <a:srgbClr val="000000"/>
                </a:solidFill>
                <a:latin typeface="+mn-lt"/>
              </a:rPr>
              <a:t>dwhLastUpdatedBatchID</a:t>
            </a:r>
            <a:r>
              <a:rPr lang="en-IN" sz="1600" dirty="0">
                <a:solidFill>
                  <a:srgbClr val="000000"/>
                </a:solidFill>
                <a:latin typeface="+mn-lt"/>
              </a:rPr>
              <a:t>) are created.</a:t>
            </a:r>
          </a:p>
        </p:txBody>
      </p:sp>
      <p:pic>
        <p:nvPicPr>
          <p:cNvPr id="5" name="Picture 4"/>
          <p:cNvPicPr>
            <a:picLocks noChangeAspect="1"/>
          </p:cNvPicPr>
          <p:nvPr/>
        </p:nvPicPr>
        <p:blipFill>
          <a:blip r:embed="rId2"/>
          <a:stretch>
            <a:fillRect/>
          </a:stretch>
        </p:blipFill>
        <p:spPr>
          <a:xfrm>
            <a:off x="3885892" y="1795394"/>
            <a:ext cx="4420217" cy="981212"/>
          </a:xfrm>
          <a:prstGeom prst="rect">
            <a:avLst/>
          </a:prstGeom>
        </p:spPr>
      </p:pic>
    </p:spTree>
    <p:extLst>
      <p:ext uri="{BB962C8B-B14F-4D97-AF65-F5344CB8AC3E}">
        <p14:creationId xmlns:p14="http://schemas.microsoft.com/office/powerpoint/2010/main" val="3904286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dirty="0"/>
              <a:t>Staging To DW</a:t>
            </a:r>
            <a:r>
              <a:rPr lang="en-US" sz="4200" b="1" dirty="0"/>
              <a:t> (Processing)</a:t>
            </a:r>
            <a:endParaRPr lang="en-US" b="1" dirty="0"/>
          </a:p>
        </p:txBody>
      </p:sp>
      <p:grpSp>
        <p:nvGrpSpPr>
          <p:cNvPr id="6" name="Group 5"/>
          <p:cNvGrpSpPr/>
          <p:nvPr/>
        </p:nvGrpSpPr>
        <p:grpSpPr>
          <a:xfrm>
            <a:off x="2138452" y="1412321"/>
            <a:ext cx="7915097" cy="4033359"/>
            <a:chOff x="1902450" y="1908347"/>
            <a:chExt cx="7915097" cy="4033359"/>
          </a:xfrm>
        </p:grpSpPr>
        <p:grpSp>
          <p:nvGrpSpPr>
            <p:cNvPr id="5" name="Group 4"/>
            <p:cNvGrpSpPr/>
            <p:nvPr/>
          </p:nvGrpSpPr>
          <p:grpSpPr>
            <a:xfrm>
              <a:off x="1902450" y="2261704"/>
              <a:ext cx="7909885" cy="3680002"/>
              <a:chOff x="1902450" y="2261704"/>
              <a:chExt cx="7909885" cy="3680002"/>
            </a:xfrm>
          </p:grpSpPr>
          <p:grpSp>
            <p:nvGrpSpPr>
              <p:cNvPr id="33" name="Group 32"/>
              <p:cNvGrpSpPr/>
              <p:nvPr/>
            </p:nvGrpSpPr>
            <p:grpSpPr>
              <a:xfrm>
                <a:off x="1902450" y="2402566"/>
                <a:ext cx="1071154" cy="793559"/>
                <a:chOff x="999310" y="1342340"/>
                <a:chExt cx="1071154" cy="936386"/>
              </a:xfrm>
            </p:grpSpPr>
            <p:pic>
              <p:nvPicPr>
                <p:cNvPr id="46" name="Picture 45"/>
                <p:cNvPicPr>
                  <a:picLocks noChangeAspect="1"/>
                </p:cNvPicPr>
                <p:nvPr/>
              </p:nvPicPr>
              <p:blipFill rotWithShape="1">
                <a:blip r:embed="rId2">
                  <a:extLst>
                    <a:ext uri="{28A0092B-C50C-407E-A947-70E740481C1C}">
                      <a14:useLocalDpi xmlns:a14="http://schemas.microsoft.com/office/drawing/2010/main" val="0"/>
                    </a:ext>
                  </a:extLst>
                </a:blip>
                <a:srcRect l="31768" r="10034"/>
                <a:stretch/>
              </p:blipFill>
              <p:spPr>
                <a:xfrm>
                  <a:off x="999310" y="1920745"/>
                  <a:ext cx="1071154" cy="357981"/>
                </a:xfrm>
                <a:prstGeom prst="rect">
                  <a:avLst/>
                </a:prstGeom>
              </p:spPr>
            </p:pic>
            <p:pic>
              <p:nvPicPr>
                <p:cNvPr id="48" name="Picture 47"/>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Effect>
                            <a14:brightnessContrast contrast="20000"/>
                          </a14:imgEffect>
                        </a14:imgLayer>
                      </a14:imgProps>
                    </a:ext>
                    <a:ext uri="{28A0092B-C50C-407E-A947-70E740481C1C}">
                      <a14:useLocalDpi xmlns:a14="http://schemas.microsoft.com/office/drawing/2010/main" val="0"/>
                    </a:ext>
                  </a:extLst>
                </a:blip>
                <a:srcRect l="8507" r="66705"/>
                <a:stretch/>
              </p:blipFill>
              <p:spPr>
                <a:xfrm>
                  <a:off x="1201784" y="1342340"/>
                  <a:ext cx="666206" cy="522736"/>
                </a:xfrm>
                <a:prstGeom prst="rect">
                  <a:avLst/>
                </a:prstGeom>
              </p:spPr>
            </p:pic>
          </p:grpSp>
          <p:sp>
            <p:nvSpPr>
              <p:cNvPr id="50" name="Right Arrow 49"/>
              <p:cNvSpPr/>
              <p:nvPr/>
            </p:nvSpPr>
            <p:spPr>
              <a:xfrm>
                <a:off x="3212319" y="2704168"/>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ight Arrow 51"/>
              <p:cNvSpPr/>
              <p:nvPr/>
            </p:nvSpPr>
            <p:spPr>
              <a:xfrm>
                <a:off x="8061874" y="2702393"/>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8875949" y="2400790"/>
                <a:ext cx="936386" cy="793559"/>
              </a:xfrm>
              <a:prstGeom prst="rect">
                <a:avLst/>
              </a:prstGeom>
              <a:solidFill>
                <a:schemeClr val="tx1"/>
              </a:solidFill>
            </p:spPr>
          </p:pic>
          <p:grpSp>
            <p:nvGrpSpPr>
              <p:cNvPr id="54" name="Group 53"/>
              <p:cNvGrpSpPr/>
              <p:nvPr/>
            </p:nvGrpSpPr>
            <p:grpSpPr>
              <a:xfrm>
                <a:off x="2620200" y="3529504"/>
                <a:ext cx="1648085" cy="1806552"/>
                <a:chOff x="955415" y="3360918"/>
                <a:chExt cx="1900644" cy="1300827"/>
              </a:xfrm>
            </p:grpSpPr>
            <p:sp>
              <p:nvSpPr>
                <p:cNvPr id="55" name="Freeform 54"/>
                <p:cNvSpPr/>
                <p:nvPr/>
              </p:nvSpPr>
              <p:spPr>
                <a:xfrm>
                  <a:off x="955415" y="3360918"/>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Looks for active Batch and BED in SQLDB</a:t>
                  </a:r>
                  <a:endParaRPr lang="en-US" sz="1300" kern="1200" dirty="0">
                    <a:solidFill>
                      <a:schemeClr val="tx2">
                        <a:lumMod val="75000"/>
                        <a:lumOff val="25000"/>
                      </a:schemeClr>
                    </a:solidFill>
                  </a:endParaRPr>
                </a:p>
              </p:txBody>
            </p:sp>
            <p:sp>
              <p:nvSpPr>
                <p:cNvPr id="56" name="Freeform 55"/>
                <p:cNvSpPr/>
                <p:nvPr/>
              </p:nvSpPr>
              <p:spPr>
                <a:xfrm>
                  <a:off x="955415" y="3805607"/>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Calls the stored procedures in synapse</a:t>
                  </a:r>
                </a:p>
              </p:txBody>
            </p:sp>
            <p:sp>
              <p:nvSpPr>
                <p:cNvPr id="57" name="Freeform 56"/>
                <p:cNvSpPr/>
                <p:nvPr/>
              </p:nvSpPr>
              <p:spPr>
                <a:xfrm>
                  <a:off x="955415" y="4241712"/>
                  <a:ext cx="1900644" cy="420033"/>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Fetches data based on BED criteria from staging</a:t>
                  </a:r>
                </a:p>
              </p:txBody>
            </p:sp>
          </p:grpSp>
          <p:sp>
            <p:nvSpPr>
              <p:cNvPr id="58" name="5-Point Star 57"/>
              <p:cNvSpPr/>
              <p:nvPr/>
            </p:nvSpPr>
            <p:spPr>
              <a:xfrm>
                <a:off x="2457806" y="3378633"/>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63" name="Freeform 62"/>
              <p:cNvSpPr/>
              <p:nvPr/>
            </p:nvSpPr>
            <p:spPr>
              <a:xfrm>
                <a:off x="7659374" y="3534980"/>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sp>
            <p:nvSpPr>
              <p:cNvPr id="66" name="5-Point Star 65"/>
              <p:cNvSpPr/>
              <p:nvPr/>
            </p:nvSpPr>
            <p:spPr>
              <a:xfrm>
                <a:off x="7498627" y="3377403"/>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68" name="Picture 67"/>
              <p:cNvPicPr>
                <a:picLocks noChangeAspect="1"/>
              </p:cNvPicPr>
              <p:nvPr/>
            </p:nvPicPr>
            <p:blipFill rotWithShape="1">
              <a:blip r:embed="rId7">
                <a:extLst>
                  <a:ext uri="{28A0092B-C50C-407E-A947-70E740481C1C}">
                    <a14:useLocalDpi xmlns:a14="http://schemas.microsoft.com/office/drawing/2010/main" val="0"/>
                  </a:ext>
                </a:extLst>
              </a:blip>
              <a:srcRect l="25822" r="26889"/>
              <a:stretch/>
            </p:blipFill>
            <p:spPr>
              <a:xfrm>
                <a:off x="6451424" y="2261704"/>
                <a:ext cx="1418308" cy="1071729"/>
              </a:xfrm>
              <a:prstGeom prst="rect">
                <a:avLst/>
              </a:prstGeom>
            </p:spPr>
          </p:pic>
          <p:sp>
            <p:nvSpPr>
              <p:cNvPr id="69" name="Right Arrow 68"/>
              <p:cNvSpPr/>
              <p:nvPr/>
            </p:nvSpPr>
            <p:spPr>
              <a:xfrm>
                <a:off x="5683923" y="2702390"/>
                <a:ext cx="580572" cy="190354"/>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Group 69"/>
              <p:cNvGrpSpPr/>
              <p:nvPr/>
            </p:nvGrpSpPr>
            <p:grpSpPr>
              <a:xfrm>
                <a:off x="5088814" y="3529504"/>
                <a:ext cx="1750031" cy="1198375"/>
                <a:chOff x="3648511" y="3724892"/>
                <a:chExt cx="1648085" cy="1198375"/>
              </a:xfrm>
            </p:grpSpPr>
            <p:sp>
              <p:nvSpPr>
                <p:cNvPr id="71" name="Freeform 70"/>
                <p:cNvSpPr/>
                <p:nvPr/>
              </p:nvSpPr>
              <p:spPr>
                <a:xfrm>
                  <a:off x="3648511" y="3724892"/>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BED is provided as parameter to stored procedure</a:t>
                  </a:r>
                </a:p>
              </p:txBody>
            </p:sp>
            <p:sp>
              <p:nvSpPr>
                <p:cNvPr id="72" name="Freeform 71"/>
                <p:cNvSpPr/>
                <p:nvPr/>
              </p:nvSpPr>
              <p:spPr>
                <a:xfrm>
                  <a:off x="3648511" y="4339937"/>
                  <a:ext cx="1648085"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Apply the merge statement – insert and update</a:t>
                  </a:r>
                </a:p>
              </p:txBody>
            </p:sp>
          </p:grpSp>
          <p:sp>
            <p:nvSpPr>
              <p:cNvPr id="73" name="5-Point Star 72"/>
              <p:cNvSpPr/>
              <p:nvPr/>
            </p:nvSpPr>
            <p:spPr>
              <a:xfrm>
                <a:off x="4928063" y="3371927"/>
                <a:ext cx="321491" cy="264599"/>
              </a:xfrm>
              <a:prstGeom prst="star5">
                <a:avLst/>
              </a:prstGeom>
              <a:solidFill>
                <a:schemeClr val="accent5">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pic>
            <p:nvPicPr>
              <p:cNvPr id="3" name="Picture 2"/>
              <p:cNvPicPr>
                <a:picLocks noChangeAspect="1"/>
              </p:cNvPicPr>
              <p:nvPr/>
            </p:nvPicPr>
            <p:blipFill>
              <a:blip r:embed="rId8">
                <a:extLst>
                  <a:ext uri="{BEBA8EAE-BF5A-486C-A8C5-ECC9F3942E4B}">
                    <a14:imgProps xmlns:a14="http://schemas.microsoft.com/office/drawing/2010/main">
                      <a14:imgLayer r:embed="rId9">
                        <a14:imgEffect>
                          <a14:saturation sat="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026394" y="2457983"/>
                <a:ext cx="1418308" cy="683551"/>
              </a:xfrm>
              <a:prstGeom prst="rect">
                <a:avLst/>
              </a:prstGeom>
            </p:spPr>
          </p:pic>
          <p:sp>
            <p:nvSpPr>
              <p:cNvPr id="25" name="Freeform 24"/>
              <p:cNvSpPr/>
              <p:nvPr/>
            </p:nvSpPr>
            <p:spPr>
              <a:xfrm>
                <a:off x="5088814" y="4755035"/>
                <a:ext cx="1750031"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Creation of new </a:t>
                </a:r>
                <a:r>
                  <a:rPr lang="en-IN" sz="1300" dirty="0" err="1">
                    <a:solidFill>
                      <a:schemeClr val="tx2">
                        <a:lumMod val="75000"/>
                        <a:lumOff val="25000"/>
                      </a:schemeClr>
                    </a:solidFill>
                  </a:rPr>
                  <a:t>dwh</a:t>
                </a:r>
                <a:r>
                  <a:rPr lang="en-IN" sz="1300" dirty="0">
                    <a:solidFill>
                      <a:schemeClr val="tx2">
                        <a:lumMod val="75000"/>
                        <a:lumOff val="25000"/>
                      </a:schemeClr>
                    </a:solidFill>
                  </a:rPr>
                  <a:t> audit columns (e.g. HBK/HV/ID)</a:t>
                </a:r>
              </a:p>
            </p:txBody>
          </p:sp>
          <p:sp>
            <p:nvSpPr>
              <p:cNvPr id="26" name="Freeform 25"/>
              <p:cNvSpPr/>
              <p:nvPr/>
            </p:nvSpPr>
            <p:spPr>
              <a:xfrm>
                <a:off x="2627590" y="5358376"/>
                <a:ext cx="1640696" cy="583330"/>
              </a:xfrm>
              <a:custGeom>
                <a:avLst/>
                <a:gdLst>
                  <a:gd name="connsiteX0" fmla="*/ 209245 w 1255447"/>
                  <a:gd name="connsiteY0" fmla="*/ 0 h 6775979"/>
                  <a:gd name="connsiteX1" fmla="*/ 1046202 w 1255447"/>
                  <a:gd name="connsiteY1" fmla="*/ 0 h 6775979"/>
                  <a:gd name="connsiteX2" fmla="*/ 1255447 w 1255447"/>
                  <a:gd name="connsiteY2" fmla="*/ 209245 h 6775979"/>
                  <a:gd name="connsiteX3" fmla="*/ 1255447 w 1255447"/>
                  <a:gd name="connsiteY3" fmla="*/ 6775979 h 6775979"/>
                  <a:gd name="connsiteX4" fmla="*/ 1255447 w 1255447"/>
                  <a:gd name="connsiteY4" fmla="*/ 6775979 h 6775979"/>
                  <a:gd name="connsiteX5" fmla="*/ 0 w 1255447"/>
                  <a:gd name="connsiteY5" fmla="*/ 6775979 h 6775979"/>
                  <a:gd name="connsiteX6" fmla="*/ 0 w 1255447"/>
                  <a:gd name="connsiteY6" fmla="*/ 6775979 h 6775979"/>
                  <a:gd name="connsiteX7" fmla="*/ 0 w 1255447"/>
                  <a:gd name="connsiteY7" fmla="*/ 209245 h 6775979"/>
                  <a:gd name="connsiteX8" fmla="*/ 209245 w 1255447"/>
                  <a:gd name="connsiteY8" fmla="*/ 0 h 677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447" h="6775979">
                    <a:moveTo>
                      <a:pt x="1255447" y="1129352"/>
                    </a:moveTo>
                    <a:lnTo>
                      <a:pt x="1255447" y="5646627"/>
                    </a:lnTo>
                    <a:cubicBezTo>
                      <a:pt x="1255447" y="6270350"/>
                      <a:pt x="1238090" y="6775976"/>
                      <a:pt x="1216678" y="6775976"/>
                    </a:cubicBezTo>
                    <a:lnTo>
                      <a:pt x="0" y="6775976"/>
                    </a:lnTo>
                    <a:lnTo>
                      <a:pt x="0" y="6775976"/>
                    </a:lnTo>
                    <a:lnTo>
                      <a:pt x="0" y="3"/>
                    </a:lnTo>
                    <a:lnTo>
                      <a:pt x="0" y="3"/>
                    </a:lnTo>
                    <a:lnTo>
                      <a:pt x="1216678" y="3"/>
                    </a:lnTo>
                    <a:cubicBezTo>
                      <a:pt x="1238090" y="3"/>
                      <a:pt x="1255447" y="505629"/>
                      <a:pt x="1255447" y="1129352"/>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48920" tIns="83511" rIns="83511" bIns="83511" numCol="1" spcCol="1270" anchor="ctr" anchorCtr="0">
                <a:noAutofit/>
              </a:bodyPr>
              <a:lstStyle/>
              <a:p>
                <a:pPr marL="0" lvl="1" defTabSz="1555750">
                  <a:lnSpc>
                    <a:spcPct val="90000"/>
                  </a:lnSpc>
                  <a:spcBef>
                    <a:spcPct val="0"/>
                  </a:spcBef>
                  <a:spcAft>
                    <a:spcPct val="15000"/>
                  </a:spcAft>
                </a:pPr>
                <a:r>
                  <a:rPr lang="en-IN" sz="1300" dirty="0">
                    <a:solidFill>
                      <a:schemeClr val="tx2">
                        <a:lumMod val="75000"/>
                        <a:lumOff val="25000"/>
                      </a:schemeClr>
                    </a:solidFill>
                  </a:rPr>
                  <a:t>Update the log tables</a:t>
                </a:r>
              </a:p>
            </p:txBody>
          </p:sp>
        </p:grpSp>
        <p:sp>
          <p:nvSpPr>
            <p:cNvPr id="28" name="TextBox 27"/>
            <p:cNvSpPr txBox="1"/>
            <p:nvPr/>
          </p:nvSpPr>
          <p:spPr>
            <a:xfrm>
              <a:off x="8875949" y="1908347"/>
              <a:ext cx="941598" cy="492443"/>
            </a:xfrm>
            <a:prstGeom prst="rect">
              <a:avLst/>
            </a:prstGeom>
            <a:noFill/>
          </p:spPr>
          <p:txBody>
            <a:bodyPr wrap="square" rtlCol="0">
              <a:spAutoFit/>
            </a:bodyPr>
            <a:lstStyle/>
            <a:p>
              <a:pPr algn="ctr"/>
              <a:r>
                <a:rPr lang="en-IN" sz="1300" dirty="0">
                  <a:solidFill>
                    <a:srgbClr val="424242"/>
                  </a:solidFill>
                </a:rPr>
                <a:t>SQLDB (Metadata)</a:t>
              </a:r>
              <a:endParaRPr lang="en-US" sz="1300" dirty="0">
                <a:solidFill>
                  <a:srgbClr val="424242"/>
                </a:solidFill>
              </a:endParaRPr>
            </a:p>
          </p:txBody>
        </p:sp>
      </p:grpSp>
    </p:spTree>
    <p:extLst>
      <p:ext uri="{BB962C8B-B14F-4D97-AF65-F5344CB8AC3E}">
        <p14:creationId xmlns:p14="http://schemas.microsoft.com/office/powerpoint/2010/main" val="6440188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05954"/>
            <a:ext cx="11277600" cy="936386"/>
          </a:xfrm>
        </p:spPr>
        <p:txBody>
          <a:bodyPr/>
          <a:lstStyle/>
          <a:p>
            <a:r>
              <a:rPr lang="en-US" b="1"/>
              <a:t>Staging </a:t>
            </a:r>
            <a:r>
              <a:rPr lang="en-US" b="1" dirty="0"/>
              <a:t>To DW</a:t>
            </a:r>
            <a:r>
              <a:rPr lang="en-US" sz="4200" b="1" dirty="0"/>
              <a:t> (Orchestration)</a:t>
            </a:r>
          </a:p>
        </p:txBody>
      </p:sp>
      <p:sp>
        <p:nvSpPr>
          <p:cNvPr id="3" name="Subtitle 2"/>
          <p:cNvSpPr>
            <a:spLocks noGrp="1"/>
          </p:cNvSpPr>
          <p:nvPr>
            <p:ph type="subTitle" idx="1"/>
          </p:nvPr>
        </p:nvSpPr>
        <p:spPr>
          <a:xfrm>
            <a:off x="457199" y="3972200"/>
            <a:ext cx="11277601" cy="1958341"/>
          </a:xfrm>
        </p:spPr>
        <p:txBody>
          <a:bodyPr/>
          <a:lstStyle/>
          <a:p>
            <a:r>
              <a:rPr lang="en-US" b="1" dirty="0">
                <a:solidFill>
                  <a:srgbClr val="000000"/>
                </a:solidFill>
              </a:rPr>
              <a:t>Summary:</a:t>
            </a:r>
          </a:p>
          <a:p>
            <a:pPr marL="285750" indent="-285750">
              <a:spcAft>
                <a:spcPts val="0"/>
              </a:spcAft>
              <a:buFont typeface="Arial" panose="020B0604020202020204" pitchFamily="34" charset="0"/>
              <a:buChar char="•"/>
            </a:pPr>
            <a:r>
              <a:rPr lang="en-IN" dirty="0">
                <a:solidFill>
                  <a:srgbClr val="000000"/>
                </a:solidFill>
              </a:rPr>
              <a:t>“</a:t>
            </a:r>
            <a:r>
              <a:rPr lang="en-IN" dirty="0" err="1">
                <a:solidFill>
                  <a:srgbClr val="000000"/>
                </a:solidFill>
              </a:rPr>
              <a:t>onn_dwtask_execute_Stored_procedure_with_bed</a:t>
            </a:r>
            <a:r>
              <a:rPr lang="en-IN" dirty="0">
                <a:solidFill>
                  <a:srgbClr val="000000"/>
                </a:solidFill>
              </a:rPr>
              <a:t>” calls the stored procedure that helps us to load data in DW tables i.e. Fact/Dim/Bridge</a:t>
            </a:r>
          </a:p>
          <a:p>
            <a:pPr marL="285750" indent="-285750">
              <a:spcAft>
                <a:spcPts val="0"/>
              </a:spcAft>
              <a:buFont typeface="Arial" panose="020B0604020202020204" pitchFamily="34" charset="0"/>
              <a:buChar char="•"/>
            </a:pPr>
            <a:r>
              <a:rPr lang="en-IN" dirty="0">
                <a:solidFill>
                  <a:srgbClr val="000000"/>
                </a:solidFill>
              </a:rPr>
              <a:t>The procedure fetches only those record that has been either updated or deleted in the current batch based on BED</a:t>
            </a:r>
          </a:p>
          <a:p>
            <a:pPr marL="285750" indent="-285750">
              <a:spcAft>
                <a:spcPts val="0"/>
              </a:spcAft>
              <a:buFont typeface="Arial" panose="020B0604020202020204" pitchFamily="34" charset="0"/>
              <a:buChar char="•"/>
            </a:pPr>
            <a:r>
              <a:rPr lang="en-IN" dirty="0">
                <a:solidFill>
                  <a:srgbClr val="000000"/>
                </a:solidFill>
              </a:rPr>
              <a:t>The records marked as deleted in staging table are present as inactive record in DW tables</a:t>
            </a:r>
          </a:p>
          <a:p>
            <a:pPr marL="285750" indent="-285750">
              <a:spcAft>
                <a:spcPts val="0"/>
              </a:spcAft>
              <a:buFont typeface="Arial" panose="020B0604020202020204" pitchFamily="34" charset="0"/>
              <a:buChar char="•"/>
            </a:pPr>
            <a:endParaRPr lang="en-IN" dirty="0">
              <a:solidFill>
                <a:srgbClr val="000000"/>
              </a:solidFill>
            </a:endParaRP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contrast="20000"/>
                    </a14:imgEffect>
                  </a14:imgLayer>
                </a14:imgProps>
              </a:ext>
            </a:extLst>
          </a:blip>
          <a:stretch>
            <a:fillRect/>
          </a:stretch>
        </p:blipFill>
        <p:spPr>
          <a:xfrm>
            <a:off x="824803" y="1305043"/>
            <a:ext cx="6754168" cy="2210108"/>
          </a:xfrm>
          <a:prstGeom prst="rect">
            <a:avLst/>
          </a:prstGeom>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saturation sat="0"/>
                    </a14:imgEffect>
                    <a14:imgEffect>
                      <a14:brightnessContrast contrast="20000"/>
                    </a14:imgEffect>
                  </a14:imgLayer>
                </a14:imgProps>
              </a:ext>
            </a:extLst>
          </a:blip>
          <a:stretch>
            <a:fillRect/>
          </a:stretch>
        </p:blipFill>
        <p:spPr>
          <a:xfrm>
            <a:off x="8492439" y="2222780"/>
            <a:ext cx="2328892" cy="1125445"/>
          </a:xfrm>
          <a:prstGeom prst="rect">
            <a:avLst/>
          </a:prstGeom>
        </p:spPr>
      </p:pic>
      <p:sp>
        <p:nvSpPr>
          <p:cNvPr id="6" name="Curved Up Arrow 5"/>
          <p:cNvSpPr/>
          <p:nvPr/>
        </p:nvSpPr>
        <p:spPr>
          <a:xfrm>
            <a:off x="4650376" y="3348225"/>
            <a:ext cx="4689566" cy="575857"/>
          </a:xfrm>
          <a:prstGeom prst="curvedUpArrow">
            <a:avLst/>
          </a:prstGeom>
          <a:solidFill>
            <a:schemeClr val="accent6"/>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30615004"/>
      </p:ext>
    </p:extLst>
  </p:cSld>
  <p:clrMapOvr>
    <a:masterClrMapping/>
  </p:clrMapOvr>
</p:sld>
</file>

<file path=ppt/theme/theme1.xml><?xml version="1.0" encoding="utf-8"?>
<a:theme xmlns:a="http://schemas.openxmlformats.org/drawingml/2006/main" name="Office Theme">
  <a:themeElements>
    <a:clrScheme name="EXL 3">
      <a:dk1>
        <a:srgbClr val="FB4D0A"/>
      </a:dk1>
      <a:lt1>
        <a:srgbClr val="FFFFFF"/>
      </a:lt1>
      <a:dk2>
        <a:srgbClr val="000000"/>
      </a:dk2>
      <a:lt2>
        <a:srgbClr val="FFFFFF"/>
      </a:lt2>
      <a:accent1>
        <a:srgbClr val="FB4E0B"/>
      </a:accent1>
      <a:accent2>
        <a:srgbClr val="414141"/>
      </a:accent2>
      <a:accent3>
        <a:srgbClr val="808080"/>
      </a:accent3>
      <a:accent4>
        <a:srgbClr val="ABABAB"/>
      </a:accent4>
      <a:accent5>
        <a:srgbClr val="DBDBDB"/>
      </a:accent5>
      <a:accent6>
        <a:srgbClr val="E6E6E6"/>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Test.potx" id="{222C7A70-5869-4999-B7FC-1CA86E062B29}" vid="{2047A170-C709-4851-90BC-3AFD09D070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676895BF7FFF4BB12004E08A7F8030" ma:contentTypeVersion="15" ma:contentTypeDescription="Create a new document." ma:contentTypeScope="" ma:versionID="c99ddf1cb5105100c4d00d8ff1cafa48">
  <xsd:schema xmlns:xsd="http://www.w3.org/2001/XMLSchema" xmlns:xs="http://www.w3.org/2001/XMLSchema" xmlns:p="http://schemas.microsoft.com/office/2006/metadata/properties" xmlns:ns2="c2e88ccc-cbbe-46fe-a823-a677cb74174f" xmlns:ns3="a0e77d89-447a-4ff5-aee4-b0e5ec8cd825" targetNamespace="http://schemas.microsoft.com/office/2006/metadata/properties" ma:root="true" ma:fieldsID="146a045a76dac166a4c418fdae0ab45e" ns2:_="" ns3:_="">
    <xsd:import namespace="c2e88ccc-cbbe-46fe-a823-a677cb74174f"/>
    <xsd:import namespace="a0e77d89-447a-4ff5-aee4-b0e5ec8cd8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e88ccc-cbbe-46fe-a823-a677cb7417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b1f1a22-d11f-4f8a-804a-f9df9b68866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0e77d89-447a-4ff5-aee4-b0e5ec8cd82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7087cc7-660c-4a12-9f7f-b66306384599}" ma:internalName="TaxCatchAll" ma:showField="CatchAllData" ma:web="a0e77d89-447a-4ff5-aee4-b0e5ec8cd8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2e88ccc-cbbe-46fe-a823-a677cb74174f">
      <Terms xmlns="http://schemas.microsoft.com/office/infopath/2007/PartnerControls"/>
    </lcf76f155ced4ddcb4097134ff3c332f>
    <TaxCatchAll xmlns="a0e77d89-447a-4ff5-aee4-b0e5ec8cd82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99149B-05B0-465E-BA43-789FDE72AD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e88ccc-cbbe-46fe-a823-a677cb74174f"/>
    <ds:schemaRef ds:uri="a0e77d89-447a-4ff5-aee4-b0e5ec8cd8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A4FDD16-FFD9-47AB-9F99-253486905AF9}">
  <ds:schemaRefs>
    <ds:schemaRef ds:uri="http://purl.org/dc/elements/1.1/"/>
    <ds:schemaRef ds:uri="http://schemas.microsoft.com/office/infopath/2007/PartnerControls"/>
    <ds:schemaRef ds:uri="http://schemas.microsoft.com/office/2006/documentManagement/types"/>
    <ds:schemaRef ds:uri="http://purl.org/dc/terms/"/>
    <ds:schemaRef ds:uri="http://www.w3.org/XML/1998/namespace"/>
    <ds:schemaRef ds:uri="http://purl.org/dc/dcmitype/"/>
    <ds:schemaRef ds:uri="http://schemas.openxmlformats.org/package/2006/metadata/core-properties"/>
    <ds:schemaRef ds:uri="http://schemas.microsoft.com/office/2006/metadata/properties"/>
    <ds:schemaRef ds:uri="c2e88ccc-cbbe-46fe-a823-a677cb74174f"/>
    <ds:schemaRef ds:uri="a0e77d89-447a-4ff5-aee4-b0e5ec8cd825"/>
  </ds:schemaRefs>
</ds:datastoreItem>
</file>

<file path=customXml/itemProps3.xml><?xml version="1.0" encoding="utf-8"?>
<ds:datastoreItem xmlns:ds="http://schemas.openxmlformats.org/officeDocument/2006/customXml" ds:itemID="{BDD7D1DE-59D6-481E-9420-71525014985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EXL Powerpoint Template</Template>
  <TotalTime>11972</TotalTime>
  <Words>4887</Words>
  <Application>Microsoft Office PowerPoint</Application>
  <PresentationFormat>Widescreen</PresentationFormat>
  <Paragraphs>549</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Platform Process</vt:lpstr>
      <vt:lpstr>Agenda</vt:lpstr>
      <vt:lpstr>Introduction</vt:lpstr>
      <vt:lpstr>Metadata usage and task overlap​</vt:lpstr>
      <vt:lpstr>Source To Raw (Data)</vt:lpstr>
      <vt:lpstr>Source To Raw (Data)</vt:lpstr>
      <vt:lpstr>Source To Raw (Reconciliation)</vt:lpstr>
      <vt:lpstr>Raw To Standardised (Data)</vt:lpstr>
      <vt:lpstr>Raw To Standardised (Data)</vt:lpstr>
      <vt:lpstr>Raw To Standardised (Merge)</vt:lpstr>
      <vt:lpstr>Raw To Standardised (Reconciliation)</vt:lpstr>
      <vt:lpstr>Standardised To Conformed (Processing)</vt:lpstr>
      <vt:lpstr>Standardised To Conformed (Data)</vt:lpstr>
      <vt:lpstr>Standardised To Conformed (Data)</vt:lpstr>
      <vt:lpstr>Standardised To Conformed (Merge)</vt:lpstr>
      <vt:lpstr>Standardised To Conformed (Merge)</vt:lpstr>
      <vt:lpstr>Standardised To Conformed (Reconciliation)</vt:lpstr>
      <vt:lpstr>Conformed To Staging (Data)</vt:lpstr>
      <vt:lpstr>Conformed To Staging (Data)</vt:lpstr>
      <vt:lpstr>Conformed To Staging (Reconciliation)</vt:lpstr>
      <vt:lpstr>Staging To DW (Data)</vt:lpstr>
      <vt:lpstr>Staging To DW (Reconciliation)</vt:lpstr>
      <vt:lpstr>Thank You</vt:lpstr>
      <vt:lpstr>PowerPoint Presentation</vt:lpstr>
      <vt:lpstr>Appendix</vt:lpstr>
      <vt:lpstr>Legends</vt:lpstr>
      <vt:lpstr>High Level Orchestration</vt:lpstr>
      <vt:lpstr>Source To Raw (Processing)</vt:lpstr>
      <vt:lpstr>Source To Raw (Orchestration)</vt:lpstr>
      <vt:lpstr>Raw To Standardised (Processing)</vt:lpstr>
      <vt:lpstr>Raw To Standardised (Orchestration)</vt:lpstr>
      <vt:lpstr>Standardised To Conformed (Processing)</vt:lpstr>
      <vt:lpstr>Standardised To Conformed (Orchestration)</vt:lpstr>
      <vt:lpstr>Standardised To Conformed (BED)</vt:lpstr>
      <vt:lpstr>Conformed To Staging (Processing)</vt:lpstr>
      <vt:lpstr>Conformed To Staging (Orchestration)</vt:lpstr>
      <vt:lpstr>Staging To DW (Processing)</vt:lpstr>
      <vt:lpstr>Staging To DW (Orchestration)</vt:lpstr>
    </vt:vector>
  </TitlesOfParts>
  <Company>EXL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Chitransh Srivastava</dc:creator>
  <cp:lastModifiedBy>Chitransh Srivastava</cp:lastModifiedBy>
  <cp:revision>276</cp:revision>
  <dcterms:created xsi:type="dcterms:W3CDTF">2021-12-28T08:31:16Z</dcterms:created>
  <dcterms:modified xsi:type="dcterms:W3CDTF">2023-01-19T11:20:27Z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0x01010061676895BF7FFF4BB12004E08A7F8030</vt:lpwstr>
  </property>
  <property fmtid="{D5CDD505-2E9C-101B-9397-08002B2CF9AE}" pid="3" name="MSIP_Label_5b5832c2-122e-4c56-85a9-bc2fa83b9933_Enabled">
    <vt:lpwstr>true</vt:lpwstr>
  </property>
  <property fmtid="{D5CDD505-2E9C-101B-9397-08002B2CF9AE}" pid="4" name="MSIP_Label_5b5832c2-122e-4c56-85a9-bc2fa83b9933_SetDate">
    <vt:lpwstr>2023-01-18T16:55:04Z</vt:lpwstr>
  </property>
  <property fmtid="{D5CDD505-2E9C-101B-9397-08002B2CF9AE}" pid="5" name="MSIP_Label_5b5832c2-122e-4c56-85a9-bc2fa83b9933_Method">
    <vt:lpwstr>Privileged</vt:lpwstr>
  </property>
  <property fmtid="{D5CDD505-2E9C-101B-9397-08002B2CF9AE}" pid="6" name="MSIP_Label_5b5832c2-122e-4c56-85a9-bc2fa83b9933_Name">
    <vt:lpwstr>General</vt:lpwstr>
  </property>
  <property fmtid="{D5CDD505-2E9C-101B-9397-08002B2CF9AE}" pid="7" name="MSIP_Label_5b5832c2-122e-4c56-85a9-bc2fa83b9933_SiteId">
    <vt:lpwstr>89a64c04-5070-4bae-a1ed-e9639497e1b7</vt:lpwstr>
  </property>
  <property fmtid="{D5CDD505-2E9C-101B-9397-08002B2CF9AE}" pid="8" name="MSIP_Label_5b5832c2-122e-4c56-85a9-bc2fa83b9933_ActionId">
    <vt:lpwstr>2b3b4bca-0dc6-4ffe-8558-22f3753b451b</vt:lpwstr>
  </property>
  <property fmtid="{D5CDD505-2E9C-101B-9397-08002B2CF9AE}" pid="9" name="MSIP_Label_5b5832c2-122e-4c56-85a9-bc2fa83b9933_ContentBits">
    <vt:lpwstr>0</vt:lpwstr>
  </property>
  <property fmtid="{D5CDD505-2E9C-101B-9397-08002B2CF9AE}" pid="10" name="MediaServiceImageTags">
    <vt:lpwstr/>
  </property>
</Properties>
</file>